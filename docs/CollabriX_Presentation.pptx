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Assistant Professor Barkha Makwana, respected evaluators, and colleagues. Welcome to our final year capstone project presentation on CollabriX: A Team-First Freelance Collaboration Platform. My name is Jaghatha Uday Prakash, presenting alongside my team members Boddu Venkata Sai Kowshik, Katreddi Hima Nagendra, and Immadi Venkata Rama Chaitanya Vardhan from the Department of Computer Science and Engineering with specialization in Artificial Intelligence at Parul University. Over the next 25 slides, we will demonstrate why contemporary freelance marketplaces fail modern cross-functional software development, introduce the CollabriX team-first paradigm, explore our 12-table relational schema and PostgreSQL Row-Level Security architecture, walk through our synergy and leaderboard algorithms, review live application screens, and share our rigorous verification results comprising 104 passing database integrity tests and perfect Lighthouse scores.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presentation roadmap structured into four distinct phases across 25 slides. In Phase 1, we establish the problem space: why individual-only gig platforms fail cross-functional software projects, and benchmark CollabriX against Upwork, Fiverr, Freelancer, and Toptal. In Phase 2, we dive into engineering, detailing our 4-tier architecture and 12-table relational database schema. In Phase 3, we dissect our core mathematical workflows: team synergy calculations, project lifecycle state machines, Row-Level Security policies, and our open leaderboard formula. Finally, in Phase 4, we showcase real application screenshots, review our 104 automated database test cases and Lighthouse performance audits, and discuss future enhancements.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Slide 3, we analyze the structural breakdown in contemporary freelance platforms. The fundamental flaw is the individual-only hiring paradigm. While modern software demands multi-disciplinary teams, platforms like Upwork and Fiverr are architected around a single seller profile. This mismatch causes five severe issues: First, developers cannot officially team up on-platform. Second, clients face proposal fatigue while developers waste countless unpaid hours submitting blind bids. Third, reputation systems suffer from systemic star inflation because reviews are not cryptographically or relationally tied to completed deliverables. Fourth, communication splinters across WhatsApp and Slack, depriving the platform of context. And fifth, early-career and student developers face an impenetrable cold-start barrier because search ranking algorithms heavily favor historical volume over verified skill.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introduce the CollabriX solution. The name combines 'Collaboration' with 'X'—representing the multiplier effect of team synergy. Instead of treating developers as isolated competitors in a race to the bottom, CollabriX provides a first-class collaborative workspace. Our system is founded on four architectural pillars: First, dynamic team batching with our synergy scoring engine, which evaluates a squad's tech stack against project domains. Second, database-enforced relational governance using PostgreSQL Row-Level Security, guaranteeing that no state or rating can be forged. Third, a transparent zero-baseline leaderboard that rewards verified delivery rather than opaque commercial algorithms. And fourth, sub-second WebSocket communication keeping teams aligned without external tool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outlines our five primary engineering objectives. First, establish dual role-based workspaces for developers and clients with distinct permissions and interfaces. Second, build an automated team formation engine powered by Algorithm 1 that evaluates skill complementarity and highlights technology gaps. Third, govern project lifecycles at the database layer so that assignments and reviews cannot bypass verified states. Fourth, design a meritocratic leaderboard algorithm implemented directly as a PostgreSQL stored procedure, removing opaque ranking biases. And fifth, integrate sub-second WebSocket synchronization for real-time messaging and trigger-driven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reviews the academic literature informing our engineering decisions, drawn from Chapter 2 of our project report. Studies by Agrawal et al. highlighted that geographic and time-zone frictions heavily degrade solo freelancing; we resolved this with hierarchical region-based discovery. Filippas and colleagues documented the crisis of rating inflation in the gig economy, where almost every worker is rated 5 stars; we mitigated this by locking ratings behind completion-gated relational triggers. Seminal research on Flash Teams from Stanford by Retelny and Valentine demonstrated that online crowd workers succeed on complex software tasks when platforms provide structural role scaffolding—the exact premise of our Team Formation Engine. Finally, Hannák et al. exposed algorithmic ranking biases against newcomers; we solved this with an open, mathematically deterministic ranking formula.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benchmark-tests CollabriX against industry titans Upwork, Fiverr, Freelancer, and Toptal, reproducing Table 2.1 from our report. Notice the structural divergence: on Upwork, teaming is restricted solely to formal legal agencies; on Fiverr and Freelancer, it is nonexistent. Toptal coordinates teams only through high-cost internal recruiters. CollabriX is the only platform that offers dynamic, first-class peer discovery, native Team Batches with algorithmic synergy evaluation, database-level rating integrity enforced by PostgreSQL RLS, and a public, mathematically verifiable leaderboard.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outlines the four layers of our technology stack, justified in Table 3.1 of our report. On the client, React 18 and Vite deliver sub-2-second build times and rapid HMR, while TypeScript enforces strict type consistency with our Supabase database schema. Our UI pairs Tailwind CSS with accessible shadcn/ui primitives. For client-side caching and state synchronization, TanStack Query provides optimistic updates and automatic cache invalidation. Crucially, instead of writing a redundant Express.js backend layer that introduces latency and vulnerability surfaces, we leverage Supabase with PostgreSQL 16. Business rules, validation triggers, and access control policies live directly inside the database, broadcasting instant state updates via Supabase Realtime WebSockets.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the four-tier architectural blueprint of CollabriX, representing Figure 3.3 from our documentation. At the top is the Presentation Layer, built with responsive mobile-first React components and accessible Radix primitives. Directly below it, the Client State Layer isolates server communication into modular React hooks like useAuth, useProjects, and useNotificationFeed, ensuring clean separation of concerns and eliminating component-level side effects. The third tier is the Backend-as-a-Service layer powered by Supabase, providing authenticated PostgREST queries and WebSocket subscriptions. The foundational tier is PostgreSQL 16. By anchoring authorization, state machines, and notification creation inside the database engine, CollabriX guarantees zero unauthorized operations even if a client attempts to bypass the web frontend.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Slide 10, CollabriX is built upon twelve relational tables in the public PostgreSQL schema, detailed in Table 3.10 of our report. The architecture is bifurcated into two groups: The seven core tables manage user profiles, role enforcement, peer connections, realtime messages, project listings, and dual-party ratings. The collaboration extension introduced five new tables: team_batches for squad composition, notifications for trigger-driven alerts, project_invitations for client outreach, user_settings for privacy control, and support_tickets for issue reporting. Every profile primary key links directly to auth.users with ON DELETE CASCADE, allowing Row-Level Security policies to evaluate auth.uid()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delves into the precise technical schema and constraints of our five new extension tables. In team_batches, a database BEFORE trigger validates that every member is an accepted connection of the creator and limits size to 10. In notifications, client-side INSERT is completely disabled; records are written solely by database triggers responding to business events. In project_invitations, composite unique constraints prevent invitation spam, and project assignment requires the developer to accept first. In user_settings, developers are granted privacy sovereignty, allowing them to opt out of the public leaderboard. Finally, support_tickets enforces text length CHECK constraints and auto-increments public ticket identifiers.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explains our Connections and Peer Discovery protocol. Developers discover peers using our multi-tier regional filter and technical skill tags. The connection follows a four-step request-accept lifecycle similar to LinkedIn. Crucially, messaging and team formation are strictly gated by the 'accepted' status. We also solved a notable database permissions paradox: under strict RLS, users could not update someone else's message row to set is_read=true. To resolve this securely, we built the mark_messages_read security-definer function, which validates that the caller is indeed the recipient and marks messages read, dynamically clearing navigation unread counters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proprietary Team Formation Engine and Algorithm 1, illustrated in Figure 3.14. When assembling a team batch, the creator selects a target project domain, such as Fullstack Web App, Mobile Engineering, or Cloud Infrastructure. The engine computes the mathematical union of all members' skills and evaluates it against the domain's recommended technology benchmark. The formula awards up to 70 points for skill coverage and up to 30 bonus points for team capacity, capped at 100%. For example, a two-developer squad covering four of six required stack technologies achieves a 67% synergy score. Crucially, the UI highlights the remaining two missing skills as skill gaps, prompting the squad to recruit a complementary peer before submitting a project proposal.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explains our Project Lifecycle and Algorithm 3, depicted in Figure 3.11. In CollabriX, project progression is governed as a deterministic four-stage finite state machine: Open, In Progress, Completed, and Cancelled. To ensure developer autonomy, a client cannot unilaterally assign a project to a freelancer. Instead, Algorithm 3 enforces an invitation-gated assignment protocol: the client sends an invitation, the developer reviews and accepts it, and only then does the database permit the client to assign the project. Once marked 'Completed' by the client, the project unlocks mutual rating capabilities. If a project is cancelled, ratings are disabled permanently to prevent retaliatory negative reviews.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presents our database security architecture. Rather than relying on frontend checks that can be circumvented via API inspection, CollabriX anchors access control directly inside PostgreSQL using Row-Level Security on all 12 tables. To avoid infinite recursion during complex relational joins—such as checking whether a user is a client while evaluating a project policy— we engineered security-definer helper functions that execute with administrative privileges while strictly validating auth.uid(). Our threat mitigation model, detailed in Table 3.16 of the report, prevents privilege escalation by storing roles in a separate table, blocks eavesdropping on messages, and makes review forgery mathematically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our two-way rating system and reputation integrity rules, illustrated in Figure 3.15. To combat the pervasive rating inflation and fake reviews seen on mainstream platforms, CollabriX enforces five non-negotiable database rules. First, reviews are strictly completion-gated: if a project is not marked 'completed', all rating inserts are rejected with a permission error. Second, only the two contractual counterparts can rate each other. Third, composite unique constraints guarantee exactly one rating per participant per contract. Fourth, we separate project feedback from individual peer evaluations. And fifth, ratings are completely immutable once committed, preventing retaliatory score tampering.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depicts our event-driven notification pipeline from Figure 3.16. Unlike conventional architectures where the frontend or API layer pushes notifications manually, CollabriX generates notifications exclusively via PostgreSQL AFTER triggers on our event tables. Whenever a connection is accepted, a teammate is added to a batch, or a project is assigned, our create_notification function executes. It checks the recipient's user_settings preferences, discards actions caused by the user themselves, and inserts the record. Because direct client insertion is prohibited, every notification is cryptographic proof of a verified database event. The change is broadcast over WebSockets directly to the user's header badge in sub-second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details our Leaderboard Ranking Formula, implemented as Algorithm 2 in PostgreSQL. Unlike commercial platforms that employ black-box algorithms prioritizing platform profit or ad spend, CollabriX uses a completely open, meritocratic formula executed inside the database via get_leaderboard. A developer earns 100 points for each verified completed project and 20 points per star awarded by their client. Thus, a flawless 5-star project yields exactly 200 points. We enforce a strict zero-baseline rule: newcomers do not receive arbitrary placeholder scores and only appear on the board after completing real work. Ties are broken deterministically through a multi-tier hierarchy: average rating, review count, and alphabetical name.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walks through Table 3.19 from our report, demonstrating the leaderboard formula in action for six sample developers. Notice the deliberate design trade-off: our formula deliberately rewards the volume of verified delivery. Chen, who delivered three projects with 2-star ratings, scores 420 points and ranks first above Asha, who has two 5-star projects totaling 400 points. This reflects commercial reality: delivering verified client work carries high value. Dina and Eli have identical completed work and ratings; the algorithm breaks the tie deterministically by alphabetical name. Farah has zero completed work, so she remains cleanly unranked rather than receiving an unearned synthetic score. On the right, developer scores unlock four tier milestones and six milestone achievement badges.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showcases live application screenshots from Figure 4.4 of our documentation, captured from our production build. On the left, Screen (a) shows the Developer Profile view, displaying verified skills, level tier, and star ratings computed from database joins. On the right, Screen (b) demonstrates our real-time messaging interface. Chat channels are established exclusively between accepted connections. Messages are delivered instantly via Supabase Realtime WebSocket subscriptions without polling overhead. Opening the conversation automatically invokes mark_messages_read, clearing unread counters across the mobile navigation bar.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illustrates the Team Formation Engine and Client Dashboard from Figure 4.5. On the left, Screen (a) shows a developer constructing a Team Batch for a Fullstack Web App. As teammates are toggled, the synergy score updates reactively to 67%, and the interface flags missing technologies like AWS and UI/UX. On the right, Screen (b) displays the Client Dashboard, providing project founders with an overview of active projects, budget allocations, candidate invitations, and direct access to project creation modals.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presents our Notifications Center and Project Tracking interface from Figure 4.6. On the left, Screen (a) shows the live Notification Feed, displaying event alerts with user avatars and relative timestamps. Clicking any notification marks it as read and navigates directly to the associated project or message thread. On the right, Screen (b) illustrates the Client Project Details view. Notice that a developer has been invited; the invitation status is tracked as 'pending', and the 'Assign' button remains disabled until the invited developer explicitly accepts, visually confirming that our database-enforced lifecycle rules are active.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delivers our empirical quality assurance and verification benchmarks, validating the reliability of CollabriX. First, we built an automated Python test suite that executed all 104 database integrity checks against PostgreSQL 16. As shown in Figure 4.10, every single check passed—validating connections, team batch constraints, invitation gating, completion-gated ratings, and anonymous RLS restrictions. Second, 18 automated Puppeteer browser tests verified authentication, form validation, and navigation flows. Third, our codebase compiles with zero TypeScript errors, and we reduced ESLint findings from 49 down to just 2 minor development warnings. Finally, an independent Google Lighthouse mobile audit awarded CollabriX perfect 100/100 scores in Best Practices and SEO, with 84 in Accessibility and 76 in Performance on a 411 KB bundle.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provides an honest appraisal of our current prototype limitations alongside our future development roadmap. Presently, job postings are curated, search uses relational filters rather than semantic embeddings, chat is text-only, and payment escrow is simulated through project lifecycle states. In our future roadmap, we plan to implement AI-driven team recommendations using vector similarity over GitHub profiles, integrate automated GitHub repository verification, embed WebRTC for native video standups, implement Stripe escrow payments with milestone disbursements, and build a native React Native application for mobile push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CollabriX successfully proves that transitioning freelance marketplaces from solitary bidding queues to an architectural team-first paradigm empowers developers to deliver complex software while guaranteeing fair, verified reputation tracking. By enforcing business governance directly in PostgreSQL through Row-Level Security and stored procedures, we have built a platform that is secure by design and verified by 104 passing database tests and top Lighthouse scores. We express our sincere gratitude to our project guide, Assistant Professor Barkha Makwana, and the Department of Computer Science and Engineering at Parul University for their continuous encouragement and technical guidance. Thank you for your attention, and we are now pleased to open the floor to your 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28"/>
          </a:solidFill>
          <a:ln>
            <a:solidFill>
              <a:srgbClr val="0B2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822960"/>
            <a:ext cx="2286000" cy="105156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llabrix-logo.png"/>
          <p:cNvPicPr>
            <a:picLocks noChangeAspect="1"/>
          </p:cNvPicPr>
          <p:nvPr/>
        </p:nvPicPr>
        <p:blipFill>
          <a:blip r:embed="rId2"/>
          <a:stretch>
            <a:fillRect/>
          </a:stretch>
        </p:blipFill>
        <p:spPr>
          <a:xfrm>
            <a:off x="868680" y="896112"/>
            <a:ext cx="2011680" cy="914400"/>
          </a:xfrm>
          <a:prstGeom prst="rect">
            <a:avLst/>
          </a:prstGeom>
        </p:spPr>
      </p:pic>
      <p:sp>
        <p:nvSpPr>
          <p:cNvPr id="6" name="Rounded Rectangle 5"/>
          <p:cNvSpPr/>
          <p:nvPr/>
        </p:nvSpPr>
        <p:spPr>
          <a:xfrm>
            <a:off x="8076895" y="822960"/>
            <a:ext cx="3383280" cy="105156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dbb49b41451b91dd37c81a3f835f4fdc6cd124.png"/>
          <p:cNvPicPr>
            <a:picLocks noChangeAspect="1"/>
          </p:cNvPicPr>
          <p:nvPr/>
        </p:nvPicPr>
        <p:blipFill>
          <a:blip r:embed="rId3"/>
          <a:stretch>
            <a:fillRect/>
          </a:stretch>
        </p:blipFill>
        <p:spPr>
          <a:xfrm>
            <a:off x="8229600" y="960120"/>
            <a:ext cx="3063240" cy="777240"/>
          </a:xfrm>
          <a:prstGeom prst="rect">
            <a:avLst/>
          </a:prstGeom>
        </p:spPr>
      </p:pic>
      <p:sp>
        <p:nvSpPr>
          <p:cNvPr id="8" name="Rounded Rectangle 7"/>
          <p:cNvSpPr/>
          <p:nvPr/>
        </p:nvSpPr>
        <p:spPr>
          <a:xfrm>
            <a:off x="731520" y="2148840"/>
            <a:ext cx="5303520" cy="320040"/>
          </a:xfrm>
          <a:prstGeom prst="roundRect">
            <a:avLst/>
          </a:prstGeom>
          <a:solidFill>
            <a:srgbClr val="134E4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950">
                <a:solidFill>
                  <a:srgbClr val="2DD4BF"/>
                </a:solidFill>
              </a:rPr>
              <a:t>B.TECH CAPSTONE PROJECT · GROUP NO. PIET CSE NON ASMP - 8</a:t>
            </a:r>
          </a:p>
        </p:txBody>
      </p:sp>
      <p:sp>
        <p:nvSpPr>
          <p:cNvPr id="9" name="TextBox 8"/>
          <p:cNvSpPr txBox="1"/>
          <p:nvPr/>
        </p:nvSpPr>
        <p:spPr>
          <a:xfrm>
            <a:off x="731520" y="2542032"/>
            <a:ext cx="10698480" cy="1371600"/>
          </a:xfrm>
          <a:prstGeom prst="rect">
            <a:avLst/>
          </a:prstGeom>
          <a:noFill/>
        </p:spPr>
        <p:txBody>
          <a:bodyPr wrap="square" lIns="0" tIns="0" rIns="0" bIns="0">
            <a:spAutoFit/>
          </a:bodyPr>
          <a:lstStyle/>
          <a:p>
            <a:r>
              <a:rPr b="1" sz="4400">
                <a:solidFill>
                  <a:srgbClr val="FFFFFF"/>
                </a:solidFill>
                <a:latin typeface="Arial"/>
              </a:rPr>
              <a:t>COLLABRIX</a:t>
            </a:r>
          </a:p>
          <a:p>
            <a:pPr>
              <a:spcBef>
                <a:spcPts val="400"/>
              </a:spcBef>
            </a:pPr>
            <a:r>
              <a:rPr b="1" sz="2000">
                <a:solidFill>
                  <a:srgbClr val="CCFBF1"/>
                </a:solidFill>
                <a:latin typeface="Arial"/>
              </a:rPr>
              <a:t>A Team-First Freelance Collaboration Platform</a:t>
            </a:r>
          </a:p>
        </p:txBody>
      </p:sp>
      <p:sp>
        <p:nvSpPr>
          <p:cNvPr id="10" name="Rounded Rectangle 9"/>
          <p:cNvSpPr/>
          <p:nvPr/>
        </p:nvSpPr>
        <p:spPr>
          <a:xfrm>
            <a:off x="731520" y="4069080"/>
            <a:ext cx="5166360" cy="2286000"/>
          </a:xfrm>
          <a:prstGeom prst="roundRect">
            <a:avLst/>
          </a:prstGeom>
          <a:solidFill>
            <a:srgbClr val="1034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4800600" cy="2103120"/>
          </a:xfrm>
          <a:prstGeom prst="rect">
            <a:avLst/>
          </a:prstGeom>
          <a:noFill/>
        </p:spPr>
        <p:txBody>
          <a:bodyPr wrap="none" lIns="0" tIns="0" rIns="0" bIns="0">
            <a:spAutoFit/>
          </a:bodyPr>
          <a:lstStyle/>
          <a:p>
            <a:r>
              <a:rPr b="1" sz="1100">
                <a:solidFill>
                  <a:srgbClr val="2DD4BF"/>
                </a:solidFill>
              </a:rPr>
              <a:t>STUDENT TEAM MEMBERS</a:t>
            </a:r>
          </a:p>
          <a:p>
            <a:pPr>
              <a:spcBef>
                <a:spcPts val="300"/>
              </a:spcBef>
            </a:pPr>
            <a:r>
              <a:rPr b="1" sz="1150">
                <a:solidFill>
                  <a:srgbClr val="FFFFFF"/>
                </a:solidFill>
              </a:rPr>
              <a:t>• Jaghatha Uday Prakash  </a:t>
            </a:r>
            <a:r>
              <a:rPr sz="1000">
                <a:solidFill>
                  <a:srgbClr val="99F6E4"/>
                </a:solidFill>
              </a:rPr>
              <a:t>[2303031240447]</a:t>
            </a:r>
          </a:p>
          <a:p>
            <a:pPr>
              <a:spcBef>
                <a:spcPts val="300"/>
              </a:spcBef>
            </a:pPr>
            <a:r>
              <a:rPr b="1" sz="1150">
                <a:solidFill>
                  <a:srgbClr val="FFFFFF"/>
                </a:solidFill>
              </a:rPr>
              <a:t>• Boddu Venkata Sai Kowshik  </a:t>
            </a:r>
            <a:r>
              <a:rPr sz="1000">
                <a:solidFill>
                  <a:srgbClr val="99F6E4"/>
                </a:solidFill>
              </a:rPr>
              <a:t>[2303031241591]</a:t>
            </a:r>
          </a:p>
          <a:p>
            <a:pPr>
              <a:spcBef>
                <a:spcPts val="300"/>
              </a:spcBef>
            </a:pPr>
            <a:r>
              <a:rPr b="1" sz="1150">
                <a:solidFill>
                  <a:srgbClr val="FFFFFF"/>
                </a:solidFill>
              </a:rPr>
              <a:t>• Katreddi Hima Nagendra  </a:t>
            </a:r>
            <a:r>
              <a:rPr sz="1000">
                <a:solidFill>
                  <a:srgbClr val="99F6E4"/>
                </a:solidFill>
              </a:rPr>
              <a:t>[2303031240520]</a:t>
            </a:r>
          </a:p>
          <a:p>
            <a:pPr>
              <a:spcBef>
                <a:spcPts val="300"/>
              </a:spcBef>
            </a:pPr>
            <a:r>
              <a:rPr b="1" sz="1150">
                <a:solidFill>
                  <a:srgbClr val="FFFFFF"/>
                </a:solidFill>
              </a:rPr>
              <a:t>• Immadi Venkata Rama Chaitanya Vardhan  </a:t>
            </a:r>
            <a:r>
              <a:rPr sz="1000">
                <a:solidFill>
                  <a:srgbClr val="99F6E4"/>
                </a:solidFill>
              </a:rPr>
              <a:t>[2303031240436]</a:t>
            </a:r>
          </a:p>
        </p:txBody>
      </p:sp>
      <p:sp>
        <p:nvSpPr>
          <p:cNvPr id="12" name="Rounded Rectangle 11"/>
          <p:cNvSpPr/>
          <p:nvPr/>
        </p:nvSpPr>
        <p:spPr>
          <a:xfrm>
            <a:off x="6172200" y="4069080"/>
            <a:ext cx="5285232" cy="2286000"/>
          </a:xfrm>
          <a:prstGeom prst="roundRect">
            <a:avLst/>
          </a:prstGeom>
          <a:solidFill>
            <a:srgbClr val="1034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160520"/>
            <a:ext cx="4892040" cy="2103120"/>
          </a:xfrm>
          <a:prstGeom prst="rect">
            <a:avLst/>
          </a:prstGeom>
          <a:noFill/>
        </p:spPr>
        <p:txBody>
          <a:bodyPr wrap="none" lIns="0" tIns="0" rIns="0" bIns="0">
            <a:spAutoFit/>
          </a:bodyPr>
          <a:lstStyle/>
          <a:p>
            <a:r>
              <a:rPr b="1" sz="1100">
                <a:solidFill>
                  <a:srgbClr val="2DD4BF"/>
                </a:solidFill>
              </a:rPr>
              <a:t>PROJECT GUIDANCE &amp; INSTITUTION</a:t>
            </a:r>
          </a:p>
          <a:p>
            <a:pPr>
              <a:spcBef>
                <a:spcPts val="250"/>
              </a:spcBef>
            </a:pPr>
            <a:r>
              <a:rPr b="1" sz="1050">
                <a:solidFill>
                  <a:srgbClr val="99F6E4"/>
                </a:solidFill>
              </a:rPr>
              <a:t>Project Guide: </a:t>
            </a:r>
            <a:r>
              <a:rPr sz="1050">
                <a:solidFill>
                  <a:srgbClr val="FFFFFF"/>
                </a:solidFill>
              </a:rPr>
              <a:t>Assistant Prof. Barkha Makwana</a:t>
            </a:r>
          </a:p>
          <a:p>
            <a:pPr>
              <a:spcBef>
                <a:spcPts val="250"/>
              </a:spcBef>
            </a:pPr>
            <a:r>
              <a:rPr b="1" sz="1050">
                <a:solidFill>
                  <a:srgbClr val="99F6E4"/>
                </a:solidFill>
              </a:rPr>
              <a:t>Degree: </a:t>
            </a:r>
            <a:r>
              <a:rPr sz="1050">
                <a:solidFill>
                  <a:srgbClr val="FFFFFF"/>
                </a:solidFill>
              </a:rPr>
              <a:t>Bachelor of Technology in Computer Science &amp; Engineering</a:t>
            </a:r>
          </a:p>
          <a:p>
            <a:pPr>
              <a:spcBef>
                <a:spcPts val="250"/>
              </a:spcBef>
            </a:pPr>
            <a:r>
              <a:rPr b="1" sz="1050">
                <a:solidFill>
                  <a:srgbClr val="99F6E4"/>
                </a:solidFill>
              </a:rPr>
              <a:t>Specialization: </a:t>
            </a:r>
            <a:r>
              <a:rPr sz="1050">
                <a:solidFill>
                  <a:srgbClr val="FFFFFF"/>
                </a:solidFill>
              </a:rPr>
              <a:t>Artificial Intelligence</a:t>
            </a:r>
          </a:p>
          <a:p>
            <a:pPr>
              <a:spcBef>
                <a:spcPts val="250"/>
              </a:spcBef>
            </a:pPr>
            <a:r>
              <a:rPr b="1" sz="1050">
                <a:solidFill>
                  <a:srgbClr val="99F6E4"/>
                </a:solidFill>
              </a:rPr>
              <a:t>Department: </a:t>
            </a:r>
            <a:r>
              <a:rPr sz="1050">
                <a:solidFill>
                  <a:srgbClr val="FFFFFF"/>
                </a:solidFill>
              </a:rPr>
              <a:t>PIET · Faculty of Engineering &amp; Technology</a:t>
            </a:r>
          </a:p>
          <a:p>
            <a:pPr>
              <a:spcBef>
                <a:spcPts val="250"/>
              </a:spcBef>
            </a:pPr>
            <a:r>
              <a:rPr b="1" sz="1050">
                <a:solidFill>
                  <a:srgbClr val="99F6E4"/>
                </a:solidFill>
              </a:rPr>
              <a:t>University: </a:t>
            </a:r>
            <a:r>
              <a:rPr sz="1050">
                <a:solidFill>
                  <a:srgbClr val="FFFFFF"/>
                </a:solidFill>
              </a:rPr>
              <a:t>Parul University, Vadodara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EXECUTIVE AGENDA</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Presentation Roadmap</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 / 25</a:t>
            </a:r>
          </a:p>
        </p:txBody>
      </p:sp>
      <p:sp>
        <p:nvSpPr>
          <p:cNvPr id="7" name="Rounded Rectangle 6"/>
          <p:cNvSpPr/>
          <p:nvPr/>
        </p:nvSpPr>
        <p:spPr>
          <a:xfrm>
            <a:off x="731520" y="1325880"/>
            <a:ext cx="251460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39"/>
            <a:ext cx="2240280" cy="640080"/>
          </a:xfrm>
          <a:prstGeom prst="rect">
            <a:avLst/>
          </a:prstGeom>
          <a:noFill/>
        </p:spPr>
        <p:txBody>
          <a:bodyPr wrap="square" lIns="0" tIns="0" rIns="0" bIns="0">
            <a:spAutoFit/>
          </a:bodyPr>
          <a:lstStyle/>
          <a:p>
            <a:r>
              <a:rPr b="1" sz="1300">
                <a:solidFill>
                  <a:srgbClr val="0D9488"/>
                </a:solidFill>
                <a:latin typeface="Arial"/>
              </a:rPr>
              <a:t>01  </a:t>
            </a:r>
            <a:r>
              <a:rPr b="1" sz="1300">
                <a:solidFill>
                  <a:srgbClr val="0F3A40"/>
                </a:solidFill>
                <a:latin typeface="Arial"/>
              </a:rPr>
              <a:t>Phase 1: Foundation &amp; Motivation</a:t>
            </a:r>
          </a:p>
          <a:p>
            <a:pPr>
              <a:spcBef>
                <a:spcPts val="200"/>
              </a:spcBef>
            </a:pPr>
            <a:r>
              <a:rPr sz="950">
                <a:solidFill>
                  <a:srgbClr val="64748B"/>
                </a:solidFill>
                <a:latin typeface="Arial"/>
              </a:rPr>
              <a:t>Slides 3 – 7</a:t>
            </a:r>
          </a:p>
        </p:txBody>
      </p:sp>
      <p:sp>
        <p:nvSpPr>
          <p:cNvPr id="9" name="TextBox 8"/>
          <p:cNvSpPr txBox="1"/>
          <p:nvPr/>
        </p:nvSpPr>
        <p:spPr>
          <a:xfrm>
            <a:off x="868680" y="2194560"/>
            <a:ext cx="2240280" cy="393192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Industry Problem: </a:t>
            </a:r>
            <a:r>
              <a:rPr sz="1000">
                <a:solidFill>
                  <a:srgbClr val="1E293B"/>
                </a:solidFill>
                <a:latin typeface="Arial"/>
              </a:rPr>
              <a:t>Failure of individual-only gig models</a:t>
            </a:r>
          </a:p>
          <a:p>
            <a:pPr>
              <a:spcBef>
                <a:spcPts val="350"/>
              </a:spcBef>
              <a:spcAft>
                <a:spcPts val="200"/>
              </a:spcAft>
            </a:pPr>
            <a:r>
              <a:rPr b="1" sz="1000">
                <a:solidFill>
                  <a:srgbClr val="0D9488"/>
                </a:solidFill>
                <a:latin typeface="Arial"/>
              </a:rPr>
              <a:t>▸ </a:t>
            </a:r>
            <a:r>
              <a:rPr b="1" sz="1000">
                <a:solidFill>
                  <a:srgbClr val="0D9488"/>
                </a:solidFill>
                <a:latin typeface="Arial"/>
              </a:rPr>
              <a:t>The Solution: </a:t>
            </a:r>
            <a:r>
              <a:rPr sz="1000">
                <a:solidFill>
                  <a:srgbClr val="1E293B"/>
                </a:solidFill>
                <a:latin typeface="Arial"/>
              </a:rPr>
              <a:t>The CollabriX team-first paradigm</a:t>
            </a:r>
          </a:p>
          <a:p>
            <a:pPr>
              <a:spcBef>
                <a:spcPts val="350"/>
              </a:spcBef>
              <a:spcAft>
                <a:spcPts val="200"/>
              </a:spcAft>
            </a:pPr>
            <a:r>
              <a:rPr b="1" sz="1000">
                <a:solidFill>
                  <a:srgbClr val="0D9488"/>
                </a:solidFill>
                <a:latin typeface="Arial"/>
              </a:rPr>
              <a:t>▸ </a:t>
            </a:r>
            <a:r>
              <a:rPr b="1" sz="1000">
                <a:solidFill>
                  <a:srgbClr val="0D9488"/>
                </a:solidFill>
                <a:latin typeface="Arial"/>
              </a:rPr>
              <a:t>Project Objectives: </a:t>
            </a:r>
            <a:r>
              <a:rPr sz="1000">
                <a:solidFill>
                  <a:srgbClr val="1E293B"/>
                </a:solidFill>
                <a:latin typeface="Arial"/>
              </a:rPr>
              <a:t>5 core architectural design goals</a:t>
            </a:r>
          </a:p>
          <a:p>
            <a:pPr>
              <a:spcBef>
                <a:spcPts val="350"/>
              </a:spcBef>
              <a:spcAft>
                <a:spcPts val="200"/>
              </a:spcAft>
            </a:pPr>
            <a:r>
              <a:rPr b="1" sz="1000">
                <a:solidFill>
                  <a:srgbClr val="0D9488"/>
                </a:solidFill>
                <a:latin typeface="Arial"/>
              </a:rPr>
              <a:t>▸ </a:t>
            </a:r>
            <a:r>
              <a:rPr b="1" sz="1000">
                <a:solidFill>
                  <a:srgbClr val="0D9488"/>
                </a:solidFill>
                <a:latin typeface="Arial"/>
              </a:rPr>
              <a:t>Literature Survey: </a:t>
            </a:r>
            <a:r>
              <a:rPr sz="1000">
                <a:solidFill>
                  <a:srgbClr val="1E293B"/>
                </a:solidFill>
                <a:latin typeface="Arial"/>
              </a:rPr>
              <a:t>Academic foundations &amp; related works</a:t>
            </a:r>
          </a:p>
          <a:p>
            <a:pPr>
              <a:spcBef>
                <a:spcPts val="350"/>
              </a:spcBef>
              <a:spcAft>
                <a:spcPts val="200"/>
              </a:spcAft>
            </a:pPr>
            <a:r>
              <a:rPr b="1" sz="1000">
                <a:solidFill>
                  <a:srgbClr val="0D9488"/>
                </a:solidFill>
                <a:latin typeface="Arial"/>
              </a:rPr>
              <a:t>▸ </a:t>
            </a:r>
            <a:r>
              <a:rPr b="1" sz="1000">
                <a:solidFill>
                  <a:srgbClr val="0D9488"/>
                </a:solidFill>
                <a:latin typeface="Arial"/>
              </a:rPr>
              <a:t>Platform Comparison: </a:t>
            </a:r>
            <a:r>
              <a:rPr sz="1000">
                <a:solidFill>
                  <a:srgbClr val="1E293B"/>
                </a:solidFill>
                <a:latin typeface="Arial"/>
              </a:rPr>
              <a:t>CollabriX vs. Upwork, Fiverr, etc.</a:t>
            </a:r>
          </a:p>
        </p:txBody>
      </p:sp>
      <p:sp>
        <p:nvSpPr>
          <p:cNvPr id="10" name="Rounded Rectangle 9"/>
          <p:cNvSpPr/>
          <p:nvPr/>
        </p:nvSpPr>
        <p:spPr>
          <a:xfrm>
            <a:off x="3465576" y="1325880"/>
            <a:ext cx="251460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463039"/>
            <a:ext cx="2240280" cy="640080"/>
          </a:xfrm>
          <a:prstGeom prst="rect">
            <a:avLst/>
          </a:prstGeom>
          <a:noFill/>
        </p:spPr>
        <p:txBody>
          <a:bodyPr wrap="square" lIns="0" tIns="0" rIns="0" bIns="0">
            <a:spAutoFit/>
          </a:bodyPr>
          <a:lstStyle/>
          <a:p>
            <a:r>
              <a:rPr b="1" sz="1300">
                <a:solidFill>
                  <a:srgbClr val="0D9488"/>
                </a:solidFill>
                <a:latin typeface="Arial"/>
              </a:rPr>
              <a:t>02  </a:t>
            </a:r>
            <a:r>
              <a:rPr b="1" sz="1300">
                <a:solidFill>
                  <a:srgbClr val="0F3A40"/>
                </a:solidFill>
                <a:latin typeface="Arial"/>
              </a:rPr>
              <a:t>Phase 2: Architecture &amp; Data</a:t>
            </a:r>
          </a:p>
          <a:p>
            <a:pPr>
              <a:spcBef>
                <a:spcPts val="200"/>
              </a:spcBef>
            </a:pPr>
            <a:r>
              <a:rPr sz="950">
                <a:solidFill>
                  <a:srgbClr val="64748B"/>
                </a:solidFill>
                <a:latin typeface="Arial"/>
              </a:rPr>
              <a:t>Slides 8 – 11</a:t>
            </a:r>
          </a:p>
        </p:txBody>
      </p:sp>
      <p:sp>
        <p:nvSpPr>
          <p:cNvPr id="12" name="TextBox 11"/>
          <p:cNvSpPr txBox="1"/>
          <p:nvPr/>
        </p:nvSpPr>
        <p:spPr>
          <a:xfrm>
            <a:off x="3602736" y="2194560"/>
            <a:ext cx="2240280" cy="393192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Technology Stack: </a:t>
            </a:r>
            <a:r>
              <a:rPr sz="1000">
                <a:solidFill>
                  <a:srgbClr val="1E293B"/>
                </a:solidFill>
                <a:latin typeface="Arial"/>
              </a:rPr>
              <a:t>React 18, Vite, Supabase, Postgres 16</a:t>
            </a:r>
          </a:p>
          <a:p>
            <a:pPr>
              <a:spcBef>
                <a:spcPts val="350"/>
              </a:spcBef>
              <a:spcAft>
                <a:spcPts val="200"/>
              </a:spcAft>
            </a:pPr>
            <a:r>
              <a:rPr b="1" sz="1000">
                <a:solidFill>
                  <a:srgbClr val="0D9488"/>
                </a:solidFill>
                <a:latin typeface="Arial"/>
              </a:rPr>
              <a:t>▸ </a:t>
            </a:r>
            <a:r>
              <a:rPr b="1" sz="1000">
                <a:solidFill>
                  <a:srgbClr val="0D9488"/>
                </a:solidFill>
                <a:latin typeface="Arial"/>
              </a:rPr>
              <a:t>System Architecture: </a:t>
            </a:r>
            <a:r>
              <a:rPr sz="1000">
                <a:solidFill>
                  <a:srgbClr val="1E293B"/>
                </a:solidFill>
                <a:latin typeface="Arial"/>
              </a:rPr>
              <a:t>4-Tier layered system blueprint</a:t>
            </a:r>
          </a:p>
          <a:p>
            <a:pPr>
              <a:spcBef>
                <a:spcPts val="350"/>
              </a:spcBef>
              <a:spcAft>
                <a:spcPts val="200"/>
              </a:spcAft>
            </a:pPr>
            <a:r>
              <a:rPr b="1" sz="1000">
                <a:solidFill>
                  <a:srgbClr val="0D9488"/>
                </a:solidFill>
                <a:latin typeface="Arial"/>
              </a:rPr>
              <a:t>▸ </a:t>
            </a:r>
            <a:r>
              <a:rPr b="1" sz="1000">
                <a:solidFill>
                  <a:srgbClr val="0D9488"/>
                </a:solidFill>
                <a:latin typeface="Arial"/>
              </a:rPr>
              <a:t>Database Design: </a:t>
            </a:r>
            <a:r>
              <a:rPr sz="1000">
                <a:solidFill>
                  <a:srgbClr val="1E293B"/>
                </a:solidFill>
                <a:latin typeface="Arial"/>
              </a:rPr>
              <a:t>12-Table relational schema overview</a:t>
            </a:r>
          </a:p>
          <a:p>
            <a:pPr>
              <a:spcBef>
                <a:spcPts val="350"/>
              </a:spcBef>
              <a:spcAft>
                <a:spcPts val="200"/>
              </a:spcAft>
            </a:pPr>
            <a:r>
              <a:rPr b="1" sz="1000">
                <a:solidFill>
                  <a:srgbClr val="0D9488"/>
                </a:solidFill>
                <a:latin typeface="Arial"/>
              </a:rPr>
              <a:t>▸ </a:t>
            </a:r>
            <a:r>
              <a:rPr b="1" sz="1000">
                <a:solidFill>
                  <a:srgbClr val="0D9488"/>
                </a:solidFill>
                <a:latin typeface="Arial"/>
              </a:rPr>
              <a:t>5 Extension Tables: </a:t>
            </a:r>
            <a:r>
              <a:rPr sz="1000">
                <a:solidFill>
                  <a:srgbClr val="1E293B"/>
                </a:solidFill>
                <a:latin typeface="Arial"/>
              </a:rPr>
              <a:t>Team batches, notifications, invites, settings</a:t>
            </a:r>
          </a:p>
        </p:txBody>
      </p:sp>
      <p:sp>
        <p:nvSpPr>
          <p:cNvPr id="13" name="Rounded Rectangle 12"/>
          <p:cNvSpPr/>
          <p:nvPr/>
        </p:nvSpPr>
        <p:spPr>
          <a:xfrm>
            <a:off x="6199632" y="1325880"/>
            <a:ext cx="251460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63039"/>
            <a:ext cx="2240280" cy="640080"/>
          </a:xfrm>
          <a:prstGeom prst="rect">
            <a:avLst/>
          </a:prstGeom>
          <a:noFill/>
        </p:spPr>
        <p:txBody>
          <a:bodyPr wrap="square" lIns="0" tIns="0" rIns="0" bIns="0">
            <a:spAutoFit/>
          </a:bodyPr>
          <a:lstStyle/>
          <a:p>
            <a:r>
              <a:rPr b="1" sz="1300">
                <a:solidFill>
                  <a:srgbClr val="0D9488"/>
                </a:solidFill>
                <a:latin typeface="Arial"/>
              </a:rPr>
              <a:t>03  </a:t>
            </a:r>
            <a:r>
              <a:rPr b="1" sz="1300">
                <a:solidFill>
                  <a:srgbClr val="0F3A40"/>
                </a:solidFill>
                <a:latin typeface="Arial"/>
              </a:rPr>
              <a:t>Phase 3: Workflows &amp; Algorithms</a:t>
            </a:r>
          </a:p>
          <a:p>
            <a:pPr>
              <a:spcBef>
                <a:spcPts val="200"/>
              </a:spcBef>
            </a:pPr>
            <a:r>
              <a:rPr sz="950">
                <a:solidFill>
                  <a:srgbClr val="64748B"/>
                </a:solidFill>
                <a:latin typeface="Arial"/>
              </a:rPr>
              <a:t>Slides 12 – 19</a:t>
            </a:r>
          </a:p>
        </p:txBody>
      </p:sp>
      <p:sp>
        <p:nvSpPr>
          <p:cNvPr id="15" name="TextBox 14"/>
          <p:cNvSpPr txBox="1"/>
          <p:nvPr/>
        </p:nvSpPr>
        <p:spPr>
          <a:xfrm>
            <a:off x="6336792" y="2194560"/>
            <a:ext cx="2240280" cy="393192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Connections &amp; Peers: </a:t>
            </a:r>
            <a:r>
              <a:rPr sz="1000">
                <a:solidFill>
                  <a:srgbClr val="1E293B"/>
                </a:solidFill>
                <a:latin typeface="Arial"/>
              </a:rPr>
              <a:t>LinkedIn-style peer networking</a:t>
            </a:r>
          </a:p>
          <a:p>
            <a:pPr>
              <a:spcBef>
                <a:spcPts val="350"/>
              </a:spcBef>
              <a:spcAft>
                <a:spcPts val="200"/>
              </a:spcAft>
            </a:pPr>
            <a:r>
              <a:rPr b="1" sz="1000">
                <a:solidFill>
                  <a:srgbClr val="0D9488"/>
                </a:solidFill>
                <a:latin typeface="Arial"/>
              </a:rPr>
              <a:t>▸ </a:t>
            </a:r>
            <a:r>
              <a:rPr b="1" sz="1000">
                <a:solidFill>
                  <a:srgbClr val="0D9488"/>
                </a:solidFill>
                <a:latin typeface="Arial"/>
              </a:rPr>
              <a:t>Synergy Algorithm: </a:t>
            </a:r>
            <a:r>
              <a:rPr sz="1000">
                <a:solidFill>
                  <a:srgbClr val="1E293B"/>
                </a:solidFill>
                <a:latin typeface="Arial"/>
              </a:rPr>
              <a:t>Algorithm 1: Domain skill coverage</a:t>
            </a:r>
          </a:p>
          <a:p>
            <a:pPr>
              <a:spcBef>
                <a:spcPts val="350"/>
              </a:spcBef>
              <a:spcAft>
                <a:spcPts val="200"/>
              </a:spcAft>
            </a:pPr>
            <a:r>
              <a:rPr b="1" sz="1000">
                <a:solidFill>
                  <a:srgbClr val="0D9488"/>
                </a:solidFill>
                <a:latin typeface="Arial"/>
              </a:rPr>
              <a:t>▸ </a:t>
            </a:r>
            <a:r>
              <a:rPr b="1" sz="1000">
                <a:solidFill>
                  <a:srgbClr val="0D9488"/>
                </a:solidFill>
                <a:latin typeface="Arial"/>
              </a:rPr>
              <a:t>Project Lifecycle: </a:t>
            </a:r>
            <a:r>
              <a:rPr sz="1000">
                <a:solidFill>
                  <a:srgbClr val="1E293B"/>
                </a:solidFill>
                <a:latin typeface="Arial"/>
              </a:rPr>
              <a:t>State machine &amp; invitation-gated assigning</a:t>
            </a:r>
          </a:p>
          <a:p>
            <a:pPr>
              <a:spcBef>
                <a:spcPts val="350"/>
              </a:spcBef>
              <a:spcAft>
                <a:spcPts val="200"/>
              </a:spcAft>
            </a:pPr>
            <a:r>
              <a:rPr b="1" sz="1000">
                <a:solidFill>
                  <a:srgbClr val="0D9488"/>
                </a:solidFill>
                <a:latin typeface="Arial"/>
              </a:rPr>
              <a:t>▸ </a:t>
            </a:r>
            <a:r>
              <a:rPr b="1" sz="1000">
                <a:solidFill>
                  <a:srgbClr val="0D9488"/>
                </a:solidFill>
                <a:latin typeface="Arial"/>
              </a:rPr>
              <a:t>Security &amp; RLS: </a:t>
            </a:r>
            <a:r>
              <a:rPr sz="1000">
                <a:solidFill>
                  <a:srgbClr val="1E293B"/>
                </a:solidFill>
                <a:latin typeface="Arial"/>
              </a:rPr>
              <a:t>PostgreSQL Row-Level Security &amp; RPCs</a:t>
            </a:r>
          </a:p>
          <a:p>
            <a:pPr>
              <a:spcBef>
                <a:spcPts val="350"/>
              </a:spcBef>
              <a:spcAft>
                <a:spcPts val="200"/>
              </a:spcAft>
            </a:pPr>
            <a:r>
              <a:rPr b="1" sz="1000">
                <a:solidFill>
                  <a:srgbClr val="0D9488"/>
                </a:solidFill>
                <a:latin typeface="Arial"/>
              </a:rPr>
              <a:t>▸ </a:t>
            </a:r>
            <a:r>
              <a:rPr b="1" sz="1000">
                <a:solidFill>
                  <a:srgbClr val="0D9488"/>
                </a:solidFill>
                <a:latin typeface="Arial"/>
              </a:rPr>
              <a:t>Ratings &amp; Reviews: </a:t>
            </a:r>
            <a:r>
              <a:rPr sz="1000">
                <a:solidFill>
                  <a:srgbClr val="1E293B"/>
                </a:solidFill>
                <a:latin typeface="Arial"/>
              </a:rPr>
              <a:t>Two-way completion-gated trust rules</a:t>
            </a:r>
          </a:p>
          <a:p>
            <a:pPr>
              <a:spcBef>
                <a:spcPts val="350"/>
              </a:spcBef>
              <a:spcAft>
                <a:spcPts val="200"/>
              </a:spcAft>
            </a:pPr>
            <a:r>
              <a:rPr b="1" sz="1000">
                <a:solidFill>
                  <a:srgbClr val="0D9488"/>
                </a:solidFill>
                <a:latin typeface="Arial"/>
              </a:rPr>
              <a:t>▸ </a:t>
            </a:r>
            <a:r>
              <a:rPr b="1" sz="1000">
                <a:solidFill>
                  <a:srgbClr val="0D9488"/>
                </a:solidFill>
                <a:latin typeface="Arial"/>
              </a:rPr>
              <a:t>Notifications: </a:t>
            </a:r>
            <a:r>
              <a:rPr sz="1000">
                <a:solidFill>
                  <a:srgbClr val="1E293B"/>
                </a:solidFill>
                <a:latin typeface="Arial"/>
              </a:rPr>
              <a:t>Database trigger-driven event pipeline</a:t>
            </a:r>
          </a:p>
          <a:p>
            <a:pPr>
              <a:spcBef>
                <a:spcPts val="350"/>
              </a:spcBef>
              <a:spcAft>
                <a:spcPts val="200"/>
              </a:spcAft>
            </a:pPr>
            <a:r>
              <a:rPr b="1" sz="1000">
                <a:solidFill>
                  <a:srgbClr val="0D9488"/>
                </a:solidFill>
                <a:latin typeface="Arial"/>
              </a:rPr>
              <a:t>▸ </a:t>
            </a:r>
            <a:r>
              <a:rPr b="1" sz="1000">
                <a:solidFill>
                  <a:srgbClr val="0D9488"/>
                </a:solidFill>
                <a:latin typeface="Arial"/>
              </a:rPr>
              <a:t>Leaderboard Formula: </a:t>
            </a:r>
            <a:r>
              <a:rPr sz="1000">
                <a:solidFill>
                  <a:srgbClr val="1E293B"/>
                </a:solidFill>
                <a:latin typeface="Arial"/>
              </a:rPr>
              <a:t>Algorithm 2: Verifiable delivery math</a:t>
            </a:r>
          </a:p>
        </p:txBody>
      </p:sp>
      <p:sp>
        <p:nvSpPr>
          <p:cNvPr id="16" name="Rounded Rectangle 15"/>
          <p:cNvSpPr/>
          <p:nvPr/>
        </p:nvSpPr>
        <p:spPr>
          <a:xfrm>
            <a:off x="8933688" y="1325880"/>
            <a:ext cx="2514600"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1463039"/>
            <a:ext cx="2240280" cy="640080"/>
          </a:xfrm>
          <a:prstGeom prst="rect">
            <a:avLst/>
          </a:prstGeom>
          <a:noFill/>
        </p:spPr>
        <p:txBody>
          <a:bodyPr wrap="square" lIns="0" tIns="0" rIns="0" bIns="0">
            <a:spAutoFit/>
          </a:bodyPr>
          <a:lstStyle/>
          <a:p>
            <a:r>
              <a:rPr b="1" sz="1300">
                <a:solidFill>
                  <a:srgbClr val="0D9488"/>
                </a:solidFill>
                <a:latin typeface="Arial"/>
              </a:rPr>
              <a:t>04  </a:t>
            </a:r>
            <a:r>
              <a:rPr b="1" sz="1300">
                <a:solidFill>
                  <a:srgbClr val="0F3A40"/>
                </a:solidFill>
                <a:latin typeface="Arial"/>
              </a:rPr>
              <a:t>Phase 4: Walkthrough &amp; Results</a:t>
            </a:r>
          </a:p>
          <a:p>
            <a:pPr>
              <a:spcBef>
                <a:spcPts val="200"/>
              </a:spcBef>
            </a:pPr>
            <a:r>
              <a:rPr sz="950">
                <a:solidFill>
                  <a:srgbClr val="64748B"/>
                </a:solidFill>
                <a:latin typeface="Arial"/>
              </a:rPr>
              <a:t>Slides 20 – 25</a:t>
            </a:r>
          </a:p>
        </p:txBody>
      </p:sp>
      <p:sp>
        <p:nvSpPr>
          <p:cNvPr id="18" name="TextBox 17"/>
          <p:cNvSpPr txBox="1"/>
          <p:nvPr/>
        </p:nvSpPr>
        <p:spPr>
          <a:xfrm>
            <a:off x="9070848" y="2194560"/>
            <a:ext cx="2240280" cy="393192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UI Screenshots: </a:t>
            </a:r>
            <a:r>
              <a:rPr sz="1000">
                <a:solidFill>
                  <a:srgbClr val="1E293B"/>
                </a:solidFill>
                <a:latin typeface="Arial"/>
              </a:rPr>
              <a:t>Developer profile &amp; real-time chat</a:t>
            </a:r>
          </a:p>
          <a:p>
            <a:pPr>
              <a:spcBef>
                <a:spcPts val="350"/>
              </a:spcBef>
              <a:spcAft>
                <a:spcPts val="200"/>
              </a:spcAft>
            </a:pPr>
            <a:r>
              <a:rPr b="1" sz="1000">
                <a:solidFill>
                  <a:srgbClr val="0D9488"/>
                </a:solidFill>
                <a:latin typeface="Arial"/>
              </a:rPr>
              <a:t>▸ </a:t>
            </a:r>
            <a:r>
              <a:rPr b="1" sz="1000">
                <a:solidFill>
                  <a:srgbClr val="0D9488"/>
                </a:solidFill>
                <a:latin typeface="Arial"/>
              </a:rPr>
              <a:t>UI Screenshots: </a:t>
            </a:r>
            <a:r>
              <a:rPr sz="1000">
                <a:solidFill>
                  <a:srgbClr val="1E293B"/>
                </a:solidFill>
                <a:latin typeface="Arial"/>
              </a:rPr>
              <a:t>Team batch engine &amp; client dashboard</a:t>
            </a:r>
          </a:p>
          <a:p>
            <a:pPr>
              <a:spcBef>
                <a:spcPts val="350"/>
              </a:spcBef>
              <a:spcAft>
                <a:spcPts val="200"/>
              </a:spcAft>
            </a:pPr>
            <a:r>
              <a:rPr b="1" sz="1000">
                <a:solidFill>
                  <a:srgbClr val="0D9488"/>
                </a:solidFill>
                <a:latin typeface="Arial"/>
              </a:rPr>
              <a:t>▸ </a:t>
            </a:r>
            <a:r>
              <a:rPr b="1" sz="1000">
                <a:solidFill>
                  <a:srgbClr val="0D9488"/>
                </a:solidFill>
                <a:latin typeface="Arial"/>
              </a:rPr>
              <a:t>UI Screenshots: </a:t>
            </a:r>
            <a:r>
              <a:rPr sz="1000">
                <a:solidFill>
                  <a:srgbClr val="1E293B"/>
                </a:solidFill>
                <a:latin typeface="Arial"/>
              </a:rPr>
              <a:t>Notifications &amp; project lifecycle</a:t>
            </a:r>
          </a:p>
          <a:p>
            <a:pPr>
              <a:spcBef>
                <a:spcPts val="350"/>
              </a:spcBef>
              <a:spcAft>
                <a:spcPts val="200"/>
              </a:spcAft>
            </a:pPr>
            <a:r>
              <a:rPr b="1" sz="1000">
                <a:solidFill>
                  <a:srgbClr val="0D9488"/>
                </a:solidFill>
                <a:latin typeface="Arial"/>
              </a:rPr>
              <a:t>▸ </a:t>
            </a:r>
            <a:r>
              <a:rPr b="1" sz="1000">
                <a:solidFill>
                  <a:srgbClr val="0D9488"/>
                </a:solidFill>
                <a:latin typeface="Arial"/>
              </a:rPr>
              <a:t>Verification Suite: </a:t>
            </a:r>
            <a:r>
              <a:rPr sz="1000">
                <a:solidFill>
                  <a:srgbClr val="1E293B"/>
                </a:solidFill>
                <a:latin typeface="Arial"/>
              </a:rPr>
              <a:t>104 DB checks, 18 browser tests, Lighthouse</a:t>
            </a:r>
          </a:p>
          <a:p>
            <a:pPr>
              <a:spcBef>
                <a:spcPts val="350"/>
              </a:spcBef>
              <a:spcAft>
                <a:spcPts val="200"/>
              </a:spcAft>
            </a:pPr>
            <a:r>
              <a:rPr b="1" sz="1000">
                <a:solidFill>
                  <a:srgbClr val="0D9488"/>
                </a:solidFill>
                <a:latin typeface="Arial"/>
              </a:rPr>
              <a:t>▸ </a:t>
            </a:r>
            <a:r>
              <a:rPr b="1" sz="1000">
                <a:solidFill>
                  <a:srgbClr val="0D9488"/>
                </a:solidFill>
                <a:latin typeface="Arial"/>
              </a:rPr>
              <a:t>Roadmap &amp; Limitations: </a:t>
            </a:r>
            <a:r>
              <a:rPr sz="1000">
                <a:solidFill>
                  <a:srgbClr val="1E293B"/>
                </a:solidFill>
                <a:latin typeface="Arial"/>
              </a:rPr>
              <a:t>Current boundaries &amp; future vision</a:t>
            </a:r>
          </a:p>
          <a:p>
            <a:pPr>
              <a:spcBef>
                <a:spcPts val="350"/>
              </a:spcBef>
              <a:spcAft>
                <a:spcPts val="200"/>
              </a:spcAft>
            </a:pPr>
            <a:r>
              <a:rPr b="1" sz="1000">
                <a:solidFill>
                  <a:srgbClr val="0D9488"/>
                </a:solidFill>
                <a:latin typeface="Arial"/>
              </a:rPr>
              <a:t>▸ </a:t>
            </a:r>
            <a:r>
              <a:rPr b="1" sz="1000">
                <a:solidFill>
                  <a:srgbClr val="0D9488"/>
                </a:solidFill>
                <a:latin typeface="Arial"/>
              </a:rPr>
              <a:t>Conclusion &amp; Q&amp;A: </a:t>
            </a:r>
            <a:r>
              <a:rPr sz="1000">
                <a:solidFill>
                  <a:srgbClr val="1E293B"/>
                </a:solidFill>
                <a:latin typeface="Arial"/>
              </a:rPr>
              <a:t>Key takeaways &amp; open floor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INDUSTRY CHALLENGE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The Problem: Structural Gaps in Gig Marketplaces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3 / 25</a:t>
            </a:r>
          </a:p>
        </p:txBody>
      </p:sp>
      <p:sp>
        <p:nvSpPr>
          <p:cNvPr id="7" name="Rounded Rectangle 6"/>
          <p:cNvSpPr/>
          <p:nvPr/>
        </p:nvSpPr>
        <p:spPr>
          <a:xfrm>
            <a:off x="731520" y="1325880"/>
            <a:ext cx="10728655" cy="73152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99032"/>
            <a:ext cx="10332720" cy="594360"/>
          </a:xfrm>
          <a:prstGeom prst="rect">
            <a:avLst/>
          </a:prstGeom>
          <a:noFill/>
        </p:spPr>
        <p:txBody>
          <a:bodyPr wrap="square">
            <a:spAutoFit/>
          </a:bodyPr>
          <a:lstStyle/>
          <a:p>
            <a:r>
              <a:rPr b="1" sz="1100">
                <a:solidFill>
                  <a:srgbClr val="0D9488"/>
                </a:solidFill>
              </a:rPr>
              <a:t>CORE REALITY: </a:t>
            </a:r>
            <a:r>
              <a:rPr sz="1100">
                <a:solidFill>
                  <a:srgbClr val="1E293B"/>
                </a:solidFill>
              </a:rPr>
              <a:t>Modern software is assembled by cross-functional teams (Front-end, Back-end, Cloud, UI/UX), yet mainstream freelance marketplaces force a rigid 'one-client to one-freelancer' hiring model.</a:t>
            </a:r>
          </a:p>
        </p:txBody>
      </p:sp>
      <p:sp>
        <p:nvSpPr>
          <p:cNvPr id="9" name="Rounded Rectangle 8"/>
          <p:cNvSpPr/>
          <p:nvPr/>
        </p:nvSpPr>
        <p:spPr>
          <a:xfrm>
            <a:off x="731520" y="224028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77440"/>
            <a:ext cx="3063240" cy="502920"/>
          </a:xfrm>
          <a:prstGeom prst="rect">
            <a:avLst/>
          </a:prstGeom>
          <a:noFill/>
        </p:spPr>
        <p:txBody>
          <a:bodyPr wrap="square" lIns="0" tIns="0" rIns="0" bIns="0">
            <a:spAutoFit/>
          </a:bodyPr>
          <a:lstStyle/>
          <a:p>
            <a:r>
              <a:rPr b="1" sz="1300">
                <a:solidFill>
                  <a:srgbClr val="0D9488"/>
                </a:solidFill>
                <a:latin typeface="Arial"/>
              </a:rPr>
              <a:t>01  </a:t>
            </a:r>
            <a:r>
              <a:rPr b="1" sz="1300">
                <a:solidFill>
                  <a:srgbClr val="0F3A40"/>
                </a:solidFill>
                <a:latin typeface="Arial"/>
              </a:rPr>
              <a:t>Individual-Only Model</a:t>
            </a:r>
          </a:p>
          <a:p>
            <a:pPr>
              <a:spcBef>
                <a:spcPts val="200"/>
              </a:spcBef>
            </a:pPr>
            <a:r>
              <a:rPr sz="950">
                <a:solidFill>
                  <a:srgbClr val="64748B"/>
                </a:solidFill>
                <a:latin typeface="Arial"/>
              </a:rPr>
              <a:t>Zero native peer teaming</a:t>
            </a:r>
          </a:p>
        </p:txBody>
      </p:sp>
      <p:sp>
        <p:nvSpPr>
          <p:cNvPr id="11" name="TextBox 10"/>
          <p:cNvSpPr txBox="1"/>
          <p:nvPr/>
        </p:nvSpPr>
        <p:spPr>
          <a:xfrm>
            <a:off x="868680" y="2926080"/>
            <a:ext cx="3063240" cy="1097280"/>
          </a:xfrm>
          <a:prstGeom prst="rect">
            <a:avLst/>
          </a:prstGeom>
          <a:noFill/>
        </p:spPr>
        <p:txBody>
          <a:bodyPr wrap="square" lIns="0" tIns="0" rIns="0" bIns="0">
            <a:spAutoFit/>
          </a:bodyPr>
          <a:lstStyle/>
          <a:p>
            <a:r>
              <a:rPr sz="1000">
                <a:solidFill>
                  <a:srgbClr val="1E293B"/>
                </a:solidFill>
                <a:latin typeface="Arial"/>
              </a:rPr>
              <a:t>Platforms like Upwork and Fiverr treat developers as isolated solitary sellers. There is no first-class mechanism for developers to discover peers and bid collaboratively as a team.</a:t>
            </a:r>
          </a:p>
        </p:txBody>
      </p:sp>
      <p:sp>
        <p:nvSpPr>
          <p:cNvPr id="12" name="Rounded Rectangle 11"/>
          <p:cNvSpPr/>
          <p:nvPr/>
        </p:nvSpPr>
        <p:spPr>
          <a:xfrm>
            <a:off x="4425696" y="224028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377440"/>
            <a:ext cx="3063240" cy="502920"/>
          </a:xfrm>
          <a:prstGeom prst="rect">
            <a:avLst/>
          </a:prstGeom>
          <a:noFill/>
        </p:spPr>
        <p:txBody>
          <a:bodyPr wrap="square" lIns="0" tIns="0" rIns="0" bIns="0">
            <a:spAutoFit/>
          </a:bodyPr>
          <a:lstStyle/>
          <a:p>
            <a:r>
              <a:rPr b="1" sz="1300">
                <a:solidFill>
                  <a:srgbClr val="0D9488"/>
                </a:solidFill>
                <a:latin typeface="Arial"/>
              </a:rPr>
              <a:t>02  </a:t>
            </a:r>
            <a:r>
              <a:rPr b="1" sz="1300">
                <a:solidFill>
                  <a:srgbClr val="0F3A40"/>
                </a:solidFill>
                <a:latin typeface="Arial"/>
              </a:rPr>
              <a:t>Severe Bidding Fatigue</a:t>
            </a:r>
          </a:p>
          <a:p>
            <a:pPr>
              <a:spcBef>
                <a:spcPts val="200"/>
              </a:spcBef>
            </a:pPr>
            <a:r>
              <a:rPr sz="950">
                <a:solidFill>
                  <a:srgbClr val="64748B"/>
                </a:solidFill>
                <a:latin typeface="Arial"/>
              </a:rPr>
              <a:t>Wasteful unpaid bidding cycles</a:t>
            </a:r>
          </a:p>
        </p:txBody>
      </p:sp>
      <p:sp>
        <p:nvSpPr>
          <p:cNvPr id="14" name="TextBox 13"/>
          <p:cNvSpPr txBox="1"/>
          <p:nvPr/>
        </p:nvSpPr>
        <p:spPr>
          <a:xfrm>
            <a:off x="4562856" y="2926080"/>
            <a:ext cx="3063240" cy="1097280"/>
          </a:xfrm>
          <a:prstGeom prst="rect">
            <a:avLst/>
          </a:prstGeom>
          <a:noFill/>
        </p:spPr>
        <p:txBody>
          <a:bodyPr wrap="square" lIns="0" tIns="0" rIns="0" bIns="0">
            <a:spAutoFit/>
          </a:bodyPr>
          <a:lstStyle/>
          <a:p>
            <a:r>
              <a:rPr sz="1000">
                <a:solidFill>
                  <a:srgbClr val="1E293B"/>
                </a:solidFill>
                <a:latin typeface="Arial"/>
              </a:rPr>
              <a:t>Clients are overwhelmed by hundreds of generic proposals. Freelancers spend hours writing unpaid bids instead of building software, leading to low hit-rates and frustration.</a:t>
            </a:r>
          </a:p>
        </p:txBody>
      </p:sp>
      <p:sp>
        <p:nvSpPr>
          <p:cNvPr id="15" name="Rounded Rectangle 14"/>
          <p:cNvSpPr/>
          <p:nvPr/>
        </p:nvSpPr>
        <p:spPr>
          <a:xfrm>
            <a:off x="8119872" y="224028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2377440"/>
            <a:ext cx="3063240" cy="502920"/>
          </a:xfrm>
          <a:prstGeom prst="rect">
            <a:avLst/>
          </a:prstGeom>
          <a:noFill/>
        </p:spPr>
        <p:txBody>
          <a:bodyPr wrap="square" lIns="0" tIns="0" rIns="0" bIns="0">
            <a:spAutoFit/>
          </a:bodyPr>
          <a:lstStyle/>
          <a:p>
            <a:r>
              <a:rPr b="1" sz="1300">
                <a:solidFill>
                  <a:srgbClr val="0D9488"/>
                </a:solidFill>
                <a:latin typeface="Arial"/>
              </a:rPr>
              <a:t>03  </a:t>
            </a:r>
            <a:r>
              <a:rPr b="1" sz="1300">
                <a:solidFill>
                  <a:srgbClr val="0F3A40"/>
                </a:solidFill>
                <a:latin typeface="Arial"/>
              </a:rPr>
              <a:t>Weak Rating Integrity</a:t>
            </a:r>
          </a:p>
          <a:p>
            <a:pPr>
              <a:spcBef>
                <a:spcPts val="200"/>
              </a:spcBef>
            </a:pPr>
            <a:r>
              <a:rPr sz="950">
                <a:solidFill>
                  <a:srgbClr val="64748B"/>
                </a:solidFill>
                <a:latin typeface="Arial"/>
              </a:rPr>
              <a:t>Rampant 5-star review inflation</a:t>
            </a:r>
          </a:p>
        </p:txBody>
      </p:sp>
      <p:sp>
        <p:nvSpPr>
          <p:cNvPr id="17" name="TextBox 16"/>
          <p:cNvSpPr txBox="1"/>
          <p:nvPr/>
        </p:nvSpPr>
        <p:spPr>
          <a:xfrm>
            <a:off x="8257032" y="2926080"/>
            <a:ext cx="3063240" cy="1097280"/>
          </a:xfrm>
          <a:prstGeom prst="rect">
            <a:avLst/>
          </a:prstGeom>
          <a:noFill/>
        </p:spPr>
        <p:txBody>
          <a:bodyPr wrap="square" lIns="0" tIns="0" rIns="0" bIns="0">
            <a:spAutoFit/>
          </a:bodyPr>
          <a:lstStyle/>
          <a:p>
            <a:r>
              <a:rPr sz="1000">
                <a:solidFill>
                  <a:srgbClr val="1E293B"/>
                </a:solidFill>
                <a:latin typeface="Arial"/>
              </a:rPr>
              <a:t>Reviews are decoupled from completed deliverables. Feedback inflation degrades rating signals over time, making star ratings unreliable indicators of actual engineering competence.</a:t>
            </a:r>
          </a:p>
        </p:txBody>
      </p:sp>
      <p:sp>
        <p:nvSpPr>
          <p:cNvPr id="18" name="Rounded Rectangle 17"/>
          <p:cNvSpPr/>
          <p:nvPr/>
        </p:nvSpPr>
        <p:spPr>
          <a:xfrm>
            <a:off x="2578608" y="434340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15768" y="4480560"/>
            <a:ext cx="3063240" cy="502920"/>
          </a:xfrm>
          <a:prstGeom prst="rect">
            <a:avLst/>
          </a:prstGeom>
          <a:noFill/>
        </p:spPr>
        <p:txBody>
          <a:bodyPr wrap="square" lIns="0" tIns="0" rIns="0" bIns="0">
            <a:spAutoFit/>
          </a:bodyPr>
          <a:lstStyle/>
          <a:p>
            <a:r>
              <a:rPr b="1" sz="1300">
                <a:solidFill>
                  <a:srgbClr val="0D9488"/>
                </a:solidFill>
                <a:latin typeface="Arial"/>
              </a:rPr>
              <a:t>04  </a:t>
            </a:r>
            <a:r>
              <a:rPr b="1" sz="1300">
                <a:solidFill>
                  <a:srgbClr val="0F3A40"/>
                </a:solidFill>
                <a:latin typeface="Arial"/>
              </a:rPr>
              <a:t>Communication Silos</a:t>
            </a:r>
          </a:p>
          <a:p>
            <a:pPr>
              <a:spcBef>
                <a:spcPts val="200"/>
              </a:spcBef>
            </a:pPr>
            <a:r>
              <a:rPr sz="950">
                <a:solidFill>
                  <a:srgbClr val="64748B"/>
                </a:solidFill>
                <a:latin typeface="Arial"/>
              </a:rPr>
              <a:t>Lost context across external apps</a:t>
            </a:r>
          </a:p>
        </p:txBody>
      </p:sp>
      <p:sp>
        <p:nvSpPr>
          <p:cNvPr id="20" name="TextBox 19"/>
          <p:cNvSpPr txBox="1"/>
          <p:nvPr/>
        </p:nvSpPr>
        <p:spPr>
          <a:xfrm>
            <a:off x="2715768" y="5029200"/>
            <a:ext cx="3063240" cy="1097280"/>
          </a:xfrm>
          <a:prstGeom prst="rect">
            <a:avLst/>
          </a:prstGeom>
          <a:noFill/>
        </p:spPr>
        <p:txBody>
          <a:bodyPr wrap="square" lIns="0" tIns="0" rIns="0" bIns="0">
            <a:spAutoFit/>
          </a:bodyPr>
          <a:lstStyle/>
          <a:p>
            <a:r>
              <a:rPr sz="1000">
                <a:solidFill>
                  <a:srgbClr val="1E293B"/>
                </a:solidFill>
                <a:latin typeface="Arial"/>
              </a:rPr>
              <a:t>Collaboration inevitably spills over to external apps like WhatsApp, Discord, or email. The platform loses project context, auditability, and dispute resolution clarity.</a:t>
            </a:r>
          </a:p>
        </p:txBody>
      </p:sp>
      <p:sp>
        <p:nvSpPr>
          <p:cNvPr id="21" name="Rounded Rectangle 20"/>
          <p:cNvSpPr/>
          <p:nvPr/>
        </p:nvSpPr>
        <p:spPr>
          <a:xfrm>
            <a:off x="6272784" y="434340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4480560"/>
            <a:ext cx="3063240" cy="502920"/>
          </a:xfrm>
          <a:prstGeom prst="rect">
            <a:avLst/>
          </a:prstGeom>
          <a:noFill/>
        </p:spPr>
        <p:txBody>
          <a:bodyPr wrap="square" lIns="0" tIns="0" rIns="0" bIns="0">
            <a:spAutoFit/>
          </a:bodyPr>
          <a:lstStyle/>
          <a:p>
            <a:r>
              <a:rPr b="1" sz="1300">
                <a:solidFill>
                  <a:srgbClr val="0D9488"/>
                </a:solidFill>
                <a:latin typeface="Arial"/>
              </a:rPr>
              <a:t>05  </a:t>
            </a:r>
            <a:r>
              <a:rPr b="1" sz="1300">
                <a:solidFill>
                  <a:srgbClr val="0F3A40"/>
                </a:solidFill>
                <a:latin typeface="Arial"/>
              </a:rPr>
              <a:t>Cold-Start Barrier</a:t>
            </a:r>
          </a:p>
          <a:p>
            <a:pPr>
              <a:spcBef>
                <a:spcPts val="200"/>
              </a:spcBef>
            </a:pPr>
            <a:r>
              <a:rPr sz="950">
                <a:solidFill>
                  <a:srgbClr val="64748B"/>
                </a:solidFill>
                <a:latin typeface="Arial"/>
              </a:rPr>
              <a:t>Invisible newcomers</a:t>
            </a:r>
          </a:p>
        </p:txBody>
      </p:sp>
      <p:sp>
        <p:nvSpPr>
          <p:cNvPr id="23" name="TextBox 22"/>
          <p:cNvSpPr txBox="1"/>
          <p:nvPr/>
        </p:nvSpPr>
        <p:spPr>
          <a:xfrm>
            <a:off x="6409944" y="5029200"/>
            <a:ext cx="3063240" cy="1097280"/>
          </a:xfrm>
          <a:prstGeom prst="rect">
            <a:avLst/>
          </a:prstGeom>
          <a:noFill/>
        </p:spPr>
        <p:txBody>
          <a:bodyPr wrap="square" lIns="0" tIns="0" rIns="0" bIns="0">
            <a:spAutoFit/>
          </a:bodyPr>
          <a:lstStyle/>
          <a:p>
            <a:r>
              <a:rPr sz="1000">
                <a:solidFill>
                  <a:srgbClr val="1E293B"/>
                </a:solidFill>
                <a:latin typeface="Arial"/>
              </a:rPr>
              <a:t>New entrants without an established review history are invisible in search algorithms, regardless of actual technical skill, creating an insurmountable barrier for student talent.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CORE INNOVATION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The Solution: CollabriX Team-First Paradigm</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4 / 25</a:t>
            </a:r>
          </a:p>
        </p:txBody>
      </p:sp>
      <p:sp>
        <p:nvSpPr>
          <p:cNvPr id="7" name="Rounded Rectangle 6"/>
          <p:cNvSpPr/>
          <p:nvPr/>
        </p:nvSpPr>
        <p:spPr>
          <a:xfrm>
            <a:off x="731520" y="1325880"/>
            <a:ext cx="516636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89204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The Paradigm Shift</a:t>
            </a:r>
          </a:p>
          <a:p>
            <a:pPr>
              <a:spcBef>
                <a:spcPts val="200"/>
              </a:spcBef>
            </a:pPr>
            <a:r>
              <a:rPr sz="950">
                <a:solidFill>
                  <a:srgbClr val="64748B"/>
                </a:solidFill>
                <a:latin typeface="Arial"/>
              </a:rPr>
              <a:t>From Solitary Bidding to Collaborative Delivery</a:t>
            </a:r>
          </a:p>
        </p:txBody>
      </p:sp>
      <p:sp>
        <p:nvSpPr>
          <p:cNvPr id="9" name="TextBox 8"/>
          <p:cNvSpPr txBox="1"/>
          <p:nvPr/>
        </p:nvSpPr>
        <p:spPr>
          <a:xfrm>
            <a:off x="868680" y="2148840"/>
            <a:ext cx="4892040" cy="31089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Team-First Architecture: </a:t>
            </a:r>
            <a:r>
              <a:rPr sz="1050">
                <a:solidFill>
                  <a:srgbClr val="1E293B"/>
                </a:solidFill>
                <a:latin typeface="Arial"/>
              </a:rPr>
              <a:t>Collaboration is the core data primitive rather than a cosmetic afterthought. Developers assemble complementary teams directly on-platform.</a:t>
            </a:r>
          </a:p>
          <a:p>
            <a:pPr>
              <a:spcBef>
                <a:spcPts val="350"/>
              </a:spcBef>
              <a:spcAft>
                <a:spcPts val="200"/>
              </a:spcAft>
            </a:pPr>
            <a:r>
              <a:rPr b="1" sz="1050">
                <a:solidFill>
                  <a:srgbClr val="0D9488"/>
                </a:solidFill>
                <a:latin typeface="Arial"/>
              </a:rPr>
              <a:t>▸ </a:t>
            </a:r>
            <a:r>
              <a:rPr b="1" sz="1050">
                <a:solidFill>
                  <a:srgbClr val="0D9488"/>
                </a:solidFill>
                <a:latin typeface="Arial"/>
              </a:rPr>
              <a:t>Multi-Regional Peer Discovery: </a:t>
            </a:r>
            <a:r>
              <a:rPr sz="1050">
                <a:solidFill>
                  <a:srgbClr val="1E293B"/>
                </a:solidFill>
                <a:latin typeface="Arial"/>
              </a:rPr>
              <a:t>Discover peers by continent, sub-region, country, and tech stack to form time-zone aligned development squads.</a:t>
            </a:r>
          </a:p>
          <a:p>
            <a:pPr>
              <a:spcBef>
                <a:spcPts val="350"/>
              </a:spcBef>
              <a:spcAft>
                <a:spcPts val="200"/>
              </a:spcAft>
            </a:pPr>
            <a:r>
              <a:rPr b="1" sz="1050">
                <a:solidFill>
                  <a:srgbClr val="0D9488"/>
                </a:solidFill>
                <a:latin typeface="Arial"/>
              </a:rPr>
              <a:t>▸ </a:t>
            </a:r>
            <a:r>
              <a:rPr b="1" sz="1050">
                <a:solidFill>
                  <a:srgbClr val="0D9488"/>
                </a:solidFill>
                <a:latin typeface="Arial"/>
              </a:rPr>
              <a:t>Dynamic Team Batches: </a:t>
            </a:r>
            <a:r>
              <a:rPr sz="1050">
                <a:solidFill>
                  <a:srgbClr val="1E293B"/>
                </a:solidFill>
                <a:latin typeface="Arial"/>
              </a:rPr>
              <a:t>Group up to 10 verified connections into reusable team units with distinct project roles and automated skill coverage calculations.</a:t>
            </a:r>
          </a:p>
          <a:p>
            <a:pPr>
              <a:spcBef>
                <a:spcPts val="350"/>
              </a:spcBef>
              <a:spcAft>
                <a:spcPts val="200"/>
              </a:spcAft>
            </a:pPr>
            <a:r>
              <a:rPr b="1" sz="1050">
                <a:solidFill>
                  <a:srgbClr val="0D9488"/>
                </a:solidFill>
                <a:latin typeface="Arial"/>
              </a:rPr>
              <a:t>▸ </a:t>
            </a:r>
            <a:r>
              <a:rPr b="1" sz="1050">
                <a:solidFill>
                  <a:srgbClr val="0D9488"/>
                </a:solidFill>
                <a:latin typeface="Arial"/>
              </a:rPr>
              <a:t>Dual Role-Based Workspaces: </a:t>
            </a:r>
            <a:r>
              <a:rPr sz="1050">
                <a:solidFill>
                  <a:srgbClr val="1E293B"/>
                </a:solidFill>
                <a:latin typeface="Arial"/>
              </a:rPr>
              <a:t>Dedicated client dashboard for posting work and managing teams, paired with a rich developer hub for networking and jobs.</a:t>
            </a:r>
          </a:p>
        </p:txBody>
      </p:sp>
      <p:sp>
        <p:nvSpPr>
          <p:cNvPr id="10" name="Rounded Rectangle 9"/>
          <p:cNvSpPr/>
          <p:nvPr/>
        </p:nvSpPr>
        <p:spPr>
          <a:xfrm>
            <a:off x="6172200" y="1325880"/>
            <a:ext cx="5285232"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463040"/>
            <a:ext cx="5010912"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Four Architectural Pillars</a:t>
            </a:r>
          </a:p>
          <a:p>
            <a:pPr>
              <a:spcBef>
                <a:spcPts val="200"/>
              </a:spcBef>
            </a:pPr>
            <a:r>
              <a:rPr sz="950">
                <a:solidFill>
                  <a:srgbClr val="64748B"/>
                </a:solidFill>
                <a:latin typeface="Arial"/>
              </a:rPr>
              <a:t>Engineered for Integrity &amp; High Performance</a:t>
            </a:r>
          </a:p>
        </p:txBody>
      </p:sp>
      <p:sp>
        <p:nvSpPr>
          <p:cNvPr id="12" name="TextBox 11"/>
          <p:cNvSpPr txBox="1"/>
          <p:nvPr/>
        </p:nvSpPr>
        <p:spPr>
          <a:xfrm>
            <a:off x="6309360" y="2148840"/>
            <a:ext cx="5010912" cy="31089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1. Algorithmic Synergy Engine: </a:t>
            </a:r>
            <a:r>
              <a:rPr sz="1050">
                <a:solidFill>
                  <a:srgbClr val="1E293B"/>
                </a:solidFill>
                <a:latin typeface="Arial"/>
              </a:rPr>
              <a:t>Mathematically computes skill complementarity against domain benchmarks, identifying missing technology gaps before bidding.</a:t>
            </a:r>
          </a:p>
          <a:p>
            <a:pPr>
              <a:spcBef>
                <a:spcPts val="350"/>
              </a:spcBef>
              <a:spcAft>
                <a:spcPts val="200"/>
              </a:spcAft>
            </a:pPr>
            <a:r>
              <a:rPr b="1" sz="1050">
                <a:solidFill>
                  <a:srgbClr val="0D9488"/>
                </a:solidFill>
                <a:latin typeface="Arial"/>
              </a:rPr>
              <a:t>▸ </a:t>
            </a:r>
            <a:r>
              <a:rPr b="1" sz="1050">
                <a:solidFill>
                  <a:srgbClr val="0D9488"/>
                </a:solidFill>
                <a:latin typeface="Arial"/>
              </a:rPr>
              <a:t>2. Relational State Enforcement: </a:t>
            </a:r>
            <a:r>
              <a:rPr sz="1050">
                <a:solidFill>
                  <a:srgbClr val="1E293B"/>
                </a:solidFill>
                <a:latin typeface="Arial"/>
              </a:rPr>
              <a:t>PostgreSQL triggers and constraints prevent invalid transitions, fake reviews, and unauthorized assignments at the database level.</a:t>
            </a:r>
          </a:p>
          <a:p>
            <a:pPr>
              <a:spcBef>
                <a:spcPts val="350"/>
              </a:spcBef>
              <a:spcAft>
                <a:spcPts val="200"/>
              </a:spcAft>
            </a:pPr>
            <a:r>
              <a:rPr b="1" sz="1050">
                <a:solidFill>
                  <a:srgbClr val="0D9488"/>
                </a:solidFill>
                <a:latin typeface="Arial"/>
              </a:rPr>
              <a:t>▸ </a:t>
            </a:r>
            <a:r>
              <a:rPr b="1" sz="1050">
                <a:solidFill>
                  <a:srgbClr val="0D9488"/>
                </a:solidFill>
                <a:latin typeface="Arial"/>
              </a:rPr>
              <a:t>3. Zero-Baseline Reputation: </a:t>
            </a:r>
            <a:r>
              <a:rPr sz="1050">
                <a:solidFill>
                  <a:srgbClr val="1E293B"/>
                </a:solidFill>
                <a:latin typeface="Arial"/>
              </a:rPr>
              <a:t>Public leaderboard computed exclusively from completed client contracts, eliminating synthetic baseline ratings and bias.</a:t>
            </a:r>
          </a:p>
          <a:p>
            <a:pPr>
              <a:spcBef>
                <a:spcPts val="350"/>
              </a:spcBef>
              <a:spcAft>
                <a:spcPts val="200"/>
              </a:spcAft>
            </a:pPr>
            <a:r>
              <a:rPr b="1" sz="1050">
                <a:solidFill>
                  <a:srgbClr val="0D9488"/>
                </a:solidFill>
                <a:latin typeface="Arial"/>
              </a:rPr>
              <a:t>▸ </a:t>
            </a:r>
            <a:r>
              <a:rPr b="1" sz="1050">
                <a:solidFill>
                  <a:srgbClr val="0D9488"/>
                </a:solidFill>
                <a:latin typeface="Arial"/>
              </a:rPr>
              <a:t>4. Sub-Second Realtime Messaging: </a:t>
            </a:r>
            <a:r>
              <a:rPr sz="1050">
                <a:solidFill>
                  <a:srgbClr val="1E293B"/>
                </a:solidFill>
                <a:latin typeface="Arial"/>
              </a:rPr>
              <a:t>WebSocket-driven peer chat and automated notifications without polling overhead or communication leakage.</a:t>
            </a:r>
          </a:p>
        </p:txBody>
      </p:sp>
      <p:sp>
        <p:nvSpPr>
          <p:cNvPr id="13" name="Rounded Rectangle 12"/>
          <p:cNvSpPr/>
          <p:nvPr/>
        </p:nvSpPr>
        <p:spPr>
          <a:xfrm>
            <a:off x="731520" y="5577840"/>
            <a:ext cx="10728655" cy="82296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69280"/>
            <a:ext cx="10332720" cy="640080"/>
          </a:xfrm>
          <a:prstGeom prst="rect">
            <a:avLst/>
          </a:prstGeom>
          <a:noFill/>
        </p:spPr>
        <p:txBody>
          <a:bodyPr wrap="square">
            <a:spAutoFit/>
          </a:bodyPr>
          <a:lstStyle/>
          <a:p>
            <a:r>
              <a:rPr b="1" sz="1100">
                <a:solidFill>
                  <a:srgbClr val="0D9488"/>
                </a:solidFill>
              </a:rPr>
              <a:t>KEY VALUE PROPOSITION: </a:t>
            </a:r>
            <a:r>
              <a:rPr sz="1100">
                <a:solidFill>
                  <a:srgbClr val="1E293B"/>
                </a:solidFill>
              </a:rPr>
              <a:t>CollabriX enables student and early-career developers to pool complementary skills, compete for larger and higher-paying commercial software contracts, and build an unforgeable verified track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ENGINEERING TARGETS</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Project Objectives &amp; Design Goals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5 / 25</a:t>
            </a:r>
          </a:p>
        </p:txBody>
      </p:sp>
      <p:sp>
        <p:nvSpPr>
          <p:cNvPr id="7" name="Rounded Rectangle 6"/>
          <p:cNvSpPr/>
          <p:nvPr/>
        </p:nvSpPr>
        <p:spPr>
          <a:xfrm>
            <a:off x="731520" y="1325880"/>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490472"/>
            <a:ext cx="594360" cy="530352"/>
          </a:xfrm>
          <a:prstGeom prst="roundRect">
            <a:avLst/>
          </a:prstGeom>
          <a:solidFill>
            <a:srgbClr val="E6FF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0D9488"/>
                </a:solidFill>
              </a:rPr>
              <a:t>01</a:t>
            </a:r>
          </a:p>
        </p:txBody>
      </p:sp>
      <p:sp>
        <p:nvSpPr>
          <p:cNvPr id="9" name="TextBox 8"/>
          <p:cNvSpPr txBox="1"/>
          <p:nvPr/>
        </p:nvSpPr>
        <p:spPr>
          <a:xfrm>
            <a:off x="1645920" y="1435607"/>
            <a:ext cx="9601200" cy="658368"/>
          </a:xfrm>
          <a:prstGeom prst="rect">
            <a:avLst/>
          </a:prstGeom>
          <a:noFill/>
        </p:spPr>
        <p:txBody>
          <a:bodyPr wrap="square" lIns="0" tIns="0" rIns="0" bIns="0">
            <a:spAutoFit/>
          </a:bodyPr>
          <a:lstStyle/>
          <a:p>
            <a:r>
              <a:rPr b="1" sz="1200">
                <a:solidFill>
                  <a:srgbClr val="0F3A40"/>
                </a:solidFill>
              </a:rPr>
              <a:t>Dual Role-Based Workspaces — </a:t>
            </a:r>
            <a:r>
              <a:rPr sz="1050">
                <a:solidFill>
                  <a:srgbClr val="1E293B"/>
                </a:solidFill>
              </a:rPr>
              <a:t>Implement strict architectural and UI separation between Developer and Client experiences, guaranteeing tailored navigation, role-specific tooling, and secure data isolation.</a:t>
            </a:r>
          </a:p>
        </p:txBody>
      </p:sp>
      <p:sp>
        <p:nvSpPr>
          <p:cNvPr id="10" name="Rounded Rectangle 9"/>
          <p:cNvSpPr/>
          <p:nvPr/>
        </p:nvSpPr>
        <p:spPr>
          <a:xfrm>
            <a:off x="731520" y="2340863"/>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505456"/>
            <a:ext cx="594360" cy="530352"/>
          </a:xfrm>
          <a:prstGeom prst="roundRect">
            <a:avLst/>
          </a:prstGeom>
          <a:solidFill>
            <a:srgbClr val="E6FF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0D9488"/>
                </a:solidFill>
              </a:rPr>
              <a:t>02</a:t>
            </a:r>
          </a:p>
        </p:txBody>
      </p:sp>
      <p:sp>
        <p:nvSpPr>
          <p:cNvPr id="12" name="TextBox 11"/>
          <p:cNvSpPr txBox="1"/>
          <p:nvPr/>
        </p:nvSpPr>
        <p:spPr>
          <a:xfrm>
            <a:off x="1645920" y="2450591"/>
            <a:ext cx="9601200" cy="658368"/>
          </a:xfrm>
          <a:prstGeom prst="rect">
            <a:avLst/>
          </a:prstGeom>
          <a:noFill/>
        </p:spPr>
        <p:txBody>
          <a:bodyPr wrap="square" lIns="0" tIns="0" rIns="0" bIns="0">
            <a:spAutoFit/>
          </a:bodyPr>
          <a:lstStyle/>
          <a:p>
            <a:r>
              <a:rPr b="1" sz="1200">
                <a:solidFill>
                  <a:srgbClr val="0F3A40"/>
                </a:solidFill>
              </a:rPr>
              <a:t>Automated Synergy Matching — </a:t>
            </a:r>
            <a:r>
              <a:rPr sz="1050">
                <a:solidFill>
                  <a:srgbClr val="1E293B"/>
                </a:solidFill>
              </a:rPr>
              <a:t>Design and implement Algorithm 1 to match combined team member skills against standardized industry domain stacks, dynamically flagging missing technology gaps.</a:t>
            </a:r>
          </a:p>
        </p:txBody>
      </p:sp>
      <p:sp>
        <p:nvSpPr>
          <p:cNvPr id="13" name="Rounded Rectangle 12"/>
          <p:cNvSpPr/>
          <p:nvPr/>
        </p:nvSpPr>
        <p:spPr>
          <a:xfrm>
            <a:off x="731520" y="3355848"/>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520440"/>
            <a:ext cx="594360" cy="530352"/>
          </a:xfrm>
          <a:prstGeom prst="roundRect">
            <a:avLst/>
          </a:prstGeom>
          <a:solidFill>
            <a:srgbClr val="E6FF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0D9488"/>
                </a:solidFill>
              </a:rPr>
              <a:t>03</a:t>
            </a:r>
          </a:p>
        </p:txBody>
      </p:sp>
      <p:sp>
        <p:nvSpPr>
          <p:cNvPr id="15" name="TextBox 14"/>
          <p:cNvSpPr txBox="1"/>
          <p:nvPr/>
        </p:nvSpPr>
        <p:spPr>
          <a:xfrm>
            <a:off x="1645920" y="3465576"/>
            <a:ext cx="9601200" cy="658368"/>
          </a:xfrm>
          <a:prstGeom prst="rect">
            <a:avLst/>
          </a:prstGeom>
          <a:noFill/>
        </p:spPr>
        <p:txBody>
          <a:bodyPr wrap="square" lIns="0" tIns="0" rIns="0" bIns="0">
            <a:spAutoFit/>
          </a:bodyPr>
          <a:lstStyle/>
          <a:p>
            <a:r>
              <a:rPr b="1" sz="1200">
                <a:solidFill>
                  <a:srgbClr val="0F3A40"/>
                </a:solidFill>
              </a:rPr>
              <a:t>Database-Enforced Lifecycle — </a:t>
            </a:r>
            <a:r>
              <a:rPr sz="1050">
                <a:solidFill>
                  <a:srgbClr val="1E293B"/>
                </a:solidFill>
              </a:rPr>
              <a:t>Construct a deterministic 4-state project machine (Open → In Progress → Completed / Cancelled) where project assignment and ratings require relational proof of prior stages.</a:t>
            </a:r>
          </a:p>
        </p:txBody>
      </p:sp>
      <p:sp>
        <p:nvSpPr>
          <p:cNvPr id="16" name="Rounded Rectangle 15"/>
          <p:cNvSpPr/>
          <p:nvPr/>
        </p:nvSpPr>
        <p:spPr>
          <a:xfrm>
            <a:off x="731520" y="4370831"/>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8680" y="4535423"/>
            <a:ext cx="594360" cy="530352"/>
          </a:xfrm>
          <a:prstGeom prst="roundRect">
            <a:avLst/>
          </a:prstGeom>
          <a:solidFill>
            <a:srgbClr val="E6FF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0D9488"/>
                </a:solidFill>
              </a:rPr>
              <a:t>04</a:t>
            </a:r>
          </a:p>
        </p:txBody>
      </p:sp>
      <p:sp>
        <p:nvSpPr>
          <p:cNvPr id="18" name="TextBox 17"/>
          <p:cNvSpPr txBox="1"/>
          <p:nvPr/>
        </p:nvSpPr>
        <p:spPr>
          <a:xfrm>
            <a:off x="1645920" y="4480559"/>
            <a:ext cx="9601200" cy="658368"/>
          </a:xfrm>
          <a:prstGeom prst="rect">
            <a:avLst/>
          </a:prstGeom>
          <a:noFill/>
        </p:spPr>
        <p:txBody>
          <a:bodyPr wrap="square" lIns="0" tIns="0" rIns="0" bIns="0">
            <a:spAutoFit/>
          </a:bodyPr>
          <a:lstStyle/>
          <a:p>
            <a:r>
              <a:rPr b="1" sz="1200">
                <a:solidFill>
                  <a:srgbClr val="0F3A40"/>
                </a:solidFill>
              </a:rPr>
              <a:t>Meritocratic Leaderboard Ranking — </a:t>
            </a:r>
            <a:r>
              <a:rPr sz="1050">
                <a:solidFill>
                  <a:srgbClr val="1E293B"/>
                </a:solidFill>
              </a:rPr>
              <a:t>Formulate Algorithm 2 in PostgreSQL RPC without arbitrary baseline scores, ranking developers deterministically based strictly on verified delivery volume and client star ratings.</a:t>
            </a:r>
          </a:p>
        </p:txBody>
      </p:sp>
      <p:sp>
        <p:nvSpPr>
          <p:cNvPr id="19" name="Rounded Rectangle 18"/>
          <p:cNvSpPr/>
          <p:nvPr/>
        </p:nvSpPr>
        <p:spPr>
          <a:xfrm>
            <a:off x="731520" y="5385816"/>
            <a:ext cx="10728655"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5550407"/>
            <a:ext cx="594360" cy="530352"/>
          </a:xfrm>
          <a:prstGeom prst="roundRect">
            <a:avLst/>
          </a:prstGeom>
          <a:solidFill>
            <a:srgbClr val="E6FFFA"/>
          </a:solidFill>
          <a:ln>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300">
                <a:solidFill>
                  <a:srgbClr val="0D9488"/>
                </a:solidFill>
              </a:rPr>
              <a:t>05</a:t>
            </a:r>
          </a:p>
        </p:txBody>
      </p:sp>
      <p:sp>
        <p:nvSpPr>
          <p:cNvPr id="21" name="TextBox 20"/>
          <p:cNvSpPr txBox="1"/>
          <p:nvPr/>
        </p:nvSpPr>
        <p:spPr>
          <a:xfrm>
            <a:off x="1645920" y="5495544"/>
            <a:ext cx="9601200" cy="658368"/>
          </a:xfrm>
          <a:prstGeom prst="rect">
            <a:avLst/>
          </a:prstGeom>
          <a:noFill/>
        </p:spPr>
        <p:txBody>
          <a:bodyPr wrap="square" lIns="0" tIns="0" rIns="0" bIns="0">
            <a:spAutoFit/>
          </a:bodyPr>
          <a:lstStyle/>
          <a:p>
            <a:r>
              <a:rPr b="1" sz="1200">
                <a:solidFill>
                  <a:srgbClr val="0F3A40"/>
                </a:solidFill>
              </a:rPr>
              <a:t>Sub-Second Event-Driven Collaboration — </a:t>
            </a:r>
            <a:r>
              <a:rPr sz="1050">
                <a:solidFill>
                  <a:srgbClr val="1E293B"/>
                </a:solidFill>
              </a:rPr>
              <a:t>Deliver instantaneous peer-to-peer messaging and trigger-generated notifications using Supabase Realtime WebSockets, completely eliminating client-side polling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ACADEMIC CONTEXT</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Literature Survey: Theoretical Foundations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6 / 25</a:t>
            </a:r>
          </a:p>
        </p:txBody>
      </p:sp>
      <p:sp>
        <p:nvSpPr>
          <p:cNvPr id="7" name="Rounded Rectangle 6"/>
          <p:cNvSpPr/>
          <p:nvPr/>
        </p:nvSpPr>
        <p:spPr>
          <a:xfrm>
            <a:off x="731520" y="132588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35607"/>
            <a:ext cx="4892040" cy="548640"/>
          </a:xfrm>
          <a:prstGeom prst="rect">
            <a:avLst/>
          </a:prstGeom>
          <a:noFill/>
        </p:spPr>
        <p:txBody>
          <a:bodyPr wrap="square" lIns="0" tIns="0" rIns="0" bIns="0">
            <a:spAutoFit/>
          </a:bodyPr>
          <a:lstStyle/>
          <a:p>
            <a:r>
              <a:rPr b="1" sz="1300">
                <a:solidFill>
                  <a:srgbClr val="0D9488"/>
                </a:solidFill>
                <a:latin typeface="Arial"/>
              </a:rPr>
              <a:t>[1]  </a:t>
            </a:r>
            <a:r>
              <a:rPr b="1" sz="1300">
                <a:solidFill>
                  <a:srgbClr val="0F3A40"/>
                </a:solidFill>
                <a:latin typeface="Arial"/>
              </a:rPr>
              <a:t>Agrawal, Horton, Lacetera &amp; Lyons (2015)</a:t>
            </a:r>
          </a:p>
          <a:p>
            <a:pPr>
              <a:spcBef>
                <a:spcPts val="200"/>
              </a:spcBef>
            </a:pPr>
            <a:r>
              <a:rPr sz="950">
                <a:solidFill>
                  <a:srgbClr val="64748B"/>
                </a:solidFill>
                <a:latin typeface="Arial"/>
              </a:rPr>
              <a:t>Digitization and the Contract Labor Market</a:t>
            </a:r>
          </a:p>
        </p:txBody>
      </p:sp>
      <p:sp>
        <p:nvSpPr>
          <p:cNvPr id="9" name="TextBox 8"/>
          <p:cNvSpPr txBox="1"/>
          <p:nvPr/>
        </p:nvSpPr>
        <p:spPr>
          <a:xfrm>
            <a:off x="868680" y="2039112"/>
            <a:ext cx="4892040" cy="1417320"/>
          </a:xfrm>
          <a:prstGeom prst="rect">
            <a:avLst/>
          </a:prstGeom>
          <a:noFill/>
        </p:spPr>
        <p:txBody>
          <a:bodyPr wrap="square" lIns="0" tIns="0" rIns="0" bIns="0">
            <a:spAutoFit/>
          </a:bodyPr>
          <a:lstStyle/>
          <a:p/>
          <a:p>
            <a:pPr>
              <a:spcBef>
                <a:spcPts val="350"/>
              </a:spcBef>
              <a:spcAft>
                <a:spcPts val="200"/>
              </a:spcAft>
            </a:pPr>
            <a:r>
              <a:rPr b="1" sz="1000">
                <a:solidFill>
                  <a:srgbClr val="64748B"/>
                </a:solidFill>
                <a:latin typeface="Arial"/>
              </a:rPr>
              <a:t>▸ </a:t>
            </a:r>
            <a:r>
              <a:rPr b="1" sz="1000">
                <a:solidFill>
                  <a:srgbClr val="64748B"/>
                </a:solidFill>
                <a:latin typeface="Arial"/>
              </a:rPr>
              <a:t>Research Finding: </a:t>
            </a:r>
            <a:r>
              <a:rPr sz="1000">
                <a:solidFill>
                  <a:srgbClr val="1E293B"/>
                </a:solidFill>
                <a:latin typeface="Arial"/>
              </a:rPr>
              <a:t>Demonstrated that online labor markets exhibit severe spatial and informational frictions; geographic clustering and time-zone alignment strongly dictate hiring success.</a:t>
            </a:r>
          </a:p>
          <a:p>
            <a:pPr>
              <a:spcBef>
                <a:spcPts val="350"/>
              </a:spcBef>
              <a:spcAft>
                <a:spcPts val="200"/>
              </a:spcAft>
            </a:pPr>
            <a:r>
              <a:rPr b="1" sz="1000">
                <a:solidFill>
                  <a:srgbClr val="0D9488"/>
                </a:solidFill>
                <a:latin typeface="Arial"/>
              </a:rPr>
              <a:t>▸ </a:t>
            </a:r>
            <a:r>
              <a:rPr b="1" sz="1000">
                <a:solidFill>
                  <a:srgbClr val="0D9488"/>
                </a:solidFill>
                <a:latin typeface="Arial"/>
              </a:rPr>
              <a:t>CollabriX Adoption: </a:t>
            </a:r>
            <a:r>
              <a:rPr sz="1000">
                <a:solidFill>
                  <a:srgbClr val="1E293B"/>
                </a:solidFill>
                <a:latin typeface="Arial"/>
              </a:rPr>
              <a:t>CollabriX Implication: Implemented hierarchical regional filtering (Continent → Sub-region → Country) allowing developers to discover peers in compatible working time-zones.</a:t>
            </a:r>
          </a:p>
        </p:txBody>
      </p:sp>
      <p:sp>
        <p:nvSpPr>
          <p:cNvPr id="10" name="Rounded Rectangle 9"/>
          <p:cNvSpPr/>
          <p:nvPr/>
        </p:nvSpPr>
        <p:spPr>
          <a:xfrm>
            <a:off x="6291072" y="132588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435607"/>
            <a:ext cx="4892040" cy="548640"/>
          </a:xfrm>
          <a:prstGeom prst="rect">
            <a:avLst/>
          </a:prstGeom>
          <a:noFill/>
        </p:spPr>
        <p:txBody>
          <a:bodyPr wrap="square" lIns="0" tIns="0" rIns="0" bIns="0">
            <a:spAutoFit/>
          </a:bodyPr>
          <a:lstStyle/>
          <a:p>
            <a:r>
              <a:rPr b="1" sz="1300">
                <a:solidFill>
                  <a:srgbClr val="0D9488"/>
                </a:solidFill>
                <a:latin typeface="Arial"/>
              </a:rPr>
              <a:t>[2]  </a:t>
            </a:r>
            <a:r>
              <a:rPr b="1" sz="1300">
                <a:solidFill>
                  <a:srgbClr val="0F3A40"/>
                </a:solidFill>
                <a:latin typeface="Arial"/>
              </a:rPr>
              <a:t>Filippas, Horton &amp; Golden (2020)</a:t>
            </a:r>
          </a:p>
          <a:p>
            <a:pPr>
              <a:spcBef>
                <a:spcPts val="200"/>
              </a:spcBef>
            </a:pPr>
            <a:r>
              <a:rPr sz="950">
                <a:solidFill>
                  <a:srgbClr val="64748B"/>
                </a:solidFill>
                <a:latin typeface="Arial"/>
              </a:rPr>
              <a:t>Reputation Inflation in the Gig Economy</a:t>
            </a:r>
          </a:p>
        </p:txBody>
      </p:sp>
      <p:sp>
        <p:nvSpPr>
          <p:cNvPr id="12" name="TextBox 11"/>
          <p:cNvSpPr txBox="1"/>
          <p:nvPr/>
        </p:nvSpPr>
        <p:spPr>
          <a:xfrm>
            <a:off x="6428232" y="2039112"/>
            <a:ext cx="4892040" cy="1417320"/>
          </a:xfrm>
          <a:prstGeom prst="rect">
            <a:avLst/>
          </a:prstGeom>
          <a:noFill/>
        </p:spPr>
        <p:txBody>
          <a:bodyPr wrap="square" lIns="0" tIns="0" rIns="0" bIns="0">
            <a:spAutoFit/>
          </a:bodyPr>
          <a:lstStyle/>
          <a:p/>
          <a:p>
            <a:pPr>
              <a:spcBef>
                <a:spcPts val="350"/>
              </a:spcBef>
              <a:spcAft>
                <a:spcPts val="200"/>
              </a:spcAft>
            </a:pPr>
            <a:r>
              <a:rPr b="1" sz="1000">
                <a:solidFill>
                  <a:srgbClr val="64748B"/>
                </a:solidFill>
                <a:latin typeface="Arial"/>
              </a:rPr>
              <a:t>▸ </a:t>
            </a:r>
            <a:r>
              <a:rPr b="1" sz="1000">
                <a:solidFill>
                  <a:srgbClr val="64748B"/>
                </a:solidFill>
                <a:latin typeface="Arial"/>
              </a:rPr>
              <a:t>Research Finding: </a:t>
            </a:r>
            <a:r>
              <a:rPr sz="1000">
                <a:solidFill>
                  <a:srgbClr val="1E293B"/>
                </a:solidFill>
                <a:latin typeface="Arial"/>
              </a:rPr>
              <a:t>Disclosed that conventional 5-star rating mechanisms suffer extreme upward grade inflation, severely diminishing their signaling power for clients.</a:t>
            </a:r>
          </a:p>
          <a:p>
            <a:pPr>
              <a:spcBef>
                <a:spcPts val="350"/>
              </a:spcBef>
              <a:spcAft>
                <a:spcPts val="200"/>
              </a:spcAft>
            </a:pPr>
            <a:r>
              <a:rPr b="1" sz="1000">
                <a:solidFill>
                  <a:srgbClr val="0D9488"/>
                </a:solidFill>
                <a:latin typeface="Arial"/>
              </a:rPr>
              <a:t>▸ </a:t>
            </a:r>
            <a:r>
              <a:rPr b="1" sz="1000">
                <a:solidFill>
                  <a:srgbClr val="0D9488"/>
                </a:solidFill>
                <a:latin typeface="Arial"/>
              </a:rPr>
              <a:t>CollabriX Adoption: </a:t>
            </a:r>
            <a:r>
              <a:rPr sz="1000">
                <a:solidFill>
                  <a:srgbClr val="1E293B"/>
                </a:solidFill>
                <a:latin typeface="Arial"/>
              </a:rPr>
              <a:t>CollabriX Implication: Implemented completion-gated two-way reviews locked behind database triggers, ensuring ratings only originate from verified completed contracts.</a:t>
            </a:r>
          </a:p>
        </p:txBody>
      </p:sp>
      <p:sp>
        <p:nvSpPr>
          <p:cNvPr id="13" name="Rounded Rectangle 12"/>
          <p:cNvSpPr/>
          <p:nvPr/>
        </p:nvSpPr>
        <p:spPr>
          <a:xfrm>
            <a:off x="731520" y="379476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04488"/>
            <a:ext cx="4892040" cy="548640"/>
          </a:xfrm>
          <a:prstGeom prst="rect">
            <a:avLst/>
          </a:prstGeom>
          <a:noFill/>
        </p:spPr>
        <p:txBody>
          <a:bodyPr wrap="square" lIns="0" tIns="0" rIns="0" bIns="0">
            <a:spAutoFit/>
          </a:bodyPr>
          <a:lstStyle/>
          <a:p>
            <a:r>
              <a:rPr b="1" sz="1300">
                <a:solidFill>
                  <a:srgbClr val="0D9488"/>
                </a:solidFill>
                <a:latin typeface="Arial"/>
              </a:rPr>
              <a:t>[3]  </a:t>
            </a:r>
            <a:r>
              <a:rPr b="1" sz="1300">
                <a:solidFill>
                  <a:srgbClr val="0F3A40"/>
                </a:solidFill>
                <a:latin typeface="Arial"/>
              </a:rPr>
              <a:t>Retelny et al. (2014) &amp; Valentine et al. (2017)</a:t>
            </a:r>
          </a:p>
          <a:p>
            <a:pPr>
              <a:spcBef>
                <a:spcPts val="200"/>
              </a:spcBef>
            </a:pPr>
            <a:r>
              <a:rPr sz="950">
                <a:solidFill>
                  <a:srgbClr val="64748B"/>
                </a:solidFill>
                <a:latin typeface="Arial"/>
              </a:rPr>
              <a:t>Flash Teams &amp; Flash Organizations</a:t>
            </a:r>
          </a:p>
        </p:txBody>
      </p:sp>
      <p:sp>
        <p:nvSpPr>
          <p:cNvPr id="15" name="TextBox 14"/>
          <p:cNvSpPr txBox="1"/>
          <p:nvPr/>
        </p:nvSpPr>
        <p:spPr>
          <a:xfrm>
            <a:off x="868680" y="4507992"/>
            <a:ext cx="4892040" cy="1417320"/>
          </a:xfrm>
          <a:prstGeom prst="rect">
            <a:avLst/>
          </a:prstGeom>
          <a:noFill/>
        </p:spPr>
        <p:txBody>
          <a:bodyPr wrap="square" lIns="0" tIns="0" rIns="0" bIns="0">
            <a:spAutoFit/>
          </a:bodyPr>
          <a:lstStyle/>
          <a:p/>
          <a:p>
            <a:pPr>
              <a:spcBef>
                <a:spcPts val="350"/>
              </a:spcBef>
              <a:spcAft>
                <a:spcPts val="200"/>
              </a:spcAft>
            </a:pPr>
            <a:r>
              <a:rPr b="1" sz="1000">
                <a:solidFill>
                  <a:srgbClr val="64748B"/>
                </a:solidFill>
                <a:latin typeface="Arial"/>
              </a:rPr>
              <a:t>▸ </a:t>
            </a:r>
            <a:r>
              <a:rPr b="1" sz="1000">
                <a:solidFill>
                  <a:srgbClr val="64748B"/>
                </a:solidFill>
                <a:latin typeface="Arial"/>
              </a:rPr>
              <a:t>Research Finding: </a:t>
            </a:r>
            <a:r>
              <a:rPr sz="1000">
                <a:solidFill>
                  <a:srgbClr val="1E293B"/>
                </a:solidFill>
                <a:latin typeface="Arial"/>
              </a:rPr>
              <a:t>Proved that crowd workers dynamically assembled into structured teams can accomplish complex, open-ended engineering goals when provided with role structures.</a:t>
            </a:r>
          </a:p>
          <a:p>
            <a:pPr>
              <a:spcBef>
                <a:spcPts val="350"/>
              </a:spcBef>
              <a:spcAft>
                <a:spcPts val="200"/>
              </a:spcAft>
            </a:pPr>
            <a:r>
              <a:rPr b="1" sz="1000">
                <a:solidFill>
                  <a:srgbClr val="0D9488"/>
                </a:solidFill>
                <a:latin typeface="Arial"/>
              </a:rPr>
              <a:t>▸ </a:t>
            </a:r>
            <a:r>
              <a:rPr b="1" sz="1000">
                <a:solidFill>
                  <a:srgbClr val="0D9488"/>
                </a:solidFill>
                <a:latin typeface="Arial"/>
              </a:rPr>
              <a:t>CollabriX Adoption: </a:t>
            </a:r>
            <a:r>
              <a:rPr sz="1000">
                <a:solidFill>
                  <a:srgbClr val="1E293B"/>
                </a:solidFill>
                <a:latin typeface="Arial"/>
              </a:rPr>
              <a:t>CollabriX Implication: Designed our native Team Batch engine, providing project domain role assignments and automated skill complementarity calculations.</a:t>
            </a:r>
          </a:p>
        </p:txBody>
      </p:sp>
      <p:sp>
        <p:nvSpPr>
          <p:cNvPr id="16" name="Rounded Rectangle 15"/>
          <p:cNvSpPr/>
          <p:nvPr/>
        </p:nvSpPr>
        <p:spPr>
          <a:xfrm>
            <a:off x="6291072" y="3794760"/>
            <a:ext cx="51663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904488"/>
            <a:ext cx="4892040" cy="548640"/>
          </a:xfrm>
          <a:prstGeom prst="rect">
            <a:avLst/>
          </a:prstGeom>
          <a:noFill/>
        </p:spPr>
        <p:txBody>
          <a:bodyPr wrap="square" lIns="0" tIns="0" rIns="0" bIns="0">
            <a:spAutoFit/>
          </a:bodyPr>
          <a:lstStyle/>
          <a:p>
            <a:r>
              <a:rPr b="1" sz="1300">
                <a:solidFill>
                  <a:srgbClr val="0D9488"/>
                </a:solidFill>
                <a:latin typeface="Arial"/>
              </a:rPr>
              <a:t>[4]  </a:t>
            </a:r>
            <a:r>
              <a:rPr b="1" sz="1300">
                <a:solidFill>
                  <a:srgbClr val="0F3A40"/>
                </a:solidFill>
                <a:latin typeface="Arial"/>
              </a:rPr>
              <a:t>Hannák et al. (2017)</a:t>
            </a:r>
          </a:p>
          <a:p>
            <a:pPr>
              <a:spcBef>
                <a:spcPts val="200"/>
              </a:spcBef>
            </a:pPr>
            <a:r>
              <a:rPr sz="950">
                <a:solidFill>
                  <a:srgbClr val="64748B"/>
                </a:solidFill>
                <a:latin typeface="Arial"/>
              </a:rPr>
              <a:t>Bias in Online Freelance Marketplaces</a:t>
            </a:r>
          </a:p>
        </p:txBody>
      </p:sp>
      <p:sp>
        <p:nvSpPr>
          <p:cNvPr id="18" name="TextBox 17"/>
          <p:cNvSpPr txBox="1"/>
          <p:nvPr/>
        </p:nvSpPr>
        <p:spPr>
          <a:xfrm>
            <a:off x="6428232" y="4507992"/>
            <a:ext cx="4892040" cy="1417320"/>
          </a:xfrm>
          <a:prstGeom prst="rect">
            <a:avLst/>
          </a:prstGeom>
          <a:noFill/>
        </p:spPr>
        <p:txBody>
          <a:bodyPr wrap="square" lIns="0" tIns="0" rIns="0" bIns="0">
            <a:spAutoFit/>
          </a:bodyPr>
          <a:lstStyle/>
          <a:p/>
          <a:p>
            <a:pPr>
              <a:spcBef>
                <a:spcPts val="350"/>
              </a:spcBef>
              <a:spcAft>
                <a:spcPts val="200"/>
              </a:spcAft>
            </a:pPr>
            <a:r>
              <a:rPr b="1" sz="1000">
                <a:solidFill>
                  <a:srgbClr val="64748B"/>
                </a:solidFill>
                <a:latin typeface="Arial"/>
              </a:rPr>
              <a:t>▸ </a:t>
            </a:r>
            <a:r>
              <a:rPr b="1" sz="1000">
                <a:solidFill>
                  <a:srgbClr val="64748B"/>
                </a:solidFill>
                <a:latin typeface="Arial"/>
              </a:rPr>
              <a:t>Research Finding: </a:t>
            </a:r>
            <a:r>
              <a:rPr sz="1000">
                <a:solidFill>
                  <a:srgbClr val="1E293B"/>
                </a:solidFill>
                <a:latin typeface="Arial"/>
              </a:rPr>
              <a:t>Found that commercial algorithmic ranking engines introduce systematic visibility barriers against newcomers and non-traditional freelancers.</a:t>
            </a:r>
          </a:p>
          <a:p>
            <a:pPr>
              <a:spcBef>
                <a:spcPts val="350"/>
              </a:spcBef>
              <a:spcAft>
                <a:spcPts val="200"/>
              </a:spcAft>
            </a:pPr>
            <a:r>
              <a:rPr b="1" sz="1000">
                <a:solidFill>
                  <a:srgbClr val="0D9488"/>
                </a:solidFill>
                <a:latin typeface="Arial"/>
              </a:rPr>
              <a:t>▸ </a:t>
            </a:r>
            <a:r>
              <a:rPr b="1" sz="1000">
                <a:solidFill>
                  <a:srgbClr val="0D9488"/>
                </a:solidFill>
                <a:latin typeface="Arial"/>
              </a:rPr>
              <a:t>CollabriX Adoption: </a:t>
            </a:r>
            <a:r>
              <a:rPr sz="1000">
                <a:solidFill>
                  <a:srgbClr val="1E293B"/>
                </a:solidFill>
                <a:latin typeface="Arial"/>
              </a:rPr>
              <a:t>CollabriX Implication: Engineered a transparent, deterministic leaderboard formula based on volume of delivered work, eliminating opaque corporate ranking algorithms.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COMPETITIVE BENCHMARK</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Comparative Analysis: CollabriX vs. Market Leaders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7 / 25</a:t>
            </a:r>
          </a:p>
        </p:txBody>
      </p:sp>
      <p:graphicFrame>
        <p:nvGraphicFramePr>
          <p:cNvPr id="7" name="Table 6"/>
          <p:cNvGraphicFramePr>
            <a:graphicFrameLocks noGrp="1"/>
          </p:cNvGraphicFramePr>
          <p:nvPr/>
        </p:nvGraphicFramePr>
        <p:xfrm>
          <a:off x="731520" y="1325880"/>
          <a:ext cx="10728655" cy="4846320"/>
        </p:xfrm>
        <a:graphic>
          <a:graphicData uri="http://schemas.openxmlformats.org/drawingml/2006/table">
            <a:tbl>
              <a:tblPr firstRow="1" bandRow="1">
                <a:tableStyleId>{5C22544A-7EE6-4342-B048-85BDC9FD1C3A}</a:tableStyleId>
              </a:tblPr>
              <a:tblGrid>
                <a:gridCol w="2316175"/>
                <a:gridCol w="1645920"/>
                <a:gridCol w="1645920"/>
                <a:gridCol w="1645920"/>
                <a:gridCol w="1645920"/>
                <a:gridCol w="1828800"/>
              </a:tblGrid>
              <a:tr h="605790">
                <a:tc>
                  <a:txBody>
                    <a:bodyPr/>
                    <a:lstStyle/>
                    <a:p>
                      <a:pPr algn="l"/>
                      <a:r>
                        <a:rPr b="1" sz="1100">
                          <a:solidFill>
                            <a:srgbClr val="FFFFFF"/>
                          </a:solidFill>
                          <a:latin typeface="Arial"/>
                        </a:rPr>
                        <a:t>Feature / Aspect</a:t>
                      </a:r>
                    </a:p>
                  </a:txBody>
                  <a:tcPr>
                    <a:solidFill>
                      <a:srgbClr val="1E293B"/>
                    </a:solidFill>
                  </a:tcPr>
                </a:tc>
                <a:tc>
                  <a:txBody>
                    <a:bodyPr/>
                    <a:lstStyle/>
                    <a:p>
                      <a:pPr algn="ctr"/>
                      <a:r>
                        <a:rPr b="1" sz="1100">
                          <a:solidFill>
                            <a:srgbClr val="FFFFFF"/>
                          </a:solidFill>
                          <a:latin typeface="Arial"/>
                        </a:rPr>
                        <a:t>Upwork</a:t>
                      </a:r>
                    </a:p>
                  </a:txBody>
                  <a:tcPr>
                    <a:solidFill>
                      <a:srgbClr val="1E293B"/>
                    </a:solidFill>
                  </a:tcPr>
                </a:tc>
                <a:tc>
                  <a:txBody>
                    <a:bodyPr/>
                    <a:lstStyle/>
                    <a:p>
                      <a:pPr algn="ctr"/>
                      <a:r>
                        <a:rPr b="1" sz="1100">
                          <a:solidFill>
                            <a:srgbClr val="FFFFFF"/>
                          </a:solidFill>
                          <a:latin typeface="Arial"/>
                        </a:rPr>
                        <a:t>Fiverr</a:t>
                      </a:r>
                    </a:p>
                  </a:txBody>
                  <a:tcPr>
                    <a:solidFill>
                      <a:srgbClr val="1E293B"/>
                    </a:solidFill>
                  </a:tcPr>
                </a:tc>
                <a:tc>
                  <a:txBody>
                    <a:bodyPr/>
                    <a:lstStyle/>
                    <a:p>
                      <a:pPr algn="ctr"/>
                      <a:r>
                        <a:rPr b="1" sz="1100">
                          <a:solidFill>
                            <a:srgbClr val="FFFFFF"/>
                          </a:solidFill>
                          <a:latin typeface="Arial"/>
                        </a:rPr>
                        <a:t>Freelancer</a:t>
                      </a:r>
                    </a:p>
                  </a:txBody>
                  <a:tcPr>
                    <a:solidFill>
                      <a:srgbClr val="1E293B"/>
                    </a:solidFill>
                  </a:tcPr>
                </a:tc>
                <a:tc>
                  <a:txBody>
                    <a:bodyPr/>
                    <a:lstStyle/>
                    <a:p>
                      <a:pPr algn="ctr"/>
                      <a:r>
                        <a:rPr b="1" sz="1100">
                          <a:solidFill>
                            <a:srgbClr val="FFFFFF"/>
                          </a:solidFill>
                          <a:latin typeface="Arial"/>
                        </a:rPr>
                        <a:t>Toptal</a:t>
                      </a:r>
                    </a:p>
                  </a:txBody>
                  <a:tcPr>
                    <a:solidFill>
                      <a:srgbClr val="1E293B"/>
                    </a:solidFill>
                  </a:tcPr>
                </a:tc>
                <a:tc>
                  <a:txBody>
                    <a:bodyPr/>
                    <a:lstStyle/>
                    <a:p>
                      <a:pPr algn="ctr"/>
                      <a:r>
                        <a:rPr b="1" sz="1100">
                          <a:solidFill>
                            <a:srgbClr val="FFFFFF"/>
                          </a:solidFill>
                          <a:latin typeface="Arial"/>
                        </a:rPr>
                        <a:t>CollabriX (Ours)</a:t>
                      </a:r>
                    </a:p>
                  </a:txBody>
                  <a:tcPr>
                    <a:solidFill>
                      <a:srgbClr val="0B2528"/>
                    </a:solidFill>
                  </a:tcPr>
                </a:tc>
              </a:tr>
              <a:tr h="605790">
                <a:tc>
                  <a:txBody>
                    <a:bodyPr/>
                    <a:lstStyle/>
                    <a:p>
                      <a:pPr algn="l"/>
                      <a:r>
                        <a:rPr sz="1000">
                          <a:solidFill>
                            <a:srgbClr val="1E293B"/>
                          </a:solidFill>
                          <a:latin typeface="Arial"/>
                        </a:rPr>
                        <a:t>Hiring Model</a:t>
                      </a:r>
                    </a:p>
                  </a:txBody>
                  <a:tcPr>
                    <a:solidFill>
                      <a:srgbClr val="FFFFFF"/>
                    </a:solidFill>
                  </a:tcPr>
                </a:tc>
                <a:tc>
                  <a:txBody>
                    <a:bodyPr/>
                    <a:lstStyle/>
                    <a:p>
                      <a:pPr algn="ctr"/>
                      <a:r>
                        <a:rPr sz="1000">
                          <a:solidFill>
                            <a:srgbClr val="1E293B"/>
                          </a:solidFill>
                          <a:latin typeface="Arial"/>
                        </a:rPr>
                        <a:t>Job post + proposals</a:t>
                      </a:r>
                    </a:p>
                  </a:txBody>
                  <a:tcPr>
                    <a:solidFill>
                      <a:srgbClr val="FFFFFF"/>
                    </a:solidFill>
                  </a:tcPr>
                </a:tc>
                <a:tc>
                  <a:txBody>
                    <a:bodyPr/>
                    <a:lstStyle/>
                    <a:p>
                      <a:pPr algn="ctr"/>
                      <a:r>
                        <a:rPr sz="1000">
                          <a:solidFill>
                            <a:srgbClr val="1E293B"/>
                          </a:solidFill>
                          <a:latin typeface="Arial"/>
                        </a:rPr>
                        <a:t>Fixed gigs / packages</a:t>
                      </a:r>
                    </a:p>
                  </a:txBody>
                  <a:tcPr>
                    <a:solidFill>
                      <a:srgbClr val="FFFFFF"/>
                    </a:solidFill>
                  </a:tcPr>
                </a:tc>
                <a:tc>
                  <a:txBody>
                    <a:bodyPr/>
                    <a:lstStyle/>
                    <a:p>
                      <a:pPr algn="ctr"/>
                      <a:r>
                        <a:rPr sz="1000">
                          <a:solidFill>
                            <a:srgbClr val="1E293B"/>
                          </a:solidFill>
                          <a:latin typeface="Arial"/>
                        </a:rPr>
                        <a:t>Bidding &amp; contests</a:t>
                      </a:r>
                    </a:p>
                  </a:txBody>
                  <a:tcPr>
                    <a:solidFill>
                      <a:srgbClr val="FFFFFF"/>
                    </a:solidFill>
                  </a:tcPr>
                </a:tc>
                <a:tc>
                  <a:txBody>
                    <a:bodyPr/>
                    <a:lstStyle/>
                    <a:p>
                      <a:pPr algn="ctr"/>
                      <a:r>
                        <a:rPr sz="1000">
                          <a:solidFill>
                            <a:srgbClr val="1E293B"/>
                          </a:solidFill>
                          <a:latin typeface="Arial"/>
                        </a:rPr>
                        <a:t>Curated 3% matching</a:t>
                      </a:r>
                    </a:p>
                  </a:txBody>
                  <a:tcPr>
                    <a:solidFill>
                      <a:srgbClr val="FFFFFF"/>
                    </a:solidFill>
                  </a:tcPr>
                </a:tc>
                <a:tc>
                  <a:txBody>
                    <a:bodyPr/>
                    <a:lstStyle/>
                    <a:p>
                      <a:pPr algn="ctr"/>
                      <a:r>
                        <a:rPr b="1" sz="1000">
                          <a:solidFill>
                            <a:srgbClr val="0D9488"/>
                          </a:solidFill>
                          <a:latin typeface="Arial"/>
                        </a:rPr>
                        <a:t>Profiles + Open Teams</a:t>
                      </a:r>
                    </a:p>
                  </a:txBody>
                  <a:tcPr>
                    <a:solidFill>
                      <a:srgbClr val="F0FDFA"/>
                    </a:solidFill>
                  </a:tcPr>
                </a:tc>
              </a:tr>
              <a:tr h="605790">
                <a:tc>
                  <a:txBody>
                    <a:bodyPr/>
                    <a:lstStyle/>
                    <a:p>
                      <a:pPr algn="l"/>
                      <a:r>
                        <a:rPr sz="1000">
                          <a:solidFill>
                            <a:srgbClr val="1E293B"/>
                          </a:solidFill>
                          <a:latin typeface="Arial"/>
                        </a:rPr>
                        <a:t>Peer Discovery</a:t>
                      </a:r>
                    </a:p>
                  </a:txBody>
                  <a:tcPr>
                    <a:solidFill>
                      <a:srgbClr val="F8FAFC"/>
                    </a:solidFill>
                  </a:tcPr>
                </a:tc>
                <a:tc>
                  <a:txBody>
                    <a:bodyPr/>
                    <a:lstStyle/>
                    <a:p>
                      <a:pPr algn="ctr"/>
                      <a:r>
                        <a:rPr sz="1000">
                          <a:solidFill>
                            <a:srgbClr val="1E293B"/>
                          </a:solidFill>
                          <a:latin typeface="Arial"/>
                        </a:rPr>
                        <a:t>Limited / absent</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sz="1000">
                          <a:solidFill>
                            <a:srgbClr val="1E293B"/>
                          </a:solidFill>
                          <a:latin typeface="Arial"/>
                        </a:rPr>
                        <a:t>Limited</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b="1" sz="1000">
                          <a:solidFill>
                            <a:srgbClr val="0D9488"/>
                          </a:solidFill>
                          <a:latin typeface="Arial"/>
                        </a:rPr>
                        <a:t>Full Search &amp; Connect</a:t>
                      </a:r>
                    </a:p>
                  </a:txBody>
                  <a:tcPr>
                    <a:solidFill>
                      <a:srgbClr val="F0FDFA"/>
                    </a:solidFill>
                  </a:tcPr>
                </a:tc>
              </a:tr>
              <a:tr h="605790">
                <a:tc>
                  <a:txBody>
                    <a:bodyPr/>
                    <a:lstStyle/>
                    <a:p>
                      <a:pPr algn="l"/>
                      <a:r>
                        <a:rPr sz="1000">
                          <a:solidFill>
                            <a:srgbClr val="1E293B"/>
                          </a:solidFill>
                          <a:latin typeface="Arial"/>
                        </a:rPr>
                        <a:t>Form Teams on Platform</a:t>
                      </a:r>
                    </a:p>
                  </a:txBody>
                  <a:tcPr>
                    <a:solidFill>
                      <a:srgbClr val="FFFFFF"/>
                    </a:solidFill>
                  </a:tcPr>
                </a:tc>
                <a:tc>
                  <a:txBody>
                    <a:bodyPr/>
                    <a:lstStyle/>
                    <a:p>
                      <a:pPr algn="ctr"/>
                      <a:r>
                        <a:rPr sz="1000">
                          <a:solidFill>
                            <a:srgbClr val="1E293B"/>
                          </a:solidFill>
                          <a:latin typeface="Arial"/>
                        </a:rPr>
                        <a:t>Agencies only</a:t>
                      </a:r>
                    </a:p>
                  </a:txBody>
                  <a:tcPr>
                    <a:solidFill>
                      <a:srgbClr val="FFFFFF"/>
                    </a:solidFill>
                  </a:tcPr>
                </a:tc>
                <a:tc>
                  <a:txBody>
                    <a:bodyPr/>
                    <a:lstStyle/>
                    <a:p>
                      <a:pPr algn="ctr"/>
                      <a:r>
                        <a:rPr sz="1000">
                          <a:solidFill>
                            <a:srgbClr val="1E293B"/>
                          </a:solidFill>
                          <a:latin typeface="Arial"/>
                        </a:rPr>
                        <a:t>No</a:t>
                      </a:r>
                    </a:p>
                  </a:txBody>
                  <a:tcPr>
                    <a:solidFill>
                      <a:srgbClr val="FFFFFF"/>
                    </a:solidFill>
                  </a:tcPr>
                </a:tc>
                <a:tc>
                  <a:txBody>
                    <a:bodyPr/>
                    <a:lstStyle/>
                    <a:p>
                      <a:pPr algn="ctr"/>
                      <a:r>
                        <a:rPr sz="1000">
                          <a:solidFill>
                            <a:srgbClr val="1E293B"/>
                          </a:solidFill>
                          <a:latin typeface="Arial"/>
                        </a:rPr>
                        <a:t>No</a:t>
                      </a:r>
                    </a:p>
                  </a:txBody>
                  <a:tcPr>
                    <a:solidFill>
                      <a:srgbClr val="FFFFFF"/>
                    </a:solidFill>
                  </a:tcPr>
                </a:tc>
                <a:tc>
                  <a:txBody>
                    <a:bodyPr/>
                    <a:lstStyle/>
                    <a:p>
                      <a:pPr algn="ctr"/>
                      <a:r>
                        <a:rPr sz="1000">
                          <a:solidFill>
                            <a:srgbClr val="1E293B"/>
                          </a:solidFill>
                          <a:latin typeface="Arial"/>
                        </a:rPr>
                        <a:t>Manual staff match</a:t>
                      </a:r>
                    </a:p>
                  </a:txBody>
                  <a:tcPr>
                    <a:solidFill>
                      <a:srgbClr val="FFFFFF"/>
                    </a:solidFill>
                  </a:tcPr>
                </a:tc>
                <a:tc>
                  <a:txBody>
                    <a:bodyPr/>
                    <a:lstStyle/>
                    <a:p>
                      <a:pPr algn="ctr"/>
                      <a:r>
                        <a:rPr b="1" sz="1000">
                          <a:solidFill>
                            <a:srgbClr val="0D9488"/>
                          </a:solidFill>
                          <a:latin typeface="Arial"/>
                        </a:rPr>
                        <a:t>Yes (Team Batches)</a:t>
                      </a:r>
                    </a:p>
                  </a:txBody>
                  <a:tcPr>
                    <a:solidFill>
                      <a:srgbClr val="F0FDFA"/>
                    </a:solidFill>
                  </a:tcPr>
                </a:tc>
              </a:tr>
              <a:tr h="605790">
                <a:tc>
                  <a:txBody>
                    <a:bodyPr/>
                    <a:lstStyle/>
                    <a:p>
                      <a:pPr algn="l"/>
                      <a:r>
                        <a:rPr sz="1000">
                          <a:solidFill>
                            <a:srgbClr val="1E293B"/>
                          </a:solidFill>
                          <a:latin typeface="Arial"/>
                        </a:rPr>
                        <a:t>Team Synergy Scoring</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sz="1000">
                          <a:solidFill>
                            <a:srgbClr val="1E293B"/>
                          </a:solidFill>
                          <a:latin typeface="Arial"/>
                        </a:rPr>
                        <a:t>Manual recruiter</a:t>
                      </a:r>
                    </a:p>
                  </a:txBody>
                  <a:tcPr>
                    <a:solidFill>
                      <a:srgbClr val="F8FAFC"/>
                    </a:solidFill>
                  </a:tcPr>
                </a:tc>
                <a:tc>
                  <a:txBody>
                    <a:bodyPr/>
                    <a:lstStyle/>
                    <a:p>
                      <a:pPr algn="ctr"/>
                      <a:r>
                        <a:rPr b="1" sz="1000">
                          <a:solidFill>
                            <a:srgbClr val="0D9488"/>
                          </a:solidFill>
                          <a:latin typeface="Arial"/>
                        </a:rPr>
                        <a:t>Algorithmic (Alg. 1)</a:t>
                      </a:r>
                    </a:p>
                  </a:txBody>
                  <a:tcPr>
                    <a:solidFill>
                      <a:srgbClr val="F0FDFA"/>
                    </a:solidFill>
                  </a:tcPr>
                </a:tc>
              </a:tr>
              <a:tr h="605790">
                <a:tc>
                  <a:txBody>
                    <a:bodyPr/>
                    <a:lstStyle/>
                    <a:p>
                      <a:pPr algn="l"/>
                      <a:r>
                        <a:rPr sz="1000">
                          <a:solidFill>
                            <a:srgbClr val="1E293B"/>
                          </a:solidFill>
                          <a:latin typeface="Arial"/>
                        </a:rPr>
                        <a:t>Rating Governance</a:t>
                      </a:r>
                    </a:p>
                  </a:txBody>
                  <a:tcPr>
                    <a:solidFill>
                      <a:srgbClr val="FFFFFF"/>
                    </a:solidFill>
                  </a:tcPr>
                </a:tc>
                <a:tc>
                  <a:txBody>
                    <a:bodyPr/>
                    <a:lstStyle/>
                    <a:p>
                      <a:pPr algn="ctr"/>
                      <a:r>
                        <a:rPr sz="1000">
                          <a:solidFill>
                            <a:srgbClr val="1E293B"/>
                          </a:solidFill>
                          <a:latin typeface="Arial"/>
                        </a:rPr>
                        <a:t>Platform policy</a:t>
                      </a:r>
                    </a:p>
                  </a:txBody>
                  <a:tcPr>
                    <a:solidFill>
                      <a:srgbClr val="FFFFFF"/>
                    </a:solidFill>
                  </a:tcPr>
                </a:tc>
                <a:tc>
                  <a:txBody>
                    <a:bodyPr/>
                    <a:lstStyle/>
                    <a:p>
                      <a:pPr algn="ctr"/>
                      <a:r>
                        <a:rPr sz="1000">
                          <a:solidFill>
                            <a:srgbClr val="1E293B"/>
                          </a:solidFill>
                          <a:latin typeface="Arial"/>
                        </a:rPr>
                        <a:t>Review-based</a:t>
                      </a:r>
                    </a:p>
                  </a:txBody>
                  <a:tcPr>
                    <a:solidFill>
                      <a:srgbClr val="FFFFFF"/>
                    </a:solidFill>
                  </a:tcPr>
                </a:tc>
                <a:tc>
                  <a:txBody>
                    <a:bodyPr/>
                    <a:lstStyle/>
                    <a:p>
                      <a:pPr algn="ctr"/>
                      <a:r>
                        <a:rPr sz="1000">
                          <a:solidFill>
                            <a:srgbClr val="1E293B"/>
                          </a:solidFill>
                          <a:latin typeface="Arial"/>
                        </a:rPr>
                        <a:t>Contest feedback</a:t>
                      </a:r>
                    </a:p>
                  </a:txBody>
                  <a:tcPr>
                    <a:solidFill>
                      <a:srgbClr val="FFFFFF"/>
                    </a:solidFill>
                  </a:tcPr>
                </a:tc>
                <a:tc>
                  <a:txBody>
                    <a:bodyPr/>
                    <a:lstStyle/>
                    <a:p>
                      <a:pPr algn="ctr"/>
                      <a:r>
                        <a:rPr sz="1000">
                          <a:solidFill>
                            <a:srgbClr val="1E293B"/>
                          </a:solidFill>
                          <a:latin typeface="Arial"/>
                        </a:rPr>
                        <a:t>Internal scoring</a:t>
                      </a:r>
                    </a:p>
                  </a:txBody>
                  <a:tcPr>
                    <a:solidFill>
                      <a:srgbClr val="FFFFFF"/>
                    </a:solidFill>
                  </a:tcPr>
                </a:tc>
                <a:tc>
                  <a:txBody>
                    <a:bodyPr/>
                    <a:lstStyle/>
                    <a:p>
                      <a:pPr algn="ctr"/>
                      <a:r>
                        <a:rPr b="1" sz="1000">
                          <a:solidFill>
                            <a:srgbClr val="0D9488"/>
                          </a:solidFill>
                          <a:latin typeface="Arial"/>
                        </a:rPr>
                        <a:t>PostgreSQL RLS Triggers</a:t>
                      </a:r>
                    </a:p>
                  </a:txBody>
                  <a:tcPr>
                    <a:solidFill>
                      <a:srgbClr val="F0FDFA"/>
                    </a:solidFill>
                  </a:tcPr>
                </a:tc>
              </a:tr>
              <a:tr h="605790">
                <a:tc>
                  <a:txBody>
                    <a:bodyPr/>
                    <a:lstStyle/>
                    <a:p>
                      <a:pPr algn="l"/>
                      <a:r>
                        <a:rPr sz="1000">
                          <a:solidFill>
                            <a:srgbClr val="1E293B"/>
                          </a:solidFill>
                          <a:latin typeface="Arial"/>
                        </a:rPr>
                        <a:t>Client Commission</a:t>
                      </a:r>
                    </a:p>
                  </a:txBody>
                  <a:tcPr>
                    <a:solidFill>
                      <a:srgbClr val="F8FAFC"/>
                    </a:solidFill>
                  </a:tcPr>
                </a:tc>
                <a:tc>
                  <a:txBody>
                    <a:bodyPr/>
                    <a:lstStyle/>
                    <a:p>
                      <a:pPr algn="ctr"/>
                      <a:r>
                        <a:rPr sz="1000">
                          <a:solidFill>
                            <a:srgbClr val="1E293B"/>
                          </a:solidFill>
                          <a:latin typeface="Arial"/>
                        </a:rPr>
                        <a:t>Up to 10%</a:t>
                      </a:r>
                    </a:p>
                  </a:txBody>
                  <a:tcPr>
                    <a:solidFill>
                      <a:srgbClr val="F8FAFC"/>
                    </a:solidFill>
                  </a:tcPr>
                </a:tc>
                <a:tc>
                  <a:txBody>
                    <a:bodyPr/>
                    <a:lstStyle/>
                    <a:p>
                      <a:pPr algn="ctr"/>
                      <a:r>
                        <a:rPr sz="1000">
                          <a:solidFill>
                            <a:srgbClr val="1E293B"/>
                          </a:solidFill>
                          <a:latin typeface="Arial"/>
                        </a:rPr>
                        <a:t>Up to 20%</a:t>
                      </a:r>
                    </a:p>
                  </a:txBody>
                  <a:tcPr>
                    <a:solidFill>
                      <a:srgbClr val="F8FAFC"/>
                    </a:solidFill>
                  </a:tcPr>
                </a:tc>
                <a:tc>
                  <a:txBody>
                    <a:bodyPr/>
                    <a:lstStyle/>
                    <a:p>
                      <a:pPr algn="ctr"/>
                      <a:r>
                        <a:rPr sz="1000">
                          <a:solidFill>
                            <a:srgbClr val="1E293B"/>
                          </a:solidFill>
                          <a:latin typeface="Arial"/>
                        </a:rPr>
                        <a:t>10% + fees</a:t>
                      </a:r>
                    </a:p>
                  </a:txBody>
                  <a:tcPr>
                    <a:solidFill>
                      <a:srgbClr val="F8FAFC"/>
                    </a:solidFill>
                  </a:tcPr>
                </a:tc>
                <a:tc>
                  <a:txBody>
                    <a:bodyPr/>
                    <a:lstStyle/>
                    <a:p>
                      <a:pPr algn="ctr"/>
                      <a:r>
                        <a:rPr sz="1000">
                          <a:solidFill>
                            <a:srgbClr val="1E293B"/>
                          </a:solidFill>
                          <a:latin typeface="Arial"/>
                        </a:rPr>
                        <a:t>High corporate premium</a:t>
                      </a:r>
                    </a:p>
                  </a:txBody>
                  <a:tcPr>
                    <a:solidFill>
                      <a:srgbClr val="F8FAFC"/>
                    </a:solidFill>
                  </a:tcPr>
                </a:tc>
                <a:tc>
                  <a:txBody>
                    <a:bodyPr/>
                    <a:lstStyle/>
                    <a:p>
                      <a:pPr algn="ctr"/>
                      <a:r>
                        <a:rPr b="1" sz="1000">
                          <a:solidFill>
                            <a:srgbClr val="0D9488"/>
                          </a:solidFill>
                          <a:latin typeface="Arial"/>
                        </a:rPr>
                        <a:t>0% (Open Academic)</a:t>
                      </a:r>
                    </a:p>
                  </a:txBody>
                  <a:tcPr>
                    <a:solidFill>
                      <a:srgbClr val="F0FDFA"/>
                    </a:solidFill>
                  </a:tcPr>
                </a:tc>
              </a:tr>
              <a:tr h="605790">
                <a:tc>
                  <a:txBody>
                    <a:bodyPr/>
                    <a:lstStyle/>
                    <a:p>
                      <a:pPr algn="l"/>
                      <a:r>
                        <a:rPr sz="1000">
                          <a:solidFill>
                            <a:srgbClr val="1E293B"/>
                          </a:solidFill>
                          <a:latin typeface="Arial"/>
                        </a:rPr>
                        <a:t>Ranking Transparency</a:t>
                      </a:r>
                    </a:p>
                  </a:txBody>
                  <a:tcPr>
                    <a:solidFill>
                      <a:srgbClr val="FFFFFF"/>
                    </a:solidFill>
                  </a:tcPr>
                </a:tc>
                <a:tc>
                  <a:txBody>
                    <a:bodyPr/>
                    <a:lstStyle/>
                    <a:p>
                      <a:pPr algn="ctr"/>
                      <a:r>
                        <a:rPr sz="1000">
                          <a:solidFill>
                            <a:srgbClr val="1E293B"/>
                          </a:solidFill>
                          <a:latin typeface="Arial"/>
                        </a:rPr>
                        <a:t>Opaque JSS score</a:t>
                      </a:r>
                    </a:p>
                  </a:txBody>
                  <a:tcPr>
                    <a:solidFill>
                      <a:srgbClr val="FFFFFF"/>
                    </a:solidFill>
                  </a:tcPr>
                </a:tc>
                <a:tc>
                  <a:txBody>
                    <a:bodyPr/>
                    <a:lstStyle/>
                    <a:p>
                      <a:pPr algn="ctr"/>
                      <a:r>
                        <a:rPr sz="1000">
                          <a:solidFill>
                            <a:srgbClr val="1E293B"/>
                          </a:solidFill>
                          <a:latin typeface="Arial"/>
                        </a:rPr>
                        <a:t>Proprietary algorithm</a:t>
                      </a:r>
                    </a:p>
                  </a:txBody>
                  <a:tcPr>
                    <a:solidFill>
                      <a:srgbClr val="FFFFFF"/>
                    </a:solidFill>
                  </a:tcPr>
                </a:tc>
                <a:tc>
                  <a:txBody>
                    <a:bodyPr/>
                    <a:lstStyle/>
                    <a:p>
                      <a:pPr algn="ctr"/>
                      <a:r>
                        <a:rPr sz="1000">
                          <a:solidFill>
                            <a:srgbClr val="1E293B"/>
                          </a:solidFill>
                          <a:latin typeface="Arial"/>
                        </a:rPr>
                        <a:t>Bid amount priority</a:t>
                      </a:r>
                    </a:p>
                  </a:txBody>
                  <a:tcPr>
                    <a:solidFill>
                      <a:srgbClr val="FFFFFF"/>
                    </a:solidFill>
                  </a:tcPr>
                </a:tc>
                <a:tc>
                  <a:txBody>
                    <a:bodyPr/>
                    <a:lstStyle/>
                    <a:p>
                      <a:pPr algn="ctr"/>
                      <a:r>
                        <a:rPr sz="1000">
                          <a:solidFill>
                            <a:srgbClr val="1E293B"/>
                          </a:solidFill>
                          <a:latin typeface="Arial"/>
                        </a:rPr>
                        <a:t>Internal discretion</a:t>
                      </a:r>
                    </a:p>
                  </a:txBody>
                  <a:tcPr>
                    <a:solidFill>
                      <a:srgbClr val="FFFFFF"/>
                    </a:solidFill>
                  </a:tcPr>
                </a:tc>
                <a:tc>
                  <a:txBody>
                    <a:bodyPr/>
                    <a:lstStyle/>
                    <a:p>
                      <a:pPr algn="ctr"/>
                      <a:r>
                        <a:rPr b="1" sz="1000">
                          <a:solidFill>
                            <a:srgbClr val="0D9488"/>
                          </a:solidFill>
                          <a:latin typeface="Arial"/>
                        </a:rPr>
                        <a:t>Public Math Formula</a:t>
                      </a:r>
                    </a:p>
                  </a:txBody>
                  <a:tcPr>
                    <a:solidFill>
                      <a:srgbClr val="F0FDFA"/>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ENGINEERING FOUNDATION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Technology Stack &amp; Technical Justification</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8 / 25</a:t>
            </a:r>
          </a:p>
        </p:txBody>
      </p:sp>
      <p:sp>
        <p:nvSpPr>
          <p:cNvPr id="7" name="Rounded Rectangle 6"/>
          <p:cNvSpPr/>
          <p:nvPr/>
        </p:nvSpPr>
        <p:spPr>
          <a:xfrm>
            <a:off x="731520" y="1325880"/>
            <a:ext cx="2514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Frontend Application</a:t>
            </a:r>
          </a:p>
          <a:p>
            <a:pPr>
              <a:spcBef>
                <a:spcPts val="200"/>
              </a:spcBef>
            </a:pPr>
            <a:r>
              <a:rPr sz="950">
                <a:solidFill>
                  <a:srgbClr val="64748B"/>
                </a:solidFill>
                <a:latin typeface="Arial"/>
              </a:rPr>
              <a:t>Modern, Reactive &amp; Type-Safe</a:t>
            </a:r>
          </a:p>
        </p:txBody>
      </p:sp>
      <p:sp>
        <p:nvSpPr>
          <p:cNvPr id="9" name="TextBox 8"/>
          <p:cNvSpPr txBox="1"/>
          <p:nvPr/>
        </p:nvSpPr>
        <p:spPr>
          <a:xfrm>
            <a:off x="868680" y="2148840"/>
            <a:ext cx="224028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React 18: </a:t>
            </a:r>
            <a:r>
              <a:rPr sz="1000">
                <a:solidFill>
                  <a:srgbClr val="1E293B"/>
                </a:solidFill>
                <a:latin typeface="Arial"/>
              </a:rPr>
              <a:t>Component-driven reactive UI architecture with efficient virtual DOM reconciliation.</a:t>
            </a:r>
          </a:p>
          <a:p>
            <a:pPr>
              <a:spcBef>
                <a:spcPts val="350"/>
              </a:spcBef>
              <a:spcAft>
                <a:spcPts val="200"/>
              </a:spcAft>
            </a:pPr>
            <a:r>
              <a:rPr b="1" sz="1000">
                <a:solidFill>
                  <a:srgbClr val="0D9488"/>
                </a:solidFill>
                <a:latin typeface="Arial"/>
              </a:rPr>
              <a:t>▸ </a:t>
            </a:r>
            <a:r>
              <a:rPr b="1" sz="1000">
                <a:solidFill>
                  <a:srgbClr val="0D9488"/>
                </a:solidFill>
                <a:latin typeface="Arial"/>
              </a:rPr>
              <a:t>TypeScript 5: </a:t>
            </a:r>
            <a:r>
              <a:rPr sz="1000">
                <a:solidFill>
                  <a:srgbClr val="1E293B"/>
                </a:solidFill>
                <a:latin typeface="Arial"/>
              </a:rPr>
              <a:t>Strict static type system synchronized directly with generated Supabase database types.</a:t>
            </a:r>
          </a:p>
          <a:p>
            <a:pPr>
              <a:spcBef>
                <a:spcPts val="350"/>
              </a:spcBef>
              <a:spcAft>
                <a:spcPts val="200"/>
              </a:spcAft>
            </a:pPr>
            <a:r>
              <a:rPr b="1" sz="1000">
                <a:solidFill>
                  <a:srgbClr val="0D9488"/>
                </a:solidFill>
                <a:latin typeface="Arial"/>
              </a:rPr>
              <a:t>▸ </a:t>
            </a:r>
            <a:r>
              <a:rPr b="1" sz="1000">
                <a:solidFill>
                  <a:srgbClr val="0D9488"/>
                </a:solidFill>
                <a:latin typeface="Arial"/>
              </a:rPr>
              <a:t>Vite Bundler: </a:t>
            </a:r>
            <a:r>
              <a:rPr sz="1000">
                <a:solidFill>
                  <a:srgbClr val="1E293B"/>
                </a:solidFill>
                <a:latin typeface="Arial"/>
              </a:rPr>
              <a:t>Lightning-fast Hot Module Replacement (HMR) and optimized Rollup production builds (&lt; 2s).</a:t>
            </a:r>
          </a:p>
        </p:txBody>
      </p:sp>
      <p:sp>
        <p:nvSpPr>
          <p:cNvPr id="10" name="Rounded Rectangle 9"/>
          <p:cNvSpPr/>
          <p:nvPr/>
        </p:nvSpPr>
        <p:spPr>
          <a:xfrm>
            <a:off x="3465576" y="1325880"/>
            <a:ext cx="2514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UI &amp; Styling System</a:t>
            </a:r>
          </a:p>
          <a:p>
            <a:pPr>
              <a:spcBef>
                <a:spcPts val="200"/>
              </a:spcBef>
            </a:pPr>
            <a:r>
              <a:rPr sz="950">
                <a:solidFill>
                  <a:srgbClr val="64748B"/>
                </a:solidFill>
                <a:latin typeface="Arial"/>
              </a:rPr>
              <a:t>Design System &amp; Accessibility</a:t>
            </a:r>
          </a:p>
        </p:txBody>
      </p:sp>
      <p:sp>
        <p:nvSpPr>
          <p:cNvPr id="12" name="TextBox 11"/>
          <p:cNvSpPr txBox="1"/>
          <p:nvPr/>
        </p:nvSpPr>
        <p:spPr>
          <a:xfrm>
            <a:off x="3602736" y="2148840"/>
            <a:ext cx="224028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Tailwind CSS: </a:t>
            </a:r>
            <a:r>
              <a:rPr sz="1000">
                <a:solidFill>
                  <a:srgbClr val="1E293B"/>
                </a:solidFill>
                <a:latin typeface="Arial"/>
              </a:rPr>
              <a:t>Utility-first design tokens with customized teal/slate palettes and responsive breakpoints.</a:t>
            </a:r>
          </a:p>
          <a:p>
            <a:pPr>
              <a:spcBef>
                <a:spcPts val="350"/>
              </a:spcBef>
              <a:spcAft>
                <a:spcPts val="200"/>
              </a:spcAft>
            </a:pPr>
            <a:r>
              <a:rPr b="1" sz="1000">
                <a:solidFill>
                  <a:srgbClr val="0D9488"/>
                </a:solidFill>
                <a:latin typeface="Arial"/>
              </a:rPr>
              <a:t>▸ </a:t>
            </a:r>
            <a:r>
              <a:rPr b="1" sz="1000">
                <a:solidFill>
                  <a:srgbClr val="0D9488"/>
                </a:solidFill>
                <a:latin typeface="Arial"/>
              </a:rPr>
              <a:t>shadcn/ui &amp; Radix: </a:t>
            </a:r>
            <a:r>
              <a:rPr sz="1000">
                <a:solidFill>
                  <a:srgbClr val="1E293B"/>
                </a:solidFill>
                <a:latin typeface="Arial"/>
              </a:rPr>
              <a:t>Accessible, unstyled headless primitives (Dialogs, Dropdowns, Badges, Tabs, Tooltips).</a:t>
            </a:r>
          </a:p>
          <a:p>
            <a:pPr>
              <a:spcBef>
                <a:spcPts val="350"/>
              </a:spcBef>
              <a:spcAft>
                <a:spcPts val="200"/>
              </a:spcAft>
            </a:pPr>
            <a:r>
              <a:rPr b="1" sz="1000">
                <a:solidFill>
                  <a:srgbClr val="0D9488"/>
                </a:solidFill>
                <a:latin typeface="Arial"/>
              </a:rPr>
              <a:t>▸ </a:t>
            </a:r>
            <a:r>
              <a:rPr b="1" sz="1000">
                <a:solidFill>
                  <a:srgbClr val="0D9488"/>
                </a:solidFill>
                <a:latin typeface="Arial"/>
              </a:rPr>
              <a:t>Lucide Icons: </a:t>
            </a:r>
            <a:r>
              <a:rPr sz="1000">
                <a:solidFill>
                  <a:srgbClr val="1E293B"/>
                </a:solidFill>
                <a:latin typeface="Arial"/>
              </a:rPr>
              <a:t>Crisp, lightweight SVG icons consistent across all developer and client modules.</a:t>
            </a:r>
          </a:p>
        </p:txBody>
      </p:sp>
      <p:sp>
        <p:nvSpPr>
          <p:cNvPr id="13" name="Rounded Rectangle 12"/>
          <p:cNvSpPr/>
          <p:nvPr/>
        </p:nvSpPr>
        <p:spPr>
          <a:xfrm>
            <a:off x="6199632" y="1325880"/>
            <a:ext cx="2514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State &amp; Client Data</a:t>
            </a:r>
          </a:p>
          <a:p>
            <a:pPr>
              <a:spcBef>
                <a:spcPts val="200"/>
              </a:spcBef>
            </a:pPr>
            <a:r>
              <a:rPr sz="950">
                <a:solidFill>
                  <a:srgbClr val="64748B"/>
                </a:solidFill>
                <a:latin typeface="Arial"/>
              </a:rPr>
              <a:t>Server-State Caching &amp; Validation</a:t>
            </a:r>
          </a:p>
        </p:txBody>
      </p:sp>
      <p:sp>
        <p:nvSpPr>
          <p:cNvPr id="15" name="TextBox 14"/>
          <p:cNvSpPr txBox="1"/>
          <p:nvPr/>
        </p:nvSpPr>
        <p:spPr>
          <a:xfrm>
            <a:off x="6336792" y="2148840"/>
            <a:ext cx="224028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TanStack Query v5: </a:t>
            </a:r>
            <a:r>
              <a:rPr sz="1000">
                <a:solidFill>
                  <a:srgbClr val="1E293B"/>
                </a:solidFill>
                <a:latin typeface="Arial"/>
              </a:rPr>
              <a:t>Declarative server-state caching, automatic background invalidation, and optimistic UI updates.</a:t>
            </a:r>
          </a:p>
          <a:p>
            <a:pPr>
              <a:spcBef>
                <a:spcPts val="350"/>
              </a:spcBef>
              <a:spcAft>
                <a:spcPts val="200"/>
              </a:spcAft>
            </a:pPr>
            <a:r>
              <a:rPr b="1" sz="1000">
                <a:solidFill>
                  <a:srgbClr val="0D9488"/>
                </a:solidFill>
                <a:latin typeface="Arial"/>
              </a:rPr>
              <a:t>▸ </a:t>
            </a:r>
            <a:r>
              <a:rPr b="1" sz="1000">
                <a:solidFill>
                  <a:srgbClr val="0D9488"/>
                </a:solidFill>
                <a:latin typeface="Arial"/>
              </a:rPr>
              <a:t>Zod Schema Engine: </a:t>
            </a:r>
            <a:r>
              <a:rPr sz="1000">
                <a:solidFill>
                  <a:srgbClr val="1E293B"/>
                </a:solidFill>
                <a:latin typeface="Arial"/>
              </a:rPr>
              <a:t>Strict runtime form and payload schema validation preventing malformed API requests.</a:t>
            </a:r>
          </a:p>
          <a:p>
            <a:pPr>
              <a:spcBef>
                <a:spcPts val="350"/>
              </a:spcBef>
              <a:spcAft>
                <a:spcPts val="200"/>
              </a:spcAft>
            </a:pPr>
            <a:r>
              <a:rPr b="1" sz="1000">
                <a:solidFill>
                  <a:srgbClr val="0D9488"/>
                </a:solidFill>
                <a:latin typeface="Arial"/>
              </a:rPr>
              <a:t>▸ </a:t>
            </a:r>
            <a:r>
              <a:rPr b="1" sz="1000">
                <a:solidFill>
                  <a:srgbClr val="0D9488"/>
                </a:solidFill>
                <a:latin typeface="Arial"/>
              </a:rPr>
              <a:t>React Router 6: </a:t>
            </a:r>
            <a:r>
              <a:rPr sz="1000">
                <a:solidFill>
                  <a:srgbClr val="1E293B"/>
                </a:solidFill>
                <a:latin typeface="Arial"/>
              </a:rPr>
              <a:t>Protected declarative routing with client-side role guards and session restoration.</a:t>
            </a:r>
          </a:p>
        </p:txBody>
      </p:sp>
      <p:sp>
        <p:nvSpPr>
          <p:cNvPr id="16" name="Rounded Rectangle 15"/>
          <p:cNvSpPr/>
          <p:nvPr/>
        </p:nvSpPr>
        <p:spPr>
          <a:xfrm>
            <a:off x="8933688" y="1325880"/>
            <a:ext cx="25146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Backend &amp; Database</a:t>
            </a:r>
          </a:p>
          <a:p>
            <a:pPr>
              <a:spcBef>
                <a:spcPts val="200"/>
              </a:spcBef>
            </a:pPr>
            <a:r>
              <a:rPr sz="950">
                <a:solidFill>
                  <a:srgbClr val="64748B"/>
                </a:solidFill>
                <a:latin typeface="Arial"/>
              </a:rPr>
              <a:t>BaaS &amp; Relational Security</a:t>
            </a:r>
          </a:p>
        </p:txBody>
      </p:sp>
      <p:sp>
        <p:nvSpPr>
          <p:cNvPr id="18" name="TextBox 17"/>
          <p:cNvSpPr txBox="1"/>
          <p:nvPr/>
        </p:nvSpPr>
        <p:spPr>
          <a:xfrm>
            <a:off x="9070848" y="2148840"/>
            <a:ext cx="224028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Supabase BaaS: </a:t>
            </a:r>
            <a:r>
              <a:rPr sz="1000">
                <a:solidFill>
                  <a:srgbClr val="1E293B"/>
                </a:solidFill>
                <a:latin typeface="Arial"/>
              </a:rPr>
              <a:t>Managed GoTrue authentication, PostgREST API generation, and Realtime WebSocket engine.</a:t>
            </a:r>
          </a:p>
          <a:p>
            <a:pPr>
              <a:spcBef>
                <a:spcPts val="350"/>
              </a:spcBef>
              <a:spcAft>
                <a:spcPts val="200"/>
              </a:spcAft>
            </a:pPr>
            <a:r>
              <a:rPr b="1" sz="1000">
                <a:solidFill>
                  <a:srgbClr val="0D9488"/>
                </a:solidFill>
                <a:latin typeface="Arial"/>
              </a:rPr>
              <a:t>▸ </a:t>
            </a:r>
            <a:r>
              <a:rPr b="1" sz="1000">
                <a:solidFill>
                  <a:srgbClr val="0D9488"/>
                </a:solidFill>
                <a:latin typeface="Arial"/>
              </a:rPr>
              <a:t>PostgreSQL 16: </a:t>
            </a:r>
            <a:r>
              <a:rPr sz="1000">
                <a:solidFill>
                  <a:srgbClr val="1E293B"/>
                </a:solidFill>
                <a:latin typeface="Arial"/>
              </a:rPr>
              <a:t>Enterprise relational database with ACID compliance, custom ENUMs, triggers, and RPCs.</a:t>
            </a:r>
          </a:p>
          <a:p>
            <a:pPr>
              <a:spcBef>
                <a:spcPts val="350"/>
              </a:spcBef>
              <a:spcAft>
                <a:spcPts val="200"/>
              </a:spcAft>
            </a:pPr>
            <a:r>
              <a:rPr b="1" sz="1000">
                <a:solidFill>
                  <a:srgbClr val="0D9488"/>
                </a:solidFill>
                <a:latin typeface="Arial"/>
              </a:rPr>
              <a:t>▸ </a:t>
            </a:r>
            <a:r>
              <a:rPr b="1" sz="1000">
                <a:solidFill>
                  <a:srgbClr val="0D9488"/>
                </a:solidFill>
                <a:latin typeface="Arial"/>
              </a:rPr>
              <a:t>Row-Level Security: </a:t>
            </a:r>
            <a:r>
              <a:rPr sz="1000">
                <a:solidFill>
                  <a:srgbClr val="1E293B"/>
                </a:solidFill>
                <a:latin typeface="Arial"/>
              </a:rPr>
              <a:t>Database-level policy enforcement isolating multi-tenant rows via auth.uid() tokens.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SYSTEM DESIGN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System Architecture: 4-Tier Layered Blueprint</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9 / 25</a:t>
            </a:r>
          </a:p>
        </p:txBody>
      </p:sp>
      <p:sp>
        <p:nvSpPr>
          <p:cNvPr id="7" name="Rounded Rectangle 6"/>
          <p:cNvSpPr/>
          <p:nvPr/>
        </p:nvSpPr>
        <p:spPr>
          <a:xfrm>
            <a:off x="731520" y="1325880"/>
            <a:ext cx="530352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502920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Architectural Blueprint</a:t>
            </a:r>
          </a:p>
          <a:p>
            <a:pPr>
              <a:spcBef>
                <a:spcPts val="200"/>
              </a:spcBef>
            </a:pPr>
            <a:r>
              <a:rPr sz="950">
                <a:solidFill>
                  <a:srgbClr val="64748B"/>
                </a:solidFill>
                <a:latin typeface="Arial"/>
              </a:rPr>
              <a:t>Figure 3.3 from Project Report</a:t>
            </a:r>
          </a:p>
        </p:txBody>
      </p:sp>
      <p:pic>
        <p:nvPicPr>
          <p:cNvPr id="9" name="Picture 8" descr="a7c7f7b8a4af5602a8f045d649841844d49f92ac.png"/>
          <p:cNvPicPr>
            <a:picLocks noChangeAspect="1"/>
          </p:cNvPicPr>
          <p:nvPr/>
        </p:nvPicPr>
        <p:blipFill>
          <a:blip r:embed="rId2"/>
          <a:stretch>
            <a:fillRect/>
          </a:stretch>
        </p:blipFill>
        <p:spPr>
          <a:xfrm>
            <a:off x="868680" y="1965960"/>
            <a:ext cx="5029200" cy="4023360"/>
          </a:xfrm>
          <a:prstGeom prst="rect">
            <a:avLst/>
          </a:prstGeom>
        </p:spPr>
      </p:pic>
      <p:sp>
        <p:nvSpPr>
          <p:cNvPr id="10" name="Rounded Rectangle 9"/>
          <p:cNvSpPr/>
          <p:nvPr/>
        </p:nvSpPr>
        <p:spPr>
          <a:xfrm>
            <a:off x="6263640" y="1325880"/>
            <a:ext cx="519379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463040"/>
            <a:ext cx="491947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Tier Responsibilities &amp; Flow</a:t>
            </a:r>
          </a:p>
          <a:p>
            <a:pPr>
              <a:spcBef>
                <a:spcPts val="200"/>
              </a:spcBef>
            </a:pPr>
            <a:r>
              <a:rPr sz="950">
                <a:solidFill>
                  <a:srgbClr val="64748B"/>
                </a:solidFill>
                <a:latin typeface="Arial"/>
              </a:rPr>
              <a:t>End-to-End Separation of Concerns</a:t>
            </a:r>
          </a:p>
        </p:txBody>
      </p:sp>
      <p:sp>
        <p:nvSpPr>
          <p:cNvPr id="12" name="TextBox 11"/>
          <p:cNvSpPr txBox="1"/>
          <p:nvPr/>
        </p:nvSpPr>
        <p:spPr>
          <a:xfrm>
            <a:off x="6400800" y="1965960"/>
            <a:ext cx="4919472"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Tier 1: Presentation Layer: </a:t>
            </a:r>
            <a:r>
              <a:rPr sz="1050">
                <a:solidFill>
                  <a:srgbClr val="1E293B"/>
                </a:solidFill>
                <a:latin typeface="Arial"/>
              </a:rPr>
              <a:t>Responsive mobile-first React components, shadcn/ui modals, navigation drawers, and Sonner toast alerts with dark teal design tokens.</a:t>
            </a:r>
          </a:p>
          <a:p>
            <a:pPr>
              <a:spcBef>
                <a:spcPts val="350"/>
              </a:spcBef>
              <a:spcAft>
                <a:spcPts val="200"/>
              </a:spcAft>
            </a:pPr>
            <a:r>
              <a:rPr b="1" sz="1050">
                <a:solidFill>
                  <a:srgbClr val="0D9488"/>
                </a:solidFill>
                <a:latin typeface="Arial"/>
              </a:rPr>
              <a:t>▸ </a:t>
            </a:r>
            <a:r>
              <a:rPr b="1" sz="1050">
                <a:solidFill>
                  <a:srgbClr val="0D9488"/>
                </a:solidFill>
                <a:latin typeface="Arial"/>
              </a:rPr>
              <a:t>Tier 2: Client State Layer: </a:t>
            </a:r>
            <a:r>
              <a:rPr sz="1050">
                <a:solidFill>
                  <a:srgbClr val="1E293B"/>
                </a:solidFill>
                <a:latin typeface="Arial"/>
              </a:rPr>
              <a:t>Custom domain hooks (useAuth, useUserRole, useProjects, useNotificationFeed) decoupling business state from React views via TanStack Query.</a:t>
            </a:r>
          </a:p>
          <a:p>
            <a:pPr>
              <a:spcBef>
                <a:spcPts val="350"/>
              </a:spcBef>
              <a:spcAft>
                <a:spcPts val="200"/>
              </a:spcAft>
            </a:pPr>
            <a:r>
              <a:rPr b="1" sz="1050">
                <a:solidFill>
                  <a:srgbClr val="0D9488"/>
                </a:solidFill>
                <a:latin typeface="Arial"/>
              </a:rPr>
              <a:t>▸ </a:t>
            </a:r>
            <a:r>
              <a:rPr b="1" sz="1050">
                <a:solidFill>
                  <a:srgbClr val="0D9488"/>
                </a:solidFill>
                <a:latin typeface="Arial"/>
              </a:rPr>
              <a:t>Tier 3: Backend-as-a-Service: </a:t>
            </a:r>
            <a:r>
              <a:rPr sz="1050">
                <a:solidFill>
                  <a:srgbClr val="1E293B"/>
                </a:solidFill>
                <a:latin typeface="Arial"/>
              </a:rPr>
              <a:t>Supabase GoTrue service for JWT session management, PostgREST for autogenerated REST endpoints, and WebSocket channels for realtime sync.</a:t>
            </a:r>
          </a:p>
          <a:p>
            <a:pPr>
              <a:spcBef>
                <a:spcPts val="350"/>
              </a:spcBef>
              <a:spcAft>
                <a:spcPts val="200"/>
              </a:spcAft>
            </a:pPr>
            <a:r>
              <a:rPr b="1" sz="1050">
                <a:solidFill>
                  <a:srgbClr val="0D9488"/>
                </a:solidFill>
                <a:latin typeface="Arial"/>
              </a:rPr>
              <a:t>▸ </a:t>
            </a:r>
            <a:r>
              <a:rPr b="1" sz="1050">
                <a:solidFill>
                  <a:srgbClr val="0D9488"/>
                </a:solidFill>
                <a:latin typeface="Arial"/>
              </a:rPr>
              <a:t>Tier 4: Relational Security Layer: </a:t>
            </a:r>
            <a:r>
              <a:rPr sz="1050">
                <a:solidFill>
                  <a:srgbClr val="1E293B"/>
                </a:solidFill>
                <a:latin typeface="Arial"/>
              </a:rPr>
              <a:t>PostgreSQL 16 relational engine enforcing Row-Level Security (RLS) policies, security-definer RPC functions, and automated event triggers.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DATA PERSISTENCE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Database Architecture: 12 Relational Tables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10 / 25</a:t>
            </a:r>
          </a:p>
        </p:txBody>
      </p:sp>
      <p:sp>
        <p:nvSpPr>
          <p:cNvPr id="7" name="Rounded Rectangle 6"/>
          <p:cNvSpPr/>
          <p:nvPr/>
        </p:nvSpPr>
        <p:spPr>
          <a:xfrm>
            <a:off x="731520" y="1325880"/>
            <a:ext cx="525780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98348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7 Core Foundation Tables</a:t>
            </a:r>
          </a:p>
          <a:p>
            <a:pPr>
              <a:spcBef>
                <a:spcPts val="200"/>
              </a:spcBef>
            </a:pPr>
            <a:r>
              <a:rPr sz="950">
                <a:solidFill>
                  <a:srgbClr val="64748B"/>
                </a:solidFill>
                <a:latin typeface="Arial"/>
              </a:rPr>
              <a:t>Original sprint schema managing identity &amp; jobs</a:t>
            </a:r>
          </a:p>
        </p:txBody>
      </p:sp>
      <p:sp>
        <p:nvSpPr>
          <p:cNvPr id="9" name="TextBox 8"/>
          <p:cNvSpPr txBox="1"/>
          <p:nvPr/>
        </p:nvSpPr>
        <p:spPr>
          <a:xfrm>
            <a:off x="868680" y="2011680"/>
            <a:ext cx="4983480" cy="301752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profiles: </a:t>
            </a:r>
            <a:r>
              <a:rPr sz="950">
                <a:solidFill>
                  <a:srgbClr val="1E293B"/>
                </a:solidFill>
                <a:latin typeface="Arial"/>
              </a:rPr>
              <a:t>Public identity: name, avatar, bio, developer type, skills, region (PK = auth.users.id CASCADE).</a:t>
            </a:r>
          </a:p>
          <a:p>
            <a:pPr>
              <a:spcBef>
                <a:spcPts val="350"/>
              </a:spcBef>
              <a:spcAft>
                <a:spcPts val="200"/>
              </a:spcAft>
            </a:pPr>
            <a:r>
              <a:rPr b="1" sz="950">
                <a:solidFill>
                  <a:srgbClr val="0D9488"/>
                </a:solidFill>
                <a:latin typeface="Arial"/>
              </a:rPr>
              <a:t>▸ </a:t>
            </a:r>
            <a:r>
              <a:rPr b="1" sz="950">
                <a:solidFill>
                  <a:srgbClr val="0D9488"/>
                </a:solidFill>
                <a:latin typeface="Arial"/>
              </a:rPr>
              <a:t>user_roles: </a:t>
            </a:r>
            <a:r>
              <a:rPr sz="950">
                <a:solidFill>
                  <a:srgbClr val="1E293B"/>
                </a:solidFill>
                <a:latin typeface="Arial"/>
              </a:rPr>
              <a:t>Authorisation roles: developer or client enum with UNIQUE(user_id, role) constraint.</a:t>
            </a:r>
          </a:p>
          <a:p>
            <a:pPr>
              <a:spcBef>
                <a:spcPts val="350"/>
              </a:spcBef>
              <a:spcAft>
                <a:spcPts val="200"/>
              </a:spcAft>
            </a:pPr>
            <a:r>
              <a:rPr b="1" sz="950">
                <a:solidFill>
                  <a:srgbClr val="0D9488"/>
                </a:solidFill>
                <a:latin typeface="Arial"/>
              </a:rPr>
              <a:t>▸ </a:t>
            </a:r>
            <a:r>
              <a:rPr b="1" sz="950">
                <a:solidFill>
                  <a:srgbClr val="0D9488"/>
                </a:solidFill>
                <a:latin typeface="Arial"/>
              </a:rPr>
              <a:t>connections: </a:t>
            </a:r>
            <a:r>
              <a:rPr sz="950">
                <a:solidFill>
                  <a:srgbClr val="1E293B"/>
                </a:solidFill>
                <a:latin typeface="Arial"/>
              </a:rPr>
              <a:t>LinkedIn-style peer requests between developers: sender, receiver, status (pending/accepted).</a:t>
            </a:r>
          </a:p>
          <a:p>
            <a:pPr>
              <a:spcBef>
                <a:spcPts val="350"/>
              </a:spcBef>
              <a:spcAft>
                <a:spcPts val="200"/>
              </a:spcAft>
            </a:pPr>
            <a:r>
              <a:rPr b="1" sz="950">
                <a:solidFill>
                  <a:srgbClr val="0D9488"/>
                </a:solidFill>
                <a:latin typeface="Arial"/>
              </a:rPr>
              <a:t>▸ </a:t>
            </a:r>
            <a:r>
              <a:rPr b="1" sz="950">
                <a:solidFill>
                  <a:srgbClr val="0D9488"/>
                </a:solidFill>
                <a:latin typeface="Arial"/>
              </a:rPr>
              <a:t>messages: </a:t>
            </a:r>
            <a:r>
              <a:rPr sz="950">
                <a:solidFill>
                  <a:srgbClr val="1E293B"/>
                </a:solidFill>
                <a:latin typeface="Arial"/>
              </a:rPr>
              <a:t>Realtime chat messages inside accepted connections; enabled for WebSocket replication.</a:t>
            </a:r>
          </a:p>
          <a:p>
            <a:pPr>
              <a:spcBef>
                <a:spcPts val="350"/>
              </a:spcBef>
              <a:spcAft>
                <a:spcPts val="200"/>
              </a:spcAft>
            </a:pPr>
            <a:r>
              <a:rPr b="1" sz="950">
                <a:solidFill>
                  <a:srgbClr val="0D9488"/>
                </a:solidFill>
                <a:latin typeface="Arial"/>
              </a:rPr>
              <a:t>▸ </a:t>
            </a:r>
            <a:r>
              <a:rPr b="1" sz="950">
                <a:solidFill>
                  <a:srgbClr val="0D9488"/>
                </a:solidFill>
                <a:latin typeface="Arial"/>
              </a:rPr>
              <a:t>projects: </a:t>
            </a:r>
            <a:r>
              <a:rPr sz="950">
                <a:solidFill>
                  <a:srgbClr val="1E293B"/>
                </a:solidFill>
                <a:latin typeface="Arial"/>
              </a:rPr>
              <a:t>Client project postings: title, scope, budget, complexity (Easy/Med/Hard), status lifecycle.</a:t>
            </a:r>
          </a:p>
          <a:p>
            <a:pPr>
              <a:spcBef>
                <a:spcPts val="350"/>
              </a:spcBef>
              <a:spcAft>
                <a:spcPts val="200"/>
              </a:spcAft>
            </a:pPr>
            <a:r>
              <a:rPr b="1" sz="950">
                <a:solidFill>
                  <a:srgbClr val="0D9488"/>
                </a:solidFill>
                <a:latin typeface="Arial"/>
              </a:rPr>
              <a:t>▸ </a:t>
            </a:r>
            <a:r>
              <a:rPr b="1" sz="950">
                <a:solidFill>
                  <a:srgbClr val="0D9488"/>
                </a:solidFill>
                <a:latin typeface="Arial"/>
              </a:rPr>
              <a:t>project_ratings: </a:t>
            </a:r>
            <a:r>
              <a:rPr sz="950">
                <a:solidFill>
                  <a:srgbClr val="1E293B"/>
                </a:solidFill>
                <a:latin typeface="Arial"/>
              </a:rPr>
              <a:t>Multi-dimensional project feedback (1–5 stars) submitted upon verified completion.</a:t>
            </a:r>
          </a:p>
          <a:p>
            <a:pPr>
              <a:spcBef>
                <a:spcPts val="350"/>
              </a:spcBef>
              <a:spcAft>
                <a:spcPts val="200"/>
              </a:spcAft>
            </a:pPr>
            <a:r>
              <a:rPr b="1" sz="950">
                <a:solidFill>
                  <a:srgbClr val="0D9488"/>
                </a:solidFill>
                <a:latin typeface="Arial"/>
              </a:rPr>
              <a:t>▸ </a:t>
            </a:r>
            <a:r>
              <a:rPr b="1" sz="950">
                <a:solidFill>
                  <a:srgbClr val="0D9488"/>
                </a:solidFill>
                <a:latin typeface="Arial"/>
              </a:rPr>
              <a:t>user_ratings: </a:t>
            </a:r>
            <a:r>
              <a:rPr sz="950">
                <a:solidFill>
                  <a:srgbClr val="1E293B"/>
                </a:solidFill>
                <a:latin typeface="Arial"/>
              </a:rPr>
              <a:t>Peer-to-peer user evaluation (1–5 stars) linked to completed project contracts.</a:t>
            </a:r>
          </a:p>
        </p:txBody>
      </p:sp>
      <p:sp>
        <p:nvSpPr>
          <p:cNvPr id="10" name="Rounded Rectangle 9"/>
          <p:cNvSpPr/>
          <p:nvPr/>
        </p:nvSpPr>
        <p:spPr>
          <a:xfrm>
            <a:off x="6199632" y="1325880"/>
            <a:ext cx="525780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463040"/>
            <a:ext cx="498348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5 Collaboration Extension Tables</a:t>
            </a:r>
          </a:p>
          <a:p>
            <a:pPr>
              <a:spcBef>
                <a:spcPts val="200"/>
              </a:spcBef>
            </a:pPr>
            <a:r>
              <a:rPr sz="950">
                <a:solidFill>
                  <a:srgbClr val="64748B"/>
                </a:solidFill>
                <a:latin typeface="Arial"/>
              </a:rPr>
              <a:t>Added in final sprint for teams &amp; governance</a:t>
            </a:r>
          </a:p>
        </p:txBody>
      </p:sp>
      <p:sp>
        <p:nvSpPr>
          <p:cNvPr id="12" name="TextBox 11"/>
          <p:cNvSpPr txBox="1"/>
          <p:nvPr/>
        </p:nvSpPr>
        <p:spPr>
          <a:xfrm>
            <a:off x="6336792" y="2011680"/>
            <a:ext cx="4983480" cy="301752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team_batches: </a:t>
            </a:r>
            <a:r>
              <a:rPr sz="950">
                <a:solidFill>
                  <a:srgbClr val="1E293B"/>
                </a:solidFill>
                <a:latin typeface="Arial"/>
              </a:rPr>
              <a:t>Saved developer squads: 1–10 members, accepted connections only, synergy score.</a:t>
            </a:r>
          </a:p>
          <a:p>
            <a:pPr>
              <a:spcBef>
                <a:spcPts val="350"/>
              </a:spcBef>
              <a:spcAft>
                <a:spcPts val="200"/>
              </a:spcAft>
            </a:pPr>
            <a:r>
              <a:rPr b="1" sz="950">
                <a:solidFill>
                  <a:srgbClr val="0D9488"/>
                </a:solidFill>
                <a:latin typeface="Arial"/>
              </a:rPr>
              <a:t>▸ </a:t>
            </a:r>
            <a:r>
              <a:rPr b="1" sz="950">
                <a:solidFill>
                  <a:srgbClr val="0D9488"/>
                </a:solidFill>
                <a:latin typeface="Arial"/>
              </a:rPr>
              <a:t>notifications: </a:t>
            </a:r>
            <a:r>
              <a:rPr sz="950">
                <a:solidFill>
                  <a:srgbClr val="1E293B"/>
                </a:solidFill>
                <a:latin typeface="Arial"/>
              </a:rPr>
              <a:t>System-generated audit feed; 10 event types; rows created solely by DB triggers.</a:t>
            </a:r>
          </a:p>
          <a:p>
            <a:pPr>
              <a:spcBef>
                <a:spcPts val="350"/>
              </a:spcBef>
              <a:spcAft>
                <a:spcPts val="200"/>
              </a:spcAft>
            </a:pPr>
            <a:r>
              <a:rPr b="1" sz="950">
                <a:solidFill>
                  <a:srgbClr val="0D9488"/>
                </a:solidFill>
                <a:latin typeface="Arial"/>
              </a:rPr>
              <a:t>▸ </a:t>
            </a:r>
            <a:r>
              <a:rPr b="1" sz="950">
                <a:solidFill>
                  <a:srgbClr val="0D9488"/>
                </a:solidFill>
                <a:latin typeface="Arial"/>
              </a:rPr>
              <a:t>project_invitations: </a:t>
            </a:r>
            <a:r>
              <a:rPr sz="950">
                <a:solidFill>
                  <a:srgbClr val="1E293B"/>
                </a:solidFill>
                <a:latin typeface="Arial"/>
              </a:rPr>
              <a:t>Client-to-developer formal invitations; UNIQUE(project, dev); developer accepts first.</a:t>
            </a:r>
          </a:p>
          <a:p>
            <a:pPr>
              <a:spcBef>
                <a:spcPts val="350"/>
              </a:spcBef>
              <a:spcAft>
                <a:spcPts val="200"/>
              </a:spcAft>
            </a:pPr>
            <a:r>
              <a:rPr b="1" sz="950">
                <a:solidFill>
                  <a:srgbClr val="0D9488"/>
                </a:solidFill>
                <a:latin typeface="Arial"/>
              </a:rPr>
              <a:t>▸ </a:t>
            </a:r>
            <a:r>
              <a:rPr b="1" sz="950">
                <a:solidFill>
                  <a:srgbClr val="0D9488"/>
                </a:solidFill>
                <a:latin typeface="Arial"/>
              </a:rPr>
              <a:t>user_settings: </a:t>
            </a:r>
            <a:r>
              <a:rPr sz="950">
                <a:solidFill>
                  <a:srgbClr val="1E293B"/>
                </a:solidFill>
                <a:latin typeface="Arial"/>
              </a:rPr>
              <a:t>User privacy: leaderboard visibility toggle, email/in-app notification preferences.</a:t>
            </a:r>
          </a:p>
          <a:p>
            <a:pPr>
              <a:spcBef>
                <a:spcPts val="350"/>
              </a:spcBef>
              <a:spcAft>
                <a:spcPts val="200"/>
              </a:spcAft>
            </a:pPr>
            <a:r>
              <a:rPr b="1" sz="950">
                <a:solidFill>
                  <a:srgbClr val="0D9488"/>
                </a:solidFill>
                <a:latin typeface="Arial"/>
              </a:rPr>
              <a:t>▸ </a:t>
            </a:r>
            <a:r>
              <a:rPr b="1" sz="950">
                <a:solidFill>
                  <a:srgbClr val="0D9488"/>
                </a:solidFill>
                <a:latin typeface="Arial"/>
              </a:rPr>
              <a:t>support_tickets: </a:t>
            </a:r>
            <a:r>
              <a:rPr sz="950">
                <a:solidFill>
                  <a:srgbClr val="1E293B"/>
                </a:solidFill>
                <a:latin typeface="Arial"/>
              </a:rPr>
              <a:t>Platform helpdesk: auto-generated ticket numbering with subject/description length CHECKs.</a:t>
            </a:r>
          </a:p>
        </p:txBody>
      </p:sp>
      <p:sp>
        <p:nvSpPr>
          <p:cNvPr id="13" name="Rounded Rectangle 12"/>
          <p:cNvSpPr/>
          <p:nvPr/>
        </p:nvSpPr>
        <p:spPr>
          <a:xfrm>
            <a:off x="731520" y="5303520"/>
            <a:ext cx="10728655" cy="109728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914400"/>
          </a:xfrm>
          <a:prstGeom prst="rect">
            <a:avLst/>
          </a:prstGeom>
          <a:noFill/>
        </p:spPr>
        <p:txBody>
          <a:bodyPr wrap="square">
            <a:spAutoFit/>
          </a:bodyPr>
          <a:lstStyle/>
          <a:p>
            <a:r>
              <a:rPr b="1" sz="1100">
                <a:solidFill>
                  <a:srgbClr val="0D9488"/>
                </a:solidFill>
              </a:rPr>
              <a:t>DATABASE INTEGRITY SUMMARY: </a:t>
            </a:r>
            <a:r>
              <a:rPr sz="1050">
                <a:solidFill>
                  <a:srgbClr val="1E293B"/>
                </a:solidFill>
              </a:rPr>
              <a:t>All 12 tables reside in PostgreSQL's public schema. Every profile shares its primary key with Supabase's auth.users table, making auth.uid() directly comparable in Row-Level Security policies. Referential cascades guarantee zero orphaned records upon user deletion.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DATABASE ENGINEERING</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Database Design: The 5 New Tables Deep-Dive</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11 / 25</a:t>
            </a:r>
          </a:p>
        </p:txBody>
      </p:sp>
      <p:sp>
        <p:nvSpPr>
          <p:cNvPr id="7" name="Rounded Rectangle 6"/>
          <p:cNvSpPr/>
          <p:nvPr/>
        </p:nvSpPr>
        <p:spPr>
          <a:xfrm>
            <a:off x="731520" y="1325880"/>
            <a:ext cx="33375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35607"/>
            <a:ext cx="306324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team_batches</a:t>
            </a:r>
          </a:p>
          <a:p>
            <a:pPr>
              <a:spcBef>
                <a:spcPts val="200"/>
              </a:spcBef>
            </a:pPr>
            <a:r>
              <a:rPr sz="950">
                <a:solidFill>
                  <a:srgbClr val="64748B"/>
                </a:solidFill>
                <a:latin typeface="Arial"/>
              </a:rPr>
              <a:t>Collaborative Squads</a:t>
            </a:r>
          </a:p>
        </p:txBody>
      </p:sp>
      <p:sp>
        <p:nvSpPr>
          <p:cNvPr id="9" name="TextBox 8"/>
          <p:cNvSpPr txBox="1"/>
          <p:nvPr/>
        </p:nvSpPr>
        <p:spPr>
          <a:xfrm>
            <a:off x="868680" y="1984248"/>
            <a:ext cx="3063240" cy="146304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Schema: </a:t>
            </a:r>
            <a:r>
              <a:rPr sz="950">
                <a:solidFill>
                  <a:srgbClr val="1E293B"/>
                </a:solidFill>
                <a:latin typeface="Arial"/>
              </a:rPr>
              <a:t>id, owner_id, name, domain, members (JSONB), synergy_score, created_at</a:t>
            </a:r>
          </a:p>
          <a:p>
            <a:pPr>
              <a:spcBef>
                <a:spcPts val="350"/>
              </a:spcBef>
              <a:spcAft>
                <a:spcPts val="200"/>
              </a:spcAft>
            </a:pPr>
            <a:r>
              <a:rPr b="1" sz="950">
                <a:solidFill>
                  <a:srgbClr val="0D9488"/>
                </a:solidFill>
                <a:latin typeface="Arial"/>
              </a:rPr>
              <a:t>▸ </a:t>
            </a:r>
            <a:r>
              <a:rPr b="1" sz="950">
                <a:solidFill>
                  <a:srgbClr val="0D9488"/>
                </a:solidFill>
                <a:latin typeface="Arial"/>
              </a:rPr>
              <a:t>Trigger Rule: </a:t>
            </a:r>
            <a:r>
              <a:rPr sz="950">
                <a:solidFill>
                  <a:srgbClr val="1E293B"/>
                </a:solidFill>
                <a:latin typeface="Arial"/>
              </a:rPr>
              <a:t>BEFORE INSERT trigger verifies 1–10 members, confirms all members are accepted connections, and rejects owner self-inclusion.</a:t>
            </a:r>
          </a:p>
          <a:p>
            <a:pPr>
              <a:spcBef>
                <a:spcPts val="350"/>
              </a:spcBef>
              <a:spcAft>
                <a:spcPts val="200"/>
              </a:spcAft>
            </a:pPr>
            <a:r>
              <a:rPr b="1" sz="950">
                <a:solidFill>
                  <a:srgbClr val="0D9488"/>
                </a:solidFill>
                <a:latin typeface="Arial"/>
              </a:rPr>
              <a:t>▸ </a:t>
            </a:r>
            <a:r>
              <a:rPr b="1" sz="950">
                <a:solidFill>
                  <a:srgbClr val="0D9488"/>
                </a:solidFill>
                <a:latin typeface="Arial"/>
              </a:rPr>
              <a:t>Integrity: </a:t>
            </a:r>
            <a:r>
              <a:rPr sz="950">
                <a:solidFill>
                  <a:srgbClr val="1E293B"/>
                </a:solidFill>
                <a:latin typeface="Arial"/>
              </a:rPr>
              <a:t>Batches saved locally in older client versions are imported automatically upon first sign-in.</a:t>
            </a:r>
          </a:p>
        </p:txBody>
      </p:sp>
      <p:sp>
        <p:nvSpPr>
          <p:cNvPr id="10" name="Rounded Rectangle 9"/>
          <p:cNvSpPr/>
          <p:nvPr/>
        </p:nvSpPr>
        <p:spPr>
          <a:xfrm>
            <a:off x="4425696" y="1325880"/>
            <a:ext cx="33375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435607"/>
            <a:ext cx="306324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notifications</a:t>
            </a:r>
          </a:p>
          <a:p>
            <a:pPr>
              <a:spcBef>
                <a:spcPts val="200"/>
              </a:spcBef>
            </a:pPr>
            <a:r>
              <a:rPr sz="950">
                <a:solidFill>
                  <a:srgbClr val="64748B"/>
                </a:solidFill>
                <a:latin typeface="Arial"/>
              </a:rPr>
              <a:t>Trigger-Driven Feed</a:t>
            </a:r>
          </a:p>
        </p:txBody>
      </p:sp>
      <p:sp>
        <p:nvSpPr>
          <p:cNvPr id="12" name="TextBox 11"/>
          <p:cNvSpPr txBox="1"/>
          <p:nvPr/>
        </p:nvSpPr>
        <p:spPr>
          <a:xfrm>
            <a:off x="4562856" y="1984248"/>
            <a:ext cx="3063240" cy="146304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Schema: </a:t>
            </a:r>
            <a:r>
              <a:rPr sz="950">
                <a:solidFill>
                  <a:srgbClr val="1E293B"/>
                </a:solidFill>
                <a:latin typeface="Arial"/>
              </a:rPr>
              <a:t>id, user_id, actor_id, type (10 enums), title, body, link, is_read, created_at</a:t>
            </a:r>
          </a:p>
          <a:p>
            <a:pPr>
              <a:spcBef>
                <a:spcPts val="350"/>
              </a:spcBef>
              <a:spcAft>
                <a:spcPts val="200"/>
              </a:spcAft>
            </a:pPr>
            <a:r>
              <a:rPr b="1" sz="950">
                <a:solidFill>
                  <a:srgbClr val="0D9488"/>
                </a:solidFill>
                <a:latin typeface="Arial"/>
              </a:rPr>
              <a:t>▸ </a:t>
            </a:r>
            <a:r>
              <a:rPr b="1" sz="950">
                <a:solidFill>
                  <a:srgbClr val="0D9488"/>
                </a:solidFill>
                <a:latin typeface="Arial"/>
              </a:rPr>
              <a:t>Security: </a:t>
            </a:r>
            <a:r>
              <a:rPr sz="950">
                <a:solidFill>
                  <a:srgbClr val="1E293B"/>
                </a:solidFill>
                <a:latin typeface="Arial"/>
              </a:rPr>
              <a:t>Direct INSERT by client/developer roles is strictly prohibited; rows are inserted solely by PostgreSQL AFTER triggers.</a:t>
            </a:r>
          </a:p>
          <a:p>
            <a:pPr>
              <a:spcBef>
                <a:spcPts val="350"/>
              </a:spcBef>
              <a:spcAft>
                <a:spcPts val="200"/>
              </a:spcAft>
            </a:pPr>
            <a:r>
              <a:rPr b="1" sz="950">
                <a:solidFill>
                  <a:srgbClr val="0D9488"/>
                </a:solidFill>
                <a:latin typeface="Arial"/>
              </a:rPr>
              <a:t>▸ </a:t>
            </a:r>
            <a:r>
              <a:rPr b="1" sz="950">
                <a:solidFill>
                  <a:srgbClr val="0D9488"/>
                </a:solidFill>
                <a:latin typeface="Arial"/>
              </a:rPr>
              <a:t>Preference: </a:t>
            </a:r>
            <a:r>
              <a:rPr sz="950">
                <a:solidFill>
                  <a:srgbClr val="1E293B"/>
                </a:solidFill>
                <a:latin typeface="Arial"/>
              </a:rPr>
              <a:t>Trigger inspects user_settings before creating notification; suppresses muted alerts.</a:t>
            </a:r>
          </a:p>
        </p:txBody>
      </p:sp>
      <p:sp>
        <p:nvSpPr>
          <p:cNvPr id="13" name="Rounded Rectangle 12"/>
          <p:cNvSpPr/>
          <p:nvPr/>
        </p:nvSpPr>
        <p:spPr>
          <a:xfrm>
            <a:off x="8119872" y="1325880"/>
            <a:ext cx="33375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435607"/>
            <a:ext cx="306324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project_invitations</a:t>
            </a:r>
          </a:p>
          <a:p>
            <a:pPr>
              <a:spcBef>
                <a:spcPts val="200"/>
              </a:spcBef>
            </a:pPr>
            <a:r>
              <a:rPr sz="950">
                <a:solidFill>
                  <a:srgbClr val="64748B"/>
                </a:solidFill>
                <a:latin typeface="Arial"/>
              </a:rPr>
              <a:t>Gated Assignment</a:t>
            </a:r>
          </a:p>
        </p:txBody>
      </p:sp>
      <p:sp>
        <p:nvSpPr>
          <p:cNvPr id="15" name="TextBox 14"/>
          <p:cNvSpPr txBox="1"/>
          <p:nvPr/>
        </p:nvSpPr>
        <p:spPr>
          <a:xfrm>
            <a:off x="8257032" y="1984248"/>
            <a:ext cx="3063240" cy="146304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Schema: </a:t>
            </a:r>
            <a:r>
              <a:rPr sz="950">
                <a:solidFill>
                  <a:srgbClr val="1E293B"/>
                </a:solidFill>
                <a:latin typeface="Arial"/>
              </a:rPr>
              <a:t>id, project_id, developer_id, client_id, status (pending/accepted/declined/cancelled)</a:t>
            </a:r>
          </a:p>
          <a:p>
            <a:pPr>
              <a:spcBef>
                <a:spcPts val="350"/>
              </a:spcBef>
              <a:spcAft>
                <a:spcPts val="200"/>
              </a:spcAft>
            </a:pPr>
            <a:r>
              <a:rPr b="1" sz="950">
                <a:solidFill>
                  <a:srgbClr val="0D9488"/>
                </a:solidFill>
                <a:latin typeface="Arial"/>
              </a:rPr>
              <a:t>▸ </a:t>
            </a:r>
            <a:r>
              <a:rPr b="1" sz="950">
                <a:solidFill>
                  <a:srgbClr val="0D9488"/>
                </a:solidFill>
                <a:latin typeface="Arial"/>
              </a:rPr>
              <a:t>Constraint: </a:t>
            </a:r>
            <a:r>
              <a:rPr sz="950">
                <a:solidFill>
                  <a:srgbClr val="1E293B"/>
                </a:solidFill>
                <a:latin typeface="Arial"/>
              </a:rPr>
              <a:t>UNIQUE(project_id, developer_id) prevents spamming; only project owner can invite.</a:t>
            </a:r>
          </a:p>
          <a:p>
            <a:pPr>
              <a:spcBef>
                <a:spcPts val="350"/>
              </a:spcBef>
              <a:spcAft>
                <a:spcPts val="200"/>
              </a:spcAft>
            </a:pPr>
            <a:r>
              <a:rPr b="1" sz="950">
                <a:solidFill>
                  <a:srgbClr val="0D9488"/>
                </a:solidFill>
                <a:latin typeface="Arial"/>
              </a:rPr>
              <a:t>▸ </a:t>
            </a:r>
            <a:r>
              <a:rPr b="1" sz="950">
                <a:solidFill>
                  <a:srgbClr val="0D9488"/>
                </a:solidFill>
                <a:latin typeface="Arial"/>
              </a:rPr>
              <a:t>Assignment Rule: </a:t>
            </a:r>
            <a:r>
              <a:rPr sz="950">
                <a:solidFill>
                  <a:srgbClr val="1E293B"/>
                </a:solidFill>
                <a:latin typeface="Arial"/>
              </a:rPr>
              <a:t>Client cannot assign developer until status transitions to 'accepted'.</a:t>
            </a:r>
          </a:p>
        </p:txBody>
      </p:sp>
      <p:sp>
        <p:nvSpPr>
          <p:cNvPr id="16" name="Rounded Rectangle 15"/>
          <p:cNvSpPr/>
          <p:nvPr/>
        </p:nvSpPr>
        <p:spPr>
          <a:xfrm>
            <a:off x="2578608" y="3840480"/>
            <a:ext cx="33375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5768" y="3950208"/>
            <a:ext cx="306324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user_settings</a:t>
            </a:r>
          </a:p>
          <a:p>
            <a:pPr>
              <a:spcBef>
                <a:spcPts val="200"/>
              </a:spcBef>
            </a:pPr>
            <a:r>
              <a:rPr sz="950">
                <a:solidFill>
                  <a:srgbClr val="64748B"/>
                </a:solidFill>
                <a:latin typeface="Arial"/>
              </a:rPr>
              <a:t>Privacy &amp; Preferences</a:t>
            </a:r>
          </a:p>
        </p:txBody>
      </p:sp>
      <p:sp>
        <p:nvSpPr>
          <p:cNvPr id="18" name="TextBox 17"/>
          <p:cNvSpPr txBox="1"/>
          <p:nvPr/>
        </p:nvSpPr>
        <p:spPr>
          <a:xfrm>
            <a:off x="2715768" y="4498848"/>
            <a:ext cx="3063240" cy="146304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Schema: </a:t>
            </a:r>
            <a:r>
              <a:rPr sz="950">
                <a:solidFill>
                  <a:srgbClr val="1E293B"/>
                </a:solidFill>
                <a:latin typeface="Arial"/>
              </a:rPr>
              <a:t>user_id (PK = auth.uid), in_app_notifs, email_notifs, show_on_leaderboard, theme</a:t>
            </a:r>
          </a:p>
          <a:p>
            <a:pPr>
              <a:spcBef>
                <a:spcPts val="350"/>
              </a:spcBef>
              <a:spcAft>
                <a:spcPts val="200"/>
              </a:spcAft>
            </a:pPr>
            <a:r>
              <a:rPr b="1" sz="950">
                <a:solidFill>
                  <a:srgbClr val="0D9488"/>
                </a:solidFill>
                <a:latin typeface="Arial"/>
              </a:rPr>
              <a:t>▸ </a:t>
            </a:r>
            <a:r>
              <a:rPr b="1" sz="950">
                <a:solidFill>
                  <a:srgbClr val="0D9488"/>
                </a:solidFill>
                <a:latin typeface="Arial"/>
              </a:rPr>
              <a:t>Privacy: </a:t>
            </a:r>
            <a:r>
              <a:rPr sz="950">
                <a:solidFill>
                  <a:srgbClr val="1E293B"/>
                </a:solidFill>
                <a:latin typeface="Arial"/>
              </a:rPr>
              <a:t>Developers can toggle show_on_leaderboard to false, instantly hiding from public ranking.</a:t>
            </a:r>
          </a:p>
          <a:p>
            <a:pPr>
              <a:spcBef>
                <a:spcPts val="350"/>
              </a:spcBef>
              <a:spcAft>
                <a:spcPts val="200"/>
              </a:spcAft>
            </a:pPr>
            <a:r>
              <a:rPr b="1" sz="950">
                <a:solidFill>
                  <a:srgbClr val="0D9488"/>
                </a:solidFill>
                <a:latin typeface="Arial"/>
              </a:rPr>
              <a:t>▸ </a:t>
            </a:r>
            <a:r>
              <a:rPr b="1" sz="950">
                <a:solidFill>
                  <a:srgbClr val="0D9488"/>
                </a:solidFill>
                <a:latin typeface="Arial"/>
              </a:rPr>
              <a:t>RLS Isolation: </a:t>
            </a:r>
            <a:r>
              <a:rPr sz="950">
                <a:solidFill>
                  <a:srgbClr val="1E293B"/>
                </a:solidFill>
                <a:latin typeface="Arial"/>
              </a:rPr>
              <a:t>Users can view and update exclusively their own settings record.</a:t>
            </a:r>
          </a:p>
        </p:txBody>
      </p:sp>
      <p:sp>
        <p:nvSpPr>
          <p:cNvPr id="19" name="Rounded Rectangle 18"/>
          <p:cNvSpPr/>
          <p:nvPr/>
        </p:nvSpPr>
        <p:spPr>
          <a:xfrm>
            <a:off x="6272784" y="3840480"/>
            <a:ext cx="333756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3950208"/>
            <a:ext cx="306324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support_tickets</a:t>
            </a:r>
          </a:p>
          <a:p>
            <a:pPr>
              <a:spcBef>
                <a:spcPts val="200"/>
              </a:spcBef>
            </a:pPr>
            <a:r>
              <a:rPr sz="950">
                <a:solidFill>
                  <a:srgbClr val="64748B"/>
                </a:solidFill>
                <a:latin typeface="Arial"/>
              </a:rPr>
              <a:t>Helpdesk Submissions</a:t>
            </a:r>
          </a:p>
        </p:txBody>
      </p:sp>
      <p:sp>
        <p:nvSpPr>
          <p:cNvPr id="21" name="TextBox 20"/>
          <p:cNvSpPr txBox="1"/>
          <p:nvPr/>
        </p:nvSpPr>
        <p:spPr>
          <a:xfrm>
            <a:off x="6409944" y="4498848"/>
            <a:ext cx="3063240" cy="146304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Schema: </a:t>
            </a:r>
            <a:r>
              <a:rPr sz="950">
                <a:solidFill>
                  <a:srgbClr val="1E293B"/>
                </a:solidFill>
                <a:latin typeface="Arial"/>
              </a:rPr>
              <a:t>id, ticket_number (TICK-XXXX sequence), user_id, category, subject, description, status</a:t>
            </a:r>
          </a:p>
          <a:p>
            <a:pPr>
              <a:spcBef>
                <a:spcPts val="350"/>
              </a:spcBef>
              <a:spcAft>
                <a:spcPts val="200"/>
              </a:spcAft>
            </a:pPr>
            <a:r>
              <a:rPr b="1" sz="950">
                <a:solidFill>
                  <a:srgbClr val="0D9488"/>
                </a:solidFill>
                <a:latin typeface="Arial"/>
              </a:rPr>
              <a:t>▸ </a:t>
            </a:r>
            <a:r>
              <a:rPr b="1" sz="950">
                <a:solidFill>
                  <a:srgbClr val="0D9488"/>
                </a:solidFill>
                <a:latin typeface="Arial"/>
              </a:rPr>
              <a:t>CHECK Rules: </a:t>
            </a:r>
            <a:r>
              <a:rPr sz="950">
                <a:solidFill>
                  <a:srgbClr val="1E293B"/>
                </a:solidFill>
                <a:latin typeface="Arial"/>
              </a:rPr>
              <a:t>Subject must be 5–150 chars; description must be 20–5000 chars; category in allowed list.</a:t>
            </a:r>
          </a:p>
          <a:p>
            <a:pPr>
              <a:spcBef>
                <a:spcPts val="350"/>
              </a:spcBef>
              <a:spcAft>
                <a:spcPts val="200"/>
              </a:spcAft>
            </a:pPr>
            <a:r>
              <a:rPr b="1" sz="950">
                <a:solidFill>
                  <a:srgbClr val="0D9488"/>
                </a:solidFill>
                <a:latin typeface="Arial"/>
              </a:rPr>
              <a:t>▸ </a:t>
            </a:r>
            <a:r>
              <a:rPr b="1" sz="950">
                <a:solidFill>
                  <a:srgbClr val="0D9488"/>
                </a:solidFill>
                <a:latin typeface="Arial"/>
              </a:rPr>
              <a:t>State Flow: </a:t>
            </a:r>
            <a:r>
              <a:rPr sz="950">
                <a:solidFill>
                  <a:srgbClr val="1E293B"/>
                </a:solidFill>
                <a:latin typeface="Arial"/>
              </a:rPr>
              <a:t>Must start in 'open' status; clients cannot arbitrarily edit status once submitted.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NETWORKING WORKFLOW</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Connections &amp; Peer Discovery Protocol</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12 / 25</a:t>
            </a:r>
          </a:p>
        </p:txBody>
      </p:sp>
      <p:sp>
        <p:nvSpPr>
          <p:cNvPr id="7" name="Rounded Rectangle 6"/>
          <p:cNvSpPr/>
          <p:nvPr/>
        </p:nvSpPr>
        <p:spPr>
          <a:xfrm>
            <a:off x="731520" y="1325880"/>
            <a:ext cx="25146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Step 1: Multi-Facet Discovery</a:t>
            </a:r>
          </a:p>
          <a:p>
            <a:pPr>
              <a:spcBef>
                <a:spcPts val="200"/>
              </a:spcBef>
            </a:pPr>
            <a:r>
              <a:rPr sz="950">
                <a:solidFill>
                  <a:srgbClr val="64748B"/>
                </a:solidFill>
                <a:latin typeface="Arial"/>
              </a:rPr>
              <a:t>Region &amp; Skill Filtering</a:t>
            </a:r>
          </a:p>
        </p:txBody>
      </p:sp>
      <p:sp>
        <p:nvSpPr>
          <p:cNvPr id="9" name="TextBox 8"/>
          <p:cNvSpPr txBox="1"/>
          <p:nvPr/>
        </p:nvSpPr>
        <p:spPr>
          <a:xfrm>
            <a:off x="868680" y="2103120"/>
            <a:ext cx="2240280" cy="1645920"/>
          </a:xfrm>
          <a:prstGeom prst="rect">
            <a:avLst/>
          </a:prstGeom>
          <a:noFill/>
        </p:spPr>
        <p:txBody>
          <a:bodyPr wrap="square" lIns="0" tIns="0" rIns="0" bIns="0">
            <a:spAutoFit/>
          </a:bodyPr>
          <a:lstStyle/>
          <a:p>
            <a:r>
              <a:rPr sz="1000">
                <a:solidFill>
                  <a:srgbClr val="1E293B"/>
                </a:solidFill>
              </a:rPr>
              <a:t>Developers filter peers across Continent → Sub-region → Country, combined with specific technology tags (e.g. React, PostgreSQL, Docker) to find time-zone compatible partners.</a:t>
            </a:r>
          </a:p>
        </p:txBody>
      </p:sp>
      <p:sp>
        <p:nvSpPr>
          <p:cNvPr id="10" name="Rounded Rectangle 9"/>
          <p:cNvSpPr/>
          <p:nvPr/>
        </p:nvSpPr>
        <p:spPr>
          <a:xfrm>
            <a:off x="3465576" y="1325880"/>
            <a:ext cx="25146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Step 2: Request Dispatch</a:t>
            </a:r>
          </a:p>
          <a:p>
            <a:pPr>
              <a:spcBef>
                <a:spcPts val="200"/>
              </a:spcBef>
            </a:pPr>
            <a:r>
              <a:rPr sz="950">
                <a:solidFill>
                  <a:srgbClr val="64748B"/>
                </a:solidFill>
                <a:latin typeface="Arial"/>
              </a:rPr>
              <a:t>Personalized Introduction</a:t>
            </a:r>
          </a:p>
        </p:txBody>
      </p:sp>
      <p:sp>
        <p:nvSpPr>
          <p:cNvPr id="12" name="TextBox 11"/>
          <p:cNvSpPr txBox="1"/>
          <p:nvPr/>
        </p:nvSpPr>
        <p:spPr>
          <a:xfrm>
            <a:off x="3602736" y="2103120"/>
            <a:ext cx="2240280" cy="1645920"/>
          </a:xfrm>
          <a:prstGeom prst="rect">
            <a:avLst/>
          </a:prstGeom>
          <a:noFill/>
        </p:spPr>
        <p:txBody>
          <a:bodyPr wrap="square" lIns="0" tIns="0" rIns="0" bIns="0">
            <a:spAutoFit/>
          </a:bodyPr>
          <a:lstStyle/>
          <a:p>
            <a:r>
              <a:rPr sz="1000">
                <a:solidFill>
                  <a:srgbClr val="1E293B"/>
                </a:solidFill>
              </a:rPr>
              <a:t>Sender transmits a connection request accompanied by an introductory pitch; row inserted with status 'pending'; database trigger instantly alerts receiver.</a:t>
            </a:r>
          </a:p>
        </p:txBody>
      </p:sp>
      <p:sp>
        <p:nvSpPr>
          <p:cNvPr id="13" name="Rounded Rectangle 12"/>
          <p:cNvSpPr/>
          <p:nvPr/>
        </p:nvSpPr>
        <p:spPr>
          <a:xfrm>
            <a:off x="6199632" y="1325880"/>
            <a:ext cx="25146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Step 3: Receiver Evaluation</a:t>
            </a:r>
          </a:p>
          <a:p>
            <a:pPr>
              <a:spcBef>
                <a:spcPts val="200"/>
              </a:spcBef>
            </a:pPr>
            <a:r>
              <a:rPr sz="950">
                <a:solidFill>
                  <a:srgbClr val="64748B"/>
                </a:solidFill>
                <a:latin typeface="Arial"/>
              </a:rPr>
              <a:t>Accept or Decline Action</a:t>
            </a:r>
          </a:p>
        </p:txBody>
      </p:sp>
      <p:sp>
        <p:nvSpPr>
          <p:cNvPr id="15" name="TextBox 14"/>
          <p:cNvSpPr txBox="1"/>
          <p:nvPr/>
        </p:nvSpPr>
        <p:spPr>
          <a:xfrm>
            <a:off x="6336792" y="2103120"/>
            <a:ext cx="2240280" cy="1645920"/>
          </a:xfrm>
          <a:prstGeom prst="rect">
            <a:avLst/>
          </a:prstGeom>
          <a:noFill/>
        </p:spPr>
        <p:txBody>
          <a:bodyPr wrap="square" lIns="0" tIns="0" rIns="0" bIns="0">
            <a:spAutoFit/>
          </a:bodyPr>
          <a:lstStyle/>
          <a:p>
            <a:r>
              <a:rPr sz="1000">
                <a:solidFill>
                  <a:srgbClr val="1E293B"/>
                </a:solidFill>
              </a:rPr>
              <a:t>Receiver inspects sender profile, ratings, and shared skills. Accepting transitions status to 'accepted', while declining updates status to 'rejected' gracefully.</a:t>
            </a:r>
          </a:p>
        </p:txBody>
      </p:sp>
      <p:sp>
        <p:nvSpPr>
          <p:cNvPr id="16" name="Rounded Rectangle 15"/>
          <p:cNvSpPr/>
          <p:nvPr/>
        </p:nvSpPr>
        <p:spPr>
          <a:xfrm>
            <a:off x="8933688" y="1325880"/>
            <a:ext cx="251460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1463039"/>
            <a:ext cx="224028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Step 4: Realtime Unlocked</a:t>
            </a:r>
          </a:p>
          <a:p>
            <a:pPr>
              <a:spcBef>
                <a:spcPts val="200"/>
              </a:spcBef>
            </a:pPr>
            <a:r>
              <a:rPr sz="950">
                <a:solidFill>
                  <a:srgbClr val="64748B"/>
                </a:solidFill>
                <a:latin typeface="Arial"/>
              </a:rPr>
              <a:t>WebSocket Chat &amp; Teaming</a:t>
            </a:r>
          </a:p>
        </p:txBody>
      </p:sp>
      <p:sp>
        <p:nvSpPr>
          <p:cNvPr id="18" name="TextBox 17"/>
          <p:cNvSpPr txBox="1"/>
          <p:nvPr/>
        </p:nvSpPr>
        <p:spPr>
          <a:xfrm>
            <a:off x="9070848" y="2103120"/>
            <a:ext cx="2240280" cy="1645920"/>
          </a:xfrm>
          <a:prstGeom prst="rect">
            <a:avLst/>
          </a:prstGeom>
          <a:noFill/>
        </p:spPr>
        <p:txBody>
          <a:bodyPr wrap="square" lIns="0" tIns="0" rIns="0" bIns="0">
            <a:spAutoFit/>
          </a:bodyPr>
          <a:lstStyle/>
          <a:p>
            <a:r>
              <a:rPr sz="1000">
                <a:solidFill>
                  <a:srgbClr val="1E293B"/>
                </a:solidFill>
              </a:rPr>
              <a:t>Accepted status automatically activates real-time messaging thread via Supabase Realtime; receiver can now be added to collaborative Team Batches.</a:t>
            </a:r>
          </a:p>
        </p:txBody>
      </p:sp>
      <p:sp>
        <p:nvSpPr>
          <p:cNvPr id="19" name="Rounded Rectangle 18"/>
          <p:cNvSpPr/>
          <p:nvPr/>
        </p:nvSpPr>
        <p:spPr>
          <a:xfrm>
            <a:off x="731520" y="4069080"/>
            <a:ext cx="525780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187952"/>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Relationship State Machine</a:t>
            </a:r>
          </a:p>
          <a:p>
            <a:pPr>
              <a:spcBef>
                <a:spcPts val="200"/>
              </a:spcBef>
            </a:pPr>
            <a:r>
              <a:rPr sz="950">
                <a:solidFill>
                  <a:srgbClr val="64748B"/>
                </a:solidFill>
                <a:latin typeface="Arial"/>
              </a:rPr>
              <a:t>Table 3.18 from Report</a:t>
            </a:r>
          </a:p>
        </p:txBody>
      </p:sp>
      <p:sp>
        <p:nvSpPr>
          <p:cNvPr id="21" name="TextBox 20"/>
          <p:cNvSpPr txBox="1"/>
          <p:nvPr/>
        </p:nvSpPr>
        <p:spPr>
          <a:xfrm>
            <a:off x="868680" y="4681728"/>
            <a:ext cx="4983480" cy="155448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None / Stranger: </a:t>
            </a:r>
            <a:r>
              <a:rPr sz="1050">
                <a:solidFill>
                  <a:srgbClr val="1E293B"/>
                </a:solidFill>
                <a:latin typeface="Arial"/>
              </a:rPr>
              <a:t>UI offers 'Connect' button; profile skills and ratings are publicly viewable.</a:t>
            </a:r>
          </a:p>
          <a:p>
            <a:pPr>
              <a:spcBef>
                <a:spcPts val="350"/>
              </a:spcBef>
              <a:spcAft>
                <a:spcPts val="200"/>
              </a:spcAft>
            </a:pPr>
            <a:r>
              <a:rPr b="1" sz="1050">
                <a:solidFill>
                  <a:srgbClr val="0D9488"/>
                </a:solidFill>
                <a:latin typeface="Arial"/>
              </a:rPr>
              <a:t>▸ </a:t>
            </a:r>
            <a:r>
              <a:rPr b="1" sz="1050">
                <a:solidFill>
                  <a:srgbClr val="0D9488"/>
                </a:solidFill>
                <a:latin typeface="Arial"/>
              </a:rPr>
              <a:t>Pending (Sent): </a:t>
            </a:r>
            <a:r>
              <a:rPr sz="1050">
                <a:solidFill>
                  <a:srgbClr val="1E293B"/>
                </a:solidFill>
                <a:latin typeface="Arial"/>
              </a:rPr>
              <a:t>UI displays 'Pending' badge; awaiting receiver confirmation; no messaging allowed.</a:t>
            </a:r>
          </a:p>
          <a:p>
            <a:pPr>
              <a:spcBef>
                <a:spcPts val="350"/>
              </a:spcBef>
              <a:spcAft>
                <a:spcPts val="200"/>
              </a:spcAft>
            </a:pPr>
            <a:r>
              <a:rPr b="1" sz="1050">
                <a:solidFill>
                  <a:srgbClr val="0D9488"/>
                </a:solidFill>
                <a:latin typeface="Arial"/>
              </a:rPr>
              <a:t>▸ </a:t>
            </a:r>
            <a:r>
              <a:rPr b="1" sz="1050">
                <a:solidFill>
                  <a:srgbClr val="0D9488"/>
                </a:solidFill>
                <a:latin typeface="Arial"/>
              </a:rPr>
              <a:t>Pending (Received): </a:t>
            </a:r>
            <a:r>
              <a:rPr sz="1050">
                <a:solidFill>
                  <a:srgbClr val="1E293B"/>
                </a:solidFill>
                <a:latin typeface="Arial"/>
              </a:rPr>
              <a:t>UI displays 'Accept' and 'Decline' actions with real-time notification count.</a:t>
            </a:r>
          </a:p>
          <a:p>
            <a:pPr>
              <a:spcBef>
                <a:spcPts val="350"/>
              </a:spcBef>
              <a:spcAft>
                <a:spcPts val="200"/>
              </a:spcAft>
            </a:pPr>
            <a:r>
              <a:rPr b="1" sz="1050">
                <a:solidFill>
                  <a:srgbClr val="0D9488"/>
                </a:solidFill>
                <a:latin typeface="Arial"/>
              </a:rPr>
              <a:t>▸ </a:t>
            </a:r>
            <a:r>
              <a:rPr b="1" sz="1050">
                <a:solidFill>
                  <a:srgbClr val="0D9488"/>
                </a:solidFill>
                <a:latin typeface="Arial"/>
              </a:rPr>
              <a:t>Accepted: </a:t>
            </a:r>
            <a:r>
              <a:rPr sz="1050">
                <a:solidFill>
                  <a:srgbClr val="1E293B"/>
                </a:solidFill>
                <a:latin typeface="Arial"/>
              </a:rPr>
              <a:t>UI unlocks 'Message' button and allows member selection in Team Formation Engine.</a:t>
            </a:r>
          </a:p>
        </p:txBody>
      </p:sp>
      <p:sp>
        <p:nvSpPr>
          <p:cNvPr id="22" name="Rounded Rectangle 21"/>
          <p:cNvSpPr/>
          <p:nvPr/>
        </p:nvSpPr>
        <p:spPr>
          <a:xfrm>
            <a:off x="6199632" y="4069080"/>
            <a:ext cx="525780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4187952"/>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Unread Tracking via Security-Definer RPC</a:t>
            </a:r>
          </a:p>
          <a:p>
            <a:pPr>
              <a:spcBef>
                <a:spcPts val="200"/>
              </a:spcBef>
            </a:pPr>
            <a:r>
              <a:rPr sz="950">
                <a:solidFill>
                  <a:srgbClr val="64748B"/>
                </a:solidFill>
                <a:latin typeface="Arial"/>
              </a:rPr>
              <a:t>Solving the RLS Read Paradox</a:t>
            </a:r>
          </a:p>
        </p:txBody>
      </p:sp>
      <p:sp>
        <p:nvSpPr>
          <p:cNvPr id="24" name="TextBox 23"/>
          <p:cNvSpPr txBox="1"/>
          <p:nvPr/>
        </p:nvSpPr>
        <p:spPr>
          <a:xfrm>
            <a:off x="6336792" y="4681728"/>
            <a:ext cx="4983480" cy="155448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The Paradox: </a:t>
            </a:r>
            <a:r>
              <a:rPr sz="1050">
                <a:solidFill>
                  <a:srgbClr val="1E293B"/>
                </a:solidFill>
                <a:latin typeface="Arial"/>
              </a:rPr>
              <a:t>Strict RLS permitted only message senders to UPDATE their messages, preventing receivers from marking messages as read.</a:t>
            </a:r>
          </a:p>
          <a:p>
            <a:pPr>
              <a:spcBef>
                <a:spcPts val="350"/>
              </a:spcBef>
              <a:spcAft>
                <a:spcPts val="200"/>
              </a:spcAft>
            </a:pPr>
            <a:r>
              <a:rPr b="1" sz="1050">
                <a:solidFill>
                  <a:srgbClr val="0D9488"/>
                </a:solidFill>
                <a:latin typeface="Arial"/>
              </a:rPr>
              <a:t>▸ </a:t>
            </a:r>
            <a:r>
              <a:rPr b="1" sz="1050">
                <a:solidFill>
                  <a:srgbClr val="0D9488"/>
                </a:solidFill>
                <a:latin typeface="Arial"/>
              </a:rPr>
              <a:t>The RPC Solution: </a:t>
            </a:r>
            <a:r>
              <a:rPr sz="1050">
                <a:solidFill>
                  <a:srgbClr val="1E293B"/>
                </a:solidFill>
                <a:latin typeface="Arial"/>
              </a:rPr>
              <a:t>Engineered mark_messages_read(connection) as a security-definer PostgreSQL stored procedure.</a:t>
            </a:r>
          </a:p>
          <a:p>
            <a:pPr>
              <a:spcBef>
                <a:spcPts val="350"/>
              </a:spcBef>
              <a:spcAft>
                <a:spcPts val="200"/>
              </a:spcAft>
            </a:pPr>
            <a:r>
              <a:rPr b="1" sz="1050">
                <a:solidFill>
                  <a:srgbClr val="0D9488"/>
                </a:solidFill>
                <a:latin typeface="Arial"/>
              </a:rPr>
              <a:t>▸ </a:t>
            </a:r>
            <a:r>
              <a:rPr b="1" sz="1050">
                <a:solidFill>
                  <a:srgbClr val="0D9488"/>
                </a:solidFill>
                <a:latin typeface="Arial"/>
              </a:rPr>
              <a:t>Dynamic Badging: </a:t>
            </a:r>
            <a:r>
              <a:rPr sz="1050">
                <a:solidFill>
                  <a:srgbClr val="1E293B"/>
                </a:solidFill>
                <a:latin typeface="Arial"/>
              </a:rPr>
              <a:t>When recipient opens a chat thread, unread counters clear instantly across the mobile bottom navigation bar and desktop header.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ALGORITHMIC INNOVATION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Team Formation Engine &amp; Synergy Algorithm</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13 / 25</a:t>
            </a:r>
          </a:p>
        </p:txBody>
      </p:sp>
      <p:sp>
        <p:nvSpPr>
          <p:cNvPr id="7" name="Rounded Rectangle 6"/>
          <p:cNvSpPr/>
          <p:nvPr/>
        </p:nvSpPr>
        <p:spPr>
          <a:xfrm>
            <a:off x="731520" y="1325880"/>
            <a:ext cx="5669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539496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Algorithm 1: Synergy Score Calculation</a:t>
            </a:r>
          </a:p>
          <a:p>
            <a:pPr>
              <a:spcBef>
                <a:spcPts val="200"/>
              </a:spcBef>
            </a:pPr>
            <a:r>
              <a:rPr sz="950">
                <a:solidFill>
                  <a:srgbClr val="64748B"/>
                </a:solidFill>
                <a:latin typeface="Arial"/>
              </a:rPr>
              <a:t>Mathematical Formulation</a:t>
            </a:r>
          </a:p>
        </p:txBody>
      </p:sp>
      <p:sp>
        <p:nvSpPr>
          <p:cNvPr id="9" name="TextBox 8"/>
          <p:cNvSpPr txBox="1"/>
          <p:nvPr/>
        </p:nvSpPr>
        <p:spPr>
          <a:xfrm>
            <a:off x="868680" y="1965960"/>
            <a:ext cx="5394960"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Domain Benchmark Stack (R): </a:t>
            </a:r>
            <a:r>
              <a:rPr sz="1050">
                <a:solidFill>
                  <a:srgbClr val="1E293B"/>
                </a:solidFill>
                <a:latin typeface="Arial"/>
              </a:rPr>
              <a:t>Predefined industry requirements (e.g. Fullstack Web: React, TypeScript, Node.js, PostgreSQL, UI/UX, AWS).</a:t>
            </a:r>
          </a:p>
          <a:p>
            <a:pPr>
              <a:spcBef>
                <a:spcPts val="350"/>
              </a:spcBef>
              <a:spcAft>
                <a:spcPts val="200"/>
              </a:spcAft>
            </a:pPr>
            <a:r>
              <a:rPr b="1" sz="1050">
                <a:solidFill>
                  <a:srgbClr val="0D9488"/>
                </a:solidFill>
                <a:latin typeface="Arial"/>
              </a:rPr>
              <a:t>▸ </a:t>
            </a:r>
            <a:r>
              <a:rPr b="1" sz="1050">
                <a:solidFill>
                  <a:srgbClr val="0D9488"/>
                </a:solidFill>
                <a:latin typeface="Arial"/>
              </a:rPr>
              <a:t>Combined Squad Stack (S): </a:t>
            </a:r>
            <a:r>
              <a:rPr sz="1050">
                <a:solidFill>
                  <a:srgbClr val="1E293B"/>
                </a:solidFill>
                <a:latin typeface="Arial"/>
              </a:rPr>
              <a:t>Union of all selected members' verified skills: S = ∪ { skills(m) : m ∈ M }.</a:t>
            </a:r>
          </a:p>
          <a:p>
            <a:pPr>
              <a:spcBef>
                <a:spcPts val="350"/>
              </a:spcBef>
              <a:spcAft>
                <a:spcPts val="200"/>
              </a:spcAft>
            </a:pPr>
            <a:r>
              <a:rPr b="1" sz="1050">
                <a:solidFill>
                  <a:srgbClr val="0D9488"/>
                </a:solidFill>
                <a:latin typeface="Arial"/>
              </a:rPr>
              <a:t>▸ </a:t>
            </a:r>
            <a:r>
              <a:rPr b="1" sz="1050">
                <a:solidFill>
                  <a:srgbClr val="0D9488"/>
                </a:solidFill>
                <a:latin typeface="Arial"/>
              </a:rPr>
              <a:t>Skill Coverage Ratio: </a:t>
            </a:r>
            <a:r>
              <a:rPr sz="1050">
                <a:solidFill>
                  <a:srgbClr val="1E293B"/>
                </a:solidFill>
                <a:latin typeface="Arial"/>
              </a:rPr>
              <a:t>Ratio = |Covered Skills| / |Required Benchmark Stack|.</a:t>
            </a:r>
          </a:p>
          <a:p>
            <a:pPr>
              <a:spcBef>
                <a:spcPts val="350"/>
              </a:spcBef>
              <a:spcAft>
                <a:spcPts val="200"/>
              </a:spcAft>
            </a:pPr>
            <a:r>
              <a:rPr b="1" sz="1050">
                <a:solidFill>
                  <a:srgbClr val="0D9488"/>
                </a:solidFill>
                <a:latin typeface="Arial"/>
              </a:rPr>
              <a:t>▸ </a:t>
            </a:r>
            <a:r>
              <a:rPr b="1" sz="1050">
                <a:solidFill>
                  <a:srgbClr val="0D9488"/>
                </a:solidFill>
                <a:latin typeface="Arial"/>
              </a:rPr>
              <a:t>Team Size Bonus: </a:t>
            </a:r>
            <a:r>
              <a:rPr sz="1050">
                <a:solidFill>
                  <a:srgbClr val="1E293B"/>
                </a:solidFill>
                <a:latin typeface="Arial"/>
              </a:rPr>
              <a:t>Bonus = min(10 × |Members|, 30) — awards points for balanced team capacity.</a:t>
            </a:r>
          </a:p>
          <a:p>
            <a:pPr>
              <a:spcBef>
                <a:spcPts val="350"/>
              </a:spcBef>
              <a:spcAft>
                <a:spcPts val="200"/>
              </a:spcAft>
            </a:pPr>
            <a:r>
              <a:rPr b="1" sz="1050">
                <a:solidFill>
                  <a:srgbClr val="0D9488"/>
                </a:solidFill>
                <a:latin typeface="Arial"/>
              </a:rPr>
              <a:t>▸ </a:t>
            </a:r>
            <a:r>
              <a:rPr b="1" sz="1050">
                <a:solidFill>
                  <a:srgbClr val="0D9488"/>
                </a:solidFill>
                <a:latin typeface="Arial"/>
              </a:rPr>
              <a:t>Synergy Score Formula: </a:t>
            </a:r>
            <a:r>
              <a:rPr sz="1050">
                <a:solidFill>
                  <a:srgbClr val="1E293B"/>
                </a:solidFill>
                <a:latin typeface="Arial"/>
              </a:rPr>
              <a:t>Score = min( round(70 × Ratio + Bonus), 100 ); if |M| = 0 then Score = 0.</a:t>
            </a:r>
          </a:p>
          <a:p>
            <a:pPr>
              <a:spcBef>
                <a:spcPts val="350"/>
              </a:spcBef>
              <a:spcAft>
                <a:spcPts val="200"/>
              </a:spcAft>
            </a:pPr>
            <a:r>
              <a:rPr b="1" sz="1050">
                <a:solidFill>
                  <a:srgbClr val="0D9488"/>
                </a:solidFill>
                <a:latin typeface="Arial"/>
              </a:rPr>
              <a:t>▸ </a:t>
            </a:r>
            <a:r>
              <a:rPr b="1" sz="1050">
                <a:solidFill>
                  <a:srgbClr val="0D9488"/>
                </a:solidFill>
                <a:latin typeface="Arial"/>
              </a:rPr>
              <a:t>Worked Example: </a:t>
            </a:r>
            <a:r>
              <a:rPr sz="1050">
                <a:solidFill>
                  <a:srgbClr val="1E293B"/>
                </a:solidFill>
                <a:latin typeface="Arial"/>
              </a:rPr>
              <a:t>A 2-member team covering 4 of 6 skills: round(70 × 4/6 + 20) = 47 + 20 = 67%.</a:t>
            </a:r>
          </a:p>
          <a:p>
            <a:pPr>
              <a:spcBef>
                <a:spcPts val="350"/>
              </a:spcBef>
              <a:spcAft>
                <a:spcPts val="200"/>
              </a:spcAft>
            </a:pPr>
            <a:r>
              <a:rPr b="1" sz="1050">
                <a:solidFill>
                  <a:srgbClr val="0D9488"/>
                </a:solidFill>
                <a:latin typeface="Arial"/>
              </a:rPr>
              <a:t>▸ </a:t>
            </a:r>
            <a:r>
              <a:rPr b="1" sz="1050">
                <a:solidFill>
                  <a:srgbClr val="0D9488"/>
                </a:solidFill>
                <a:latin typeface="Arial"/>
              </a:rPr>
              <a:t>Proactive Skill Gaps Alert: </a:t>
            </a:r>
            <a:r>
              <a:rPr sz="1050">
                <a:solidFill>
                  <a:srgbClr val="1E293B"/>
                </a:solidFill>
                <a:latin typeface="Arial"/>
              </a:rPr>
              <a:t>The UI flags missing skills (e.g. AWS, UI/UX Design), guiding teams to invite complementary connections before bidding.</a:t>
            </a:r>
          </a:p>
        </p:txBody>
      </p:sp>
      <p:sp>
        <p:nvSpPr>
          <p:cNvPr id="10" name="Rounded Rectangle 9"/>
          <p:cNvSpPr/>
          <p:nvPr/>
        </p:nvSpPr>
        <p:spPr>
          <a:xfrm>
            <a:off x="6629400" y="1325880"/>
            <a:ext cx="482803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63040"/>
            <a:ext cx="455371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Algorithm 1 Flowchart</a:t>
            </a:r>
          </a:p>
          <a:p>
            <a:pPr>
              <a:spcBef>
                <a:spcPts val="200"/>
              </a:spcBef>
            </a:pPr>
            <a:r>
              <a:rPr sz="950">
                <a:solidFill>
                  <a:srgbClr val="64748B"/>
                </a:solidFill>
                <a:latin typeface="Arial"/>
              </a:rPr>
              <a:t>Figure 3.14 from Project Report</a:t>
            </a:r>
          </a:p>
        </p:txBody>
      </p:sp>
      <p:pic>
        <p:nvPicPr>
          <p:cNvPr id="12" name="Picture 11" descr="dd998406e5412210e99ee066101cfebabc6efcc8.png"/>
          <p:cNvPicPr>
            <a:picLocks noChangeAspect="1"/>
          </p:cNvPicPr>
          <p:nvPr/>
        </p:nvPicPr>
        <p:blipFill>
          <a:blip r:embed="rId2"/>
          <a:stretch>
            <a:fillRect/>
          </a:stretch>
        </p:blipFill>
        <p:spPr>
          <a:xfrm>
            <a:off x="6766560" y="1965960"/>
            <a:ext cx="4526280" cy="402336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LIFECYCLE GOVERNANCE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Project Lifecycle Management</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14 / 25</a:t>
            </a:r>
          </a:p>
        </p:txBody>
      </p:sp>
      <p:sp>
        <p:nvSpPr>
          <p:cNvPr id="7" name="Rounded Rectangle 6"/>
          <p:cNvSpPr/>
          <p:nvPr/>
        </p:nvSpPr>
        <p:spPr>
          <a:xfrm>
            <a:off x="731520"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Project &amp; Invitation Lifecycles</a:t>
            </a:r>
          </a:p>
          <a:p>
            <a:pPr>
              <a:spcBef>
                <a:spcPts val="200"/>
              </a:spcBef>
            </a:pPr>
            <a:r>
              <a:rPr sz="950">
                <a:solidFill>
                  <a:srgbClr val="64748B"/>
                </a:solidFill>
                <a:latin typeface="Arial"/>
              </a:rPr>
              <a:t>Figure 3.11 from Project Report</a:t>
            </a:r>
          </a:p>
        </p:txBody>
      </p:sp>
      <p:pic>
        <p:nvPicPr>
          <p:cNvPr id="9" name="Picture 8" descr="image3.png"/>
          <p:cNvPicPr>
            <a:picLocks noChangeAspect="1"/>
          </p:cNvPicPr>
          <p:nvPr/>
        </p:nvPicPr>
        <p:blipFill>
          <a:blip r:embed="rId2"/>
          <a:stretch>
            <a:fillRect/>
          </a:stretch>
        </p:blipFill>
        <p:spPr>
          <a:xfrm>
            <a:off x="868680" y="2011680"/>
            <a:ext cx="4983480" cy="3931920"/>
          </a:xfrm>
          <a:prstGeom prst="rect">
            <a:avLst/>
          </a:prstGeom>
        </p:spPr>
      </p:pic>
      <p:sp>
        <p:nvSpPr>
          <p:cNvPr id="10" name="Rounded Rectangle 9"/>
          <p:cNvSpPr/>
          <p:nvPr/>
        </p:nvSpPr>
        <p:spPr>
          <a:xfrm>
            <a:off x="6199632"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463040"/>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Lifecycle Rules &amp; Algorithm 3</a:t>
            </a:r>
          </a:p>
          <a:p>
            <a:pPr>
              <a:spcBef>
                <a:spcPts val="200"/>
              </a:spcBef>
            </a:pPr>
            <a:r>
              <a:rPr sz="950">
                <a:solidFill>
                  <a:srgbClr val="64748B"/>
                </a:solidFill>
                <a:latin typeface="Arial"/>
              </a:rPr>
              <a:t>Deterministic State Progression</a:t>
            </a:r>
          </a:p>
        </p:txBody>
      </p:sp>
      <p:sp>
        <p:nvSpPr>
          <p:cNvPr id="12" name="TextBox 11"/>
          <p:cNvSpPr txBox="1"/>
          <p:nvPr/>
        </p:nvSpPr>
        <p:spPr>
          <a:xfrm>
            <a:off x="6336792" y="1965960"/>
            <a:ext cx="4983480"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State 1: Open: </a:t>
            </a:r>
            <a:r>
              <a:rPr sz="1050">
                <a:solidFill>
                  <a:srgbClr val="1E293B"/>
                </a:solidFill>
                <a:latin typeface="Arial"/>
              </a:rPr>
              <a:t>Created exclusively by authenticated clients; developers browse listings; client sends invitations to candidates or team batches.</a:t>
            </a:r>
          </a:p>
          <a:p>
            <a:pPr>
              <a:spcBef>
                <a:spcPts val="350"/>
              </a:spcBef>
              <a:spcAft>
                <a:spcPts val="200"/>
              </a:spcAft>
            </a:pPr>
            <a:r>
              <a:rPr b="1" sz="1050">
                <a:solidFill>
                  <a:srgbClr val="0D9488"/>
                </a:solidFill>
                <a:latin typeface="Arial"/>
              </a:rPr>
              <a:t>▸ </a:t>
            </a:r>
            <a:r>
              <a:rPr b="1" sz="1050">
                <a:solidFill>
                  <a:srgbClr val="0D9488"/>
                </a:solidFill>
                <a:latin typeface="Arial"/>
              </a:rPr>
              <a:t>State 2: In Progress: </a:t>
            </a:r>
            <a:r>
              <a:rPr sz="1050">
                <a:solidFill>
                  <a:srgbClr val="1E293B"/>
                </a:solidFill>
                <a:latin typeface="Arial"/>
              </a:rPr>
              <a:t>Transitioned via Algorithm 3: client issues invitation → developer explicitly accepts → client confirms assignment.</a:t>
            </a:r>
          </a:p>
          <a:p>
            <a:pPr>
              <a:spcBef>
                <a:spcPts val="350"/>
              </a:spcBef>
              <a:spcAft>
                <a:spcPts val="200"/>
              </a:spcAft>
            </a:pPr>
            <a:r>
              <a:rPr b="1" sz="1050">
                <a:solidFill>
                  <a:srgbClr val="0D9488"/>
                </a:solidFill>
                <a:latin typeface="Arial"/>
              </a:rPr>
              <a:t>▸ </a:t>
            </a:r>
            <a:r>
              <a:rPr b="1" sz="1050">
                <a:solidFill>
                  <a:srgbClr val="0D9488"/>
                </a:solidFill>
                <a:latin typeface="Arial"/>
              </a:rPr>
              <a:t>State 3: Completed: </a:t>
            </a:r>
            <a:r>
              <a:rPr sz="1050">
                <a:solidFill>
                  <a:srgbClr val="1E293B"/>
                </a:solidFill>
                <a:latin typeface="Arial"/>
              </a:rPr>
              <a:t>Client marks deliverables approved. This transition unlocks two-way rating eligibility in the database.</a:t>
            </a:r>
          </a:p>
          <a:p>
            <a:pPr>
              <a:spcBef>
                <a:spcPts val="350"/>
              </a:spcBef>
              <a:spcAft>
                <a:spcPts val="200"/>
              </a:spcAft>
            </a:pPr>
            <a:r>
              <a:rPr b="1" sz="1050">
                <a:solidFill>
                  <a:srgbClr val="0D9488"/>
                </a:solidFill>
                <a:latin typeface="Arial"/>
              </a:rPr>
              <a:t>▸ </a:t>
            </a:r>
            <a:r>
              <a:rPr b="1" sz="1050">
                <a:solidFill>
                  <a:srgbClr val="0D9488"/>
                </a:solidFill>
                <a:latin typeface="Arial"/>
              </a:rPr>
              <a:t>State 4: Cancelled: </a:t>
            </a:r>
            <a:r>
              <a:rPr sz="1050">
                <a:solidFill>
                  <a:srgbClr val="1E293B"/>
                </a:solidFill>
                <a:latin typeface="Arial"/>
              </a:rPr>
              <a:t>Client aborts engagement prior to completion; ratings are permanently disabled to prevent review bombing.</a:t>
            </a:r>
          </a:p>
          <a:p>
            <a:pPr>
              <a:spcBef>
                <a:spcPts val="350"/>
              </a:spcBef>
              <a:spcAft>
                <a:spcPts val="200"/>
              </a:spcAft>
            </a:pPr>
            <a:r>
              <a:rPr b="1" sz="1050">
                <a:solidFill>
                  <a:srgbClr val="0D9488"/>
                </a:solidFill>
                <a:latin typeface="Arial"/>
              </a:rPr>
              <a:t>▸ </a:t>
            </a:r>
            <a:r>
              <a:rPr b="1" sz="1050">
                <a:solidFill>
                  <a:srgbClr val="0D9488"/>
                </a:solidFill>
                <a:latin typeface="Arial"/>
              </a:rPr>
              <a:t>Client-Only Posting Trigger: </a:t>
            </a:r>
            <a:r>
              <a:rPr sz="1050">
                <a:solidFill>
                  <a:srgbClr val="1E293B"/>
                </a:solidFill>
                <a:latin typeface="Arial"/>
              </a:rPr>
              <a:t>PostgreSQL BEFORE trigger rejects any project INSERT where the author does not hold the 'client' role.</a:t>
            </a:r>
          </a:p>
          <a:p>
            <a:pPr>
              <a:spcBef>
                <a:spcPts val="350"/>
              </a:spcBef>
              <a:spcAft>
                <a:spcPts val="200"/>
              </a:spcAft>
            </a:pPr>
            <a:r>
              <a:rPr b="1" sz="1050">
                <a:solidFill>
                  <a:srgbClr val="0D9488"/>
                </a:solidFill>
                <a:latin typeface="Arial"/>
              </a:rPr>
              <a:t>▸ </a:t>
            </a:r>
            <a:r>
              <a:rPr b="1" sz="1050">
                <a:solidFill>
                  <a:srgbClr val="0D9488"/>
                </a:solidFill>
                <a:latin typeface="Arial"/>
              </a:rPr>
              <a:t>Anti-Circumvention Rule: </a:t>
            </a:r>
            <a:r>
              <a:rPr sz="1050">
                <a:solidFill>
                  <a:srgbClr val="1E293B"/>
                </a:solidFill>
                <a:latin typeface="Arial"/>
              </a:rPr>
              <a:t>A client cannot directly assign a developer without their explicit in-app consent via accepted project invitation.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CYBERSECURITY ARCHITECTURE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Security Model: PostgreSQL Row-Level Security</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15 / 25</a:t>
            </a:r>
          </a:p>
        </p:txBody>
      </p:sp>
      <p:sp>
        <p:nvSpPr>
          <p:cNvPr id="7" name="Rounded Rectangle 6"/>
          <p:cNvSpPr/>
          <p:nvPr/>
        </p:nvSpPr>
        <p:spPr>
          <a:xfrm>
            <a:off x="731520" y="1325880"/>
            <a:ext cx="33375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39"/>
            <a:ext cx="306324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Row-Level Security (RLS)</a:t>
            </a:r>
          </a:p>
          <a:p>
            <a:pPr>
              <a:spcBef>
                <a:spcPts val="200"/>
              </a:spcBef>
            </a:pPr>
            <a:r>
              <a:rPr sz="950">
                <a:solidFill>
                  <a:srgbClr val="64748B"/>
                </a:solidFill>
                <a:latin typeface="Arial"/>
              </a:rPr>
              <a:t>Policy Enforcement on All 12 Tables</a:t>
            </a:r>
          </a:p>
        </p:txBody>
      </p:sp>
      <p:sp>
        <p:nvSpPr>
          <p:cNvPr id="9" name="TextBox 8"/>
          <p:cNvSpPr txBox="1"/>
          <p:nvPr/>
        </p:nvSpPr>
        <p:spPr>
          <a:xfrm>
            <a:off x="868680" y="2148840"/>
            <a:ext cx="306324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Tenant Isolation: </a:t>
            </a:r>
            <a:r>
              <a:rPr sz="1000">
                <a:solidFill>
                  <a:srgbClr val="1E293B"/>
                </a:solidFill>
                <a:latin typeface="Arial"/>
              </a:rPr>
              <a:t>auth.uid() = user_id filter ensures private profile settings, notifications, and batches are visible only to owners.</a:t>
            </a:r>
          </a:p>
          <a:p>
            <a:pPr>
              <a:spcBef>
                <a:spcPts val="350"/>
              </a:spcBef>
              <a:spcAft>
                <a:spcPts val="200"/>
              </a:spcAft>
            </a:pPr>
            <a:r>
              <a:rPr b="1" sz="1000">
                <a:solidFill>
                  <a:srgbClr val="0D9488"/>
                </a:solidFill>
                <a:latin typeface="Arial"/>
              </a:rPr>
              <a:t>▸ </a:t>
            </a:r>
            <a:r>
              <a:rPr b="1" sz="1000">
                <a:solidFill>
                  <a:srgbClr val="0D9488"/>
                </a:solidFill>
                <a:latin typeface="Arial"/>
              </a:rPr>
              <a:t>Role Verification: </a:t>
            </a:r>
            <a:r>
              <a:rPr sz="1000">
                <a:solidFill>
                  <a:srgbClr val="1E293B"/>
                </a:solidFill>
                <a:latin typeface="Arial"/>
              </a:rPr>
              <a:t>has_role(auth.uid(), 'client') ensures developers cannot post projects or forge client invitations.</a:t>
            </a:r>
          </a:p>
          <a:p>
            <a:pPr>
              <a:spcBef>
                <a:spcPts val="350"/>
              </a:spcBef>
              <a:spcAft>
                <a:spcPts val="200"/>
              </a:spcAft>
            </a:pPr>
            <a:r>
              <a:rPr b="1" sz="1000">
                <a:solidFill>
                  <a:srgbClr val="0D9488"/>
                </a:solidFill>
                <a:latin typeface="Arial"/>
              </a:rPr>
              <a:t>▸ </a:t>
            </a:r>
            <a:r>
              <a:rPr b="1" sz="1000">
                <a:solidFill>
                  <a:srgbClr val="0D9488"/>
                </a:solidFill>
                <a:latin typeface="Arial"/>
              </a:rPr>
              <a:t>Zero Anonymous Writes: </a:t>
            </a:r>
            <a:r>
              <a:rPr sz="1000">
                <a:solidFill>
                  <a:srgbClr val="1E293B"/>
                </a:solidFill>
                <a:latin typeface="Arial"/>
              </a:rPr>
              <a:t>Unauthenticated requests are strictly restricted to reading public profiles and open projects.</a:t>
            </a:r>
          </a:p>
        </p:txBody>
      </p:sp>
      <p:sp>
        <p:nvSpPr>
          <p:cNvPr id="10" name="Rounded Rectangle 9"/>
          <p:cNvSpPr/>
          <p:nvPr/>
        </p:nvSpPr>
        <p:spPr>
          <a:xfrm>
            <a:off x="4425696" y="1325880"/>
            <a:ext cx="33375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463039"/>
            <a:ext cx="306324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Security-Definer RPCs</a:t>
            </a:r>
          </a:p>
          <a:p>
            <a:pPr>
              <a:spcBef>
                <a:spcPts val="200"/>
              </a:spcBef>
            </a:pPr>
            <a:r>
              <a:rPr sz="950">
                <a:solidFill>
                  <a:srgbClr val="64748B"/>
                </a:solidFill>
                <a:latin typeface="Arial"/>
              </a:rPr>
              <a:t>Eliminating Infinite RLS Recursion</a:t>
            </a:r>
          </a:p>
        </p:txBody>
      </p:sp>
      <p:sp>
        <p:nvSpPr>
          <p:cNvPr id="12" name="TextBox 11"/>
          <p:cNvSpPr txBox="1"/>
          <p:nvPr/>
        </p:nvSpPr>
        <p:spPr>
          <a:xfrm>
            <a:off x="4562856" y="2148840"/>
            <a:ext cx="306324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The Challenge: </a:t>
            </a:r>
            <a:r>
              <a:rPr sz="1000">
                <a:solidFill>
                  <a:srgbClr val="1E293B"/>
                </a:solidFill>
                <a:latin typeface="Arial"/>
              </a:rPr>
              <a:t>Cross-table RLS policies evaluating user_roles or connections trigger infinite recursive query loops in PostgreSQL.</a:t>
            </a:r>
          </a:p>
          <a:p>
            <a:pPr>
              <a:spcBef>
                <a:spcPts val="350"/>
              </a:spcBef>
              <a:spcAft>
                <a:spcPts val="200"/>
              </a:spcAft>
            </a:pPr>
            <a:r>
              <a:rPr b="1" sz="1000">
                <a:solidFill>
                  <a:srgbClr val="0D9488"/>
                </a:solidFill>
                <a:latin typeface="Arial"/>
              </a:rPr>
              <a:t>▸ </a:t>
            </a:r>
            <a:r>
              <a:rPr b="1" sz="1000">
                <a:solidFill>
                  <a:srgbClr val="0D9488"/>
                </a:solidFill>
                <a:latin typeface="Arial"/>
              </a:rPr>
              <a:t>The Fix: </a:t>
            </a:r>
            <a:r>
              <a:rPr sz="1000">
                <a:solidFill>
                  <a:srgbClr val="1E293B"/>
                </a:solidFill>
                <a:latin typeface="Arial"/>
              </a:rPr>
              <a:t>Security-definer helper functions execute with owner privilege while asserting caller session token.</a:t>
            </a:r>
          </a:p>
          <a:p>
            <a:pPr>
              <a:spcBef>
                <a:spcPts val="350"/>
              </a:spcBef>
              <a:spcAft>
                <a:spcPts val="200"/>
              </a:spcAft>
            </a:pPr>
            <a:r>
              <a:rPr b="1" sz="1000">
                <a:solidFill>
                  <a:srgbClr val="0D9488"/>
                </a:solidFill>
                <a:latin typeface="Arial"/>
              </a:rPr>
              <a:t>▸ </a:t>
            </a:r>
            <a:r>
              <a:rPr b="1" sz="1000">
                <a:solidFill>
                  <a:srgbClr val="0D9488"/>
                </a:solidFill>
                <a:latin typeface="Arial"/>
              </a:rPr>
              <a:t>Core Functions: </a:t>
            </a:r>
            <a:r>
              <a:rPr sz="1000">
                <a:solidFill>
                  <a:srgbClr val="1E293B"/>
                </a:solidFill>
                <a:latin typeface="Arial"/>
              </a:rPr>
              <a:t>has_role(), mark_messages_read(), get_leaderboard(), and create_notification().</a:t>
            </a:r>
          </a:p>
        </p:txBody>
      </p:sp>
      <p:sp>
        <p:nvSpPr>
          <p:cNvPr id="13" name="Rounded Rectangle 12"/>
          <p:cNvSpPr/>
          <p:nvPr/>
        </p:nvSpPr>
        <p:spPr>
          <a:xfrm>
            <a:off x="8119872" y="1325880"/>
            <a:ext cx="33375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463039"/>
            <a:ext cx="3063240" cy="59436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Threat Mitigation Matrix</a:t>
            </a:r>
          </a:p>
          <a:p>
            <a:pPr>
              <a:spcBef>
                <a:spcPts val="200"/>
              </a:spcBef>
            </a:pPr>
            <a:r>
              <a:rPr sz="950">
                <a:solidFill>
                  <a:srgbClr val="64748B"/>
                </a:solidFill>
                <a:latin typeface="Arial"/>
              </a:rPr>
              <a:t>Table 3.16 Threat Modeling</a:t>
            </a:r>
          </a:p>
        </p:txBody>
      </p:sp>
      <p:sp>
        <p:nvSpPr>
          <p:cNvPr id="15" name="TextBox 14"/>
          <p:cNvSpPr txBox="1"/>
          <p:nvPr/>
        </p:nvSpPr>
        <p:spPr>
          <a:xfrm>
            <a:off x="8257032" y="2148840"/>
            <a:ext cx="3063240" cy="3840480"/>
          </a:xfrm>
          <a:prstGeom prst="rect">
            <a:avLst/>
          </a:prstGeom>
          <a:noFill/>
        </p:spPr>
        <p:txBody>
          <a:bodyPr wrap="square" lIns="0" tIns="0" rIns="0" bIns="0">
            <a:spAutoFit/>
          </a:bodyPr>
          <a:lstStyle/>
          <a:p/>
          <a:p>
            <a:pPr>
              <a:spcBef>
                <a:spcPts val="350"/>
              </a:spcBef>
              <a:spcAft>
                <a:spcPts val="200"/>
              </a:spcAft>
            </a:pPr>
            <a:r>
              <a:rPr b="1" sz="1000">
                <a:solidFill>
                  <a:srgbClr val="0D9488"/>
                </a:solidFill>
                <a:latin typeface="Arial"/>
              </a:rPr>
              <a:t>▸ </a:t>
            </a:r>
            <a:r>
              <a:rPr b="1" sz="1000">
                <a:solidFill>
                  <a:srgbClr val="0D9488"/>
                </a:solidFill>
                <a:latin typeface="Arial"/>
              </a:rPr>
              <a:t>Privilege Escalation: </a:t>
            </a:r>
            <a:r>
              <a:rPr sz="1000">
                <a:solidFill>
                  <a:srgbClr val="1E293B"/>
                </a:solidFill>
                <a:latin typeface="Arial"/>
              </a:rPr>
              <a:t>Roles stored in dedicated user_roles table rather than mutable profile columns; prevents self-promotion.</a:t>
            </a:r>
          </a:p>
          <a:p>
            <a:pPr>
              <a:spcBef>
                <a:spcPts val="350"/>
              </a:spcBef>
              <a:spcAft>
                <a:spcPts val="200"/>
              </a:spcAft>
            </a:pPr>
            <a:r>
              <a:rPr b="1" sz="1000">
                <a:solidFill>
                  <a:srgbClr val="0D9488"/>
                </a:solidFill>
                <a:latin typeface="Arial"/>
              </a:rPr>
              <a:t>▸ </a:t>
            </a:r>
            <a:r>
              <a:rPr b="1" sz="1000">
                <a:solidFill>
                  <a:srgbClr val="0D9488"/>
                </a:solidFill>
                <a:latin typeface="Arial"/>
              </a:rPr>
              <a:t>Data Snooping: </a:t>
            </a:r>
            <a:r>
              <a:rPr sz="1000">
                <a:solidFill>
                  <a:srgbClr val="1E293B"/>
                </a:solidFill>
                <a:latin typeface="Arial"/>
              </a:rPr>
              <a:t>Messages and chat threads restricted to accepted connection pairs via composite RLS policies.</a:t>
            </a:r>
          </a:p>
          <a:p>
            <a:pPr>
              <a:spcBef>
                <a:spcPts val="350"/>
              </a:spcBef>
              <a:spcAft>
                <a:spcPts val="200"/>
              </a:spcAft>
            </a:pPr>
            <a:r>
              <a:rPr b="1" sz="1000">
                <a:solidFill>
                  <a:srgbClr val="0D9488"/>
                </a:solidFill>
                <a:latin typeface="Arial"/>
              </a:rPr>
              <a:t>▸ </a:t>
            </a:r>
            <a:r>
              <a:rPr b="1" sz="1000">
                <a:solidFill>
                  <a:srgbClr val="0D9488"/>
                </a:solidFill>
                <a:latin typeface="Arial"/>
              </a:rPr>
              <a:t>Review Forgery: </a:t>
            </a:r>
            <a:r>
              <a:rPr sz="1000">
                <a:solidFill>
                  <a:srgbClr val="1E293B"/>
                </a:solidFill>
                <a:latin typeface="Arial"/>
              </a:rPr>
              <a:t>Rating inserts verified by checking project completed status and counterpart identity.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TRUST ARCHITECTURE</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Two-Way Ratings &amp; Reputation Integrity</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16 / 25</a:t>
            </a:r>
          </a:p>
        </p:txBody>
      </p:sp>
      <p:sp>
        <p:nvSpPr>
          <p:cNvPr id="7" name="Rounded Rectangle 6"/>
          <p:cNvSpPr/>
          <p:nvPr/>
        </p:nvSpPr>
        <p:spPr>
          <a:xfrm>
            <a:off x="731520" y="132588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84632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Rating Submission &amp; Validation</a:t>
            </a:r>
          </a:p>
          <a:p>
            <a:pPr>
              <a:spcBef>
                <a:spcPts val="200"/>
              </a:spcBef>
            </a:pPr>
            <a:r>
              <a:rPr sz="950">
                <a:solidFill>
                  <a:srgbClr val="64748B"/>
                </a:solidFill>
                <a:latin typeface="Arial"/>
              </a:rPr>
              <a:t>Figure 3.15 from Project Report</a:t>
            </a:r>
          </a:p>
        </p:txBody>
      </p:sp>
      <p:pic>
        <p:nvPicPr>
          <p:cNvPr id="9" name="Picture 8" descr="544d2c927c30a911c0e1d496d83eece308d9401b.png"/>
          <p:cNvPicPr>
            <a:picLocks noChangeAspect="1"/>
          </p:cNvPicPr>
          <p:nvPr/>
        </p:nvPicPr>
        <p:blipFill>
          <a:blip r:embed="rId2"/>
          <a:stretch>
            <a:fillRect/>
          </a:stretch>
        </p:blipFill>
        <p:spPr>
          <a:xfrm>
            <a:off x="868680" y="2011680"/>
            <a:ext cx="4846320" cy="3931920"/>
          </a:xfrm>
          <a:prstGeom prst="rect">
            <a:avLst/>
          </a:prstGeom>
        </p:spPr>
      </p:pic>
      <p:sp>
        <p:nvSpPr>
          <p:cNvPr id="10" name="Rounded Rectangle 9"/>
          <p:cNvSpPr/>
          <p:nvPr/>
        </p:nvSpPr>
        <p:spPr>
          <a:xfrm>
            <a:off x="6062472" y="1325880"/>
            <a:ext cx="53949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9632" y="1463040"/>
            <a:ext cx="512064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The 5 Pillars of Rating Integrity</a:t>
            </a:r>
          </a:p>
          <a:p>
            <a:pPr>
              <a:spcBef>
                <a:spcPts val="200"/>
              </a:spcBef>
            </a:pPr>
            <a:r>
              <a:rPr sz="950">
                <a:solidFill>
                  <a:srgbClr val="64748B"/>
                </a:solidFill>
                <a:latin typeface="Arial"/>
              </a:rPr>
              <a:t>Preventing Grade Inflation &amp; Fake Reviews</a:t>
            </a:r>
          </a:p>
        </p:txBody>
      </p:sp>
      <p:sp>
        <p:nvSpPr>
          <p:cNvPr id="12" name="TextBox 11"/>
          <p:cNvSpPr txBox="1"/>
          <p:nvPr/>
        </p:nvSpPr>
        <p:spPr>
          <a:xfrm>
            <a:off x="6199632" y="1965960"/>
            <a:ext cx="5120640"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1. Completion-Gated Submission: </a:t>
            </a:r>
            <a:r>
              <a:rPr sz="1050">
                <a:solidFill>
                  <a:srgbClr val="1E293B"/>
                </a:solidFill>
                <a:latin typeface="Arial"/>
              </a:rPr>
              <a:t>RLS policies strictly assert projects.status = 'completed'. Ratings cannot be submitted for open or in-progress projects.</a:t>
            </a:r>
          </a:p>
          <a:p>
            <a:pPr>
              <a:spcBef>
                <a:spcPts val="350"/>
              </a:spcBef>
              <a:spcAft>
                <a:spcPts val="200"/>
              </a:spcAft>
            </a:pPr>
            <a:r>
              <a:rPr b="1" sz="1050">
                <a:solidFill>
                  <a:srgbClr val="0D9488"/>
                </a:solidFill>
                <a:latin typeface="Arial"/>
              </a:rPr>
              <a:t>▸ </a:t>
            </a:r>
            <a:r>
              <a:rPr b="1" sz="1050">
                <a:solidFill>
                  <a:srgbClr val="0D9488"/>
                </a:solidFill>
                <a:latin typeface="Arial"/>
              </a:rPr>
              <a:t>2. Counterpart Verification: </a:t>
            </a:r>
            <a:r>
              <a:rPr sz="1050">
                <a:solidFill>
                  <a:srgbClr val="1E293B"/>
                </a:solidFill>
                <a:latin typeface="Arial"/>
              </a:rPr>
              <a:t>A client can only rate their assigned developer; a developer can only rate their project client. Third-party review insertion is blocked.</a:t>
            </a:r>
          </a:p>
          <a:p>
            <a:pPr>
              <a:spcBef>
                <a:spcPts val="350"/>
              </a:spcBef>
              <a:spcAft>
                <a:spcPts val="200"/>
              </a:spcAft>
            </a:pPr>
            <a:r>
              <a:rPr b="1" sz="1050">
                <a:solidFill>
                  <a:srgbClr val="0D9488"/>
                </a:solidFill>
                <a:latin typeface="Arial"/>
              </a:rPr>
              <a:t>▸ </a:t>
            </a:r>
            <a:r>
              <a:rPr b="1" sz="1050">
                <a:solidFill>
                  <a:srgbClr val="0D9488"/>
                </a:solidFill>
                <a:latin typeface="Arial"/>
              </a:rPr>
              <a:t>3. Exactly One Rating (Idempotency): </a:t>
            </a:r>
            <a:r>
              <a:rPr sz="1050">
                <a:solidFill>
                  <a:srgbClr val="1E293B"/>
                </a:solidFill>
                <a:latin typeface="Arial"/>
              </a:rPr>
              <a:t>UNIQUE(project_id, rater_id) constraints ensure neither participant can submit multiple reviews or artificially manipulate scores.</a:t>
            </a:r>
          </a:p>
          <a:p>
            <a:pPr>
              <a:spcBef>
                <a:spcPts val="350"/>
              </a:spcBef>
              <a:spcAft>
                <a:spcPts val="200"/>
              </a:spcAft>
            </a:pPr>
            <a:r>
              <a:rPr b="1" sz="1050">
                <a:solidFill>
                  <a:srgbClr val="0D9488"/>
                </a:solidFill>
                <a:latin typeface="Arial"/>
              </a:rPr>
              <a:t>▸ </a:t>
            </a:r>
            <a:r>
              <a:rPr b="1" sz="1050">
                <a:solidFill>
                  <a:srgbClr val="0D9488"/>
                </a:solidFill>
                <a:latin typeface="Arial"/>
              </a:rPr>
              <a:t>4. Dual-Perspective Evaluation: </a:t>
            </a:r>
            <a:r>
              <a:rPr sz="1050">
                <a:solidFill>
                  <a:srgbClr val="1E293B"/>
                </a:solidFill>
                <a:latin typeface="Arial"/>
              </a:rPr>
              <a:t>Captures both Project-level satisfaction (project_ratings) and Peer/Client interpersonal feedback (user_ratings).</a:t>
            </a:r>
          </a:p>
          <a:p>
            <a:pPr>
              <a:spcBef>
                <a:spcPts val="350"/>
              </a:spcBef>
              <a:spcAft>
                <a:spcPts val="200"/>
              </a:spcAft>
            </a:pPr>
            <a:r>
              <a:rPr b="1" sz="1050">
                <a:solidFill>
                  <a:srgbClr val="0D9488"/>
                </a:solidFill>
                <a:latin typeface="Arial"/>
              </a:rPr>
              <a:t>▸ </a:t>
            </a:r>
            <a:r>
              <a:rPr b="1" sz="1050">
                <a:solidFill>
                  <a:srgbClr val="0D9488"/>
                </a:solidFill>
                <a:latin typeface="Arial"/>
              </a:rPr>
              <a:t>5. Immutability Guarantee: </a:t>
            </a:r>
            <a:r>
              <a:rPr sz="1050">
                <a:solidFill>
                  <a:srgbClr val="1E293B"/>
                </a:solidFill>
                <a:latin typeface="Arial"/>
              </a:rPr>
              <a:t>Once submitted, ratings cannot be modified or deleted via client APIs, preventing coercive renegotiation or retaliatory score alterations.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NOTIFICATION SYSTEM</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Automated Event-Driven Notification Pipeline</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17 / 25</a:t>
            </a:r>
          </a:p>
        </p:txBody>
      </p:sp>
      <p:sp>
        <p:nvSpPr>
          <p:cNvPr id="7" name="Rounded Rectangle 6"/>
          <p:cNvSpPr/>
          <p:nvPr/>
        </p:nvSpPr>
        <p:spPr>
          <a:xfrm>
            <a:off x="731520" y="1325880"/>
            <a:ext cx="10728655"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17320"/>
            <a:ext cx="10424160" cy="41148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Database Trigger to User Interface Pipeline</a:t>
            </a:r>
          </a:p>
          <a:p>
            <a:pPr>
              <a:spcBef>
                <a:spcPts val="200"/>
              </a:spcBef>
            </a:pPr>
            <a:r>
              <a:rPr sz="950">
                <a:solidFill>
                  <a:srgbClr val="64748B"/>
                </a:solidFill>
                <a:latin typeface="Arial"/>
              </a:rPr>
              <a:t>Figure 3.16 from Project Report</a:t>
            </a:r>
          </a:p>
        </p:txBody>
      </p:sp>
      <p:pic>
        <p:nvPicPr>
          <p:cNvPr id="9" name="Picture 8" descr="image5.png"/>
          <p:cNvPicPr>
            <a:picLocks noChangeAspect="1"/>
          </p:cNvPicPr>
          <p:nvPr/>
        </p:nvPicPr>
        <p:blipFill>
          <a:blip r:embed="rId2"/>
          <a:stretch>
            <a:fillRect/>
          </a:stretch>
        </p:blipFill>
        <p:spPr>
          <a:xfrm>
            <a:off x="868680" y="1874519"/>
            <a:ext cx="10424160" cy="1463040"/>
          </a:xfrm>
          <a:prstGeom prst="rect">
            <a:avLst/>
          </a:prstGeom>
        </p:spPr>
      </p:pic>
      <p:sp>
        <p:nvSpPr>
          <p:cNvPr id="10" name="Rounded Rectangle 9"/>
          <p:cNvSpPr/>
          <p:nvPr/>
        </p:nvSpPr>
        <p:spPr>
          <a:xfrm>
            <a:off x="731520" y="3566160"/>
            <a:ext cx="525780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75887"/>
            <a:ext cx="4983480" cy="41148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10 Relational Event Triggers</a:t>
            </a:r>
          </a:p>
          <a:p>
            <a:pPr>
              <a:spcBef>
                <a:spcPts val="200"/>
              </a:spcBef>
            </a:pPr>
            <a:r>
              <a:rPr sz="950">
                <a:solidFill>
                  <a:srgbClr val="64748B"/>
                </a:solidFill>
                <a:latin typeface="Arial"/>
              </a:rPr>
              <a:t>Table 3.21 from Project Report</a:t>
            </a:r>
          </a:p>
        </p:txBody>
      </p:sp>
      <p:sp>
        <p:nvSpPr>
          <p:cNvPr id="12" name="TextBox 11"/>
          <p:cNvSpPr txBox="1"/>
          <p:nvPr/>
        </p:nvSpPr>
        <p:spPr>
          <a:xfrm>
            <a:off x="868680" y="4114800"/>
            <a:ext cx="4983480" cy="219456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Connections: </a:t>
            </a:r>
            <a:r>
              <a:rPr sz="950">
                <a:solidFill>
                  <a:srgbClr val="1E293B"/>
                </a:solidFill>
                <a:latin typeface="Arial"/>
              </a:rPr>
              <a:t>request_received, request_accepted</a:t>
            </a:r>
          </a:p>
          <a:p>
            <a:pPr>
              <a:spcBef>
                <a:spcPts val="350"/>
              </a:spcBef>
              <a:spcAft>
                <a:spcPts val="200"/>
              </a:spcAft>
            </a:pPr>
            <a:r>
              <a:rPr b="1" sz="950">
                <a:solidFill>
                  <a:srgbClr val="0D9488"/>
                </a:solidFill>
                <a:latin typeface="Arial"/>
              </a:rPr>
              <a:t>▸ </a:t>
            </a:r>
            <a:r>
              <a:rPr b="1" sz="950">
                <a:solidFill>
                  <a:srgbClr val="0D9488"/>
                </a:solidFill>
                <a:latin typeface="Arial"/>
              </a:rPr>
              <a:t>Team Batches: </a:t>
            </a:r>
            <a:r>
              <a:rPr sz="950">
                <a:solidFill>
                  <a:srgbClr val="1E293B"/>
                </a:solidFill>
                <a:latin typeface="Arial"/>
              </a:rPr>
              <a:t>team_batch_added (when added to a collaborative squad)</a:t>
            </a:r>
          </a:p>
          <a:p>
            <a:pPr>
              <a:spcBef>
                <a:spcPts val="350"/>
              </a:spcBef>
              <a:spcAft>
                <a:spcPts val="200"/>
              </a:spcAft>
            </a:pPr>
            <a:r>
              <a:rPr b="1" sz="950">
                <a:solidFill>
                  <a:srgbClr val="0D9488"/>
                </a:solidFill>
                <a:latin typeface="Arial"/>
              </a:rPr>
              <a:t>▸ </a:t>
            </a:r>
            <a:r>
              <a:rPr b="1" sz="950">
                <a:solidFill>
                  <a:srgbClr val="0D9488"/>
                </a:solidFill>
                <a:latin typeface="Arial"/>
              </a:rPr>
              <a:t>Invitations: </a:t>
            </a:r>
            <a:r>
              <a:rPr sz="950">
                <a:solidFill>
                  <a:srgbClr val="1E293B"/>
                </a:solidFill>
                <a:latin typeface="Arial"/>
              </a:rPr>
              <a:t>project_invite_received, invite_accepted, invite_declined</a:t>
            </a:r>
          </a:p>
          <a:p>
            <a:pPr>
              <a:spcBef>
                <a:spcPts val="350"/>
              </a:spcBef>
              <a:spcAft>
                <a:spcPts val="200"/>
              </a:spcAft>
            </a:pPr>
            <a:r>
              <a:rPr b="1" sz="950">
                <a:solidFill>
                  <a:srgbClr val="0D9488"/>
                </a:solidFill>
                <a:latin typeface="Arial"/>
              </a:rPr>
              <a:t>▸ </a:t>
            </a:r>
            <a:r>
              <a:rPr b="1" sz="950">
                <a:solidFill>
                  <a:srgbClr val="0D9488"/>
                </a:solidFill>
                <a:latin typeface="Arial"/>
              </a:rPr>
              <a:t>Projects: </a:t>
            </a:r>
            <a:r>
              <a:rPr sz="950">
                <a:solidFill>
                  <a:srgbClr val="1E293B"/>
                </a:solidFill>
                <a:latin typeface="Arial"/>
              </a:rPr>
              <a:t>project_assigned, project_completed</a:t>
            </a:r>
          </a:p>
          <a:p>
            <a:pPr>
              <a:spcBef>
                <a:spcPts val="350"/>
              </a:spcBef>
              <a:spcAft>
                <a:spcPts val="200"/>
              </a:spcAft>
            </a:pPr>
            <a:r>
              <a:rPr b="1" sz="950">
                <a:solidFill>
                  <a:srgbClr val="0D9488"/>
                </a:solidFill>
                <a:latin typeface="Arial"/>
              </a:rPr>
              <a:t>▸ </a:t>
            </a:r>
            <a:r>
              <a:rPr b="1" sz="950">
                <a:solidFill>
                  <a:srgbClr val="0D9488"/>
                </a:solidFill>
                <a:latin typeface="Arial"/>
              </a:rPr>
              <a:t>Reputation: </a:t>
            </a:r>
            <a:r>
              <a:rPr sz="950">
                <a:solidFill>
                  <a:srgbClr val="1E293B"/>
                </a:solidFill>
                <a:latin typeface="Arial"/>
              </a:rPr>
              <a:t>rating_received (when a counterpart submits feedback)</a:t>
            </a:r>
          </a:p>
          <a:p>
            <a:pPr>
              <a:spcBef>
                <a:spcPts val="350"/>
              </a:spcBef>
              <a:spcAft>
                <a:spcPts val="200"/>
              </a:spcAft>
            </a:pPr>
            <a:r>
              <a:rPr b="1" sz="950">
                <a:solidFill>
                  <a:srgbClr val="0D9488"/>
                </a:solidFill>
                <a:latin typeface="Arial"/>
              </a:rPr>
              <a:t>▸ </a:t>
            </a:r>
            <a:r>
              <a:rPr b="1" sz="950">
                <a:solidFill>
                  <a:srgbClr val="0D9488"/>
                </a:solidFill>
                <a:latin typeface="Arial"/>
              </a:rPr>
              <a:t>Support: </a:t>
            </a:r>
            <a:r>
              <a:rPr sz="950">
                <a:solidFill>
                  <a:srgbClr val="1E293B"/>
                </a:solidFill>
                <a:latin typeface="Arial"/>
              </a:rPr>
              <a:t>ticket_status_updated (when support responds to an issue)</a:t>
            </a:r>
          </a:p>
        </p:txBody>
      </p:sp>
      <p:sp>
        <p:nvSpPr>
          <p:cNvPr id="13" name="Rounded Rectangle 12"/>
          <p:cNvSpPr/>
          <p:nvPr/>
        </p:nvSpPr>
        <p:spPr>
          <a:xfrm>
            <a:off x="6199632" y="3566160"/>
            <a:ext cx="5257800" cy="2834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3675887"/>
            <a:ext cx="4983480" cy="41148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Zero Client Forgery &amp; User Preferences</a:t>
            </a:r>
          </a:p>
          <a:p>
            <a:pPr>
              <a:spcBef>
                <a:spcPts val="200"/>
              </a:spcBef>
            </a:pPr>
            <a:r>
              <a:rPr sz="950">
                <a:solidFill>
                  <a:srgbClr val="64748B"/>
                </a:solidFill>
                <a:latin typeface="Arial"/>
              </a:rPr>
              <a:t>Trigger-Enforced Delivery</a:t>
            </a:r>
          </a:p>
        </p:txBody>
      </p:sp>
      <p:sp>
        <p:nvSpPr>
          <p:cNvPr id="15" name="TextBox 14"/>
          <p:cNvSpPr txBox="1"/>
          <p:nvPr/>
        </p:nvSpPr>
        <p:spPr>
          <a:xfrm>
            <a:off x="6336792" y="4114800"/>
            <a:ext cx="4983480" cy="21945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Zero-Forgery Guarantee: </a:t>
            </a:r>
            <a:r>
              <a:rPr sz="1050">
                <a:solidFill>
                  <a:srgbClr val="1E293B"/>
                </a:solidFill>
                <a:latin typeface="Arial"/>
              </a:rPr>
              <a:t>Client roles cannot INSERT or UPDATE notifications directly. Rows are generated exclusively by PostgreSQL AFTER triggers upon genuine database events.</a:t>
            </a:r>
          </a:p>
          <a:p>
            <a:pPr>
              <a:spcBef>
                <a:spcPts val="350"/>
              </a:spcBef>
              <a:spcAft>
                <a:spcPts val="200"/>
              </a:spcAft>
            </a:pPr>
            <a:r>
              <a:rPr b="1" sz="1050">
                <a:solidFill>
                  <a:srgbClr val="0D9488"/>
                </a:solidFill>
                <a:latin typeface="Arial"/>
              </a:rPr>
              <a:t>▸ </a:t>
            </a:r>
            <a:r>
              <a:rPr b="1" sz="1050">
                <a:solidFill>
                  <a:srgbClr val="0D9488"/>
                </a:solidFill>
                <a:latin typeface="Arial"/>
              </a:rPr>
              <a:t>Preference Checking: </a:t>
            </a:r>
            <a:r>
              <a:rPr sz="1050">
                <a:solidFill>
                  <a:srgbClr val="1E293B"/>
                </a:solidFill>
                <a:latin typeface="Arial"/>
              </a:rPr>
              <a:t>Trigger queries user_settings before row insertion; if in_app_notifs or specific event category is disabled, notification creation is silently suppressed.</a:t>
            </a:r>
          </a:p>
          <a:p>
            <a:pPr>
              <a:spcBef>
                <a:spcPts val="350"/>
              </a:spcBef>
              <a:spcAft>
                <a:spcPts val="200"/>
              </a:spcAft>
            </a:pPr>
            <a:r>
              <a:rPr b="1" sz="1050">
                <a:solidFill>
                  <a:srgbClr val="0D9488"/>
                </a:solidFill>
                <a:latin typeface="Arial"/>
              </a:rPr>
              <a:t>▸ </a:t>
            </a:r>
            <a:r>
              <a:rPr b="1" sz="1050">
                <a:solidFill>
                  <a:srgbClr val="0D9488"/>
                </a:solidFill>
                <a:latin typeface="Arial"/>
              </a:rPr>
              <a:t>Self-Trigger Filtering: </a:t>
            </a:r>
            <a:r>
              <a:rPr sz="1050">
                <a:solidFill>
                  <a:srgbClr val="1E293B"/>
                </a:solidFill>
                <a:latin typeface="Arial"/>
              </a:rPr>
              <a:t>The create_notification function automatically discards actions where actor_id == user_id, preventing self-notification noise.</a:t>
            </a:r>
          </a:p>
          <a:p>
            <a:pPr>
              <a:spcBef>
                <a:spcPts val="350"/>
              </a:spcBef>
              <a:spcAft>
                <a:spcPts val="200"/>
              </a:spcAft>
            </a:pPr>
            <a:r>
              <a:rPr b="1" sz="1050">
                <a:solidFill>
                  <a:srgbClr val="0D9488"/>
                </a:solidFill>
                <a:latin typeface="Arial"/>
              </a:rPr>
              <a:t>▸ </a:t>
            </a:r>
            <a:r>
              <a:rPr b="1" sz="1050">
                <a:solidFill>
                  <a:srgbClr val="0D9488"/>
                </a:solidFill>
                <a:latin typeface="Arial"/>
              </a:rPr>
              <a:t>Realtime Delivery: </a:t>
            </a:r>
            <a:r>
              <a:rPr sz="1050">
                <a:solidFill>
                  <a:srgbClr val="1E293B"/>
                </a:solidFill>
                <a:latin typeface="Arial"/>
              </a:rPr>
              <a:t>Supabase Realtime replicates inserts instantly over WebSockets to the header notification bell with sound and unread badge count.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REPUTATION MATHEMATICS</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Leaderboard Ranking: Mathematical Model</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18 / 25</a:t>
            </a:r>
          </a:p>
        </p:txBody>
      </p:sp>
      <p:sp>
        <p:nvSpPr>
          <p:cNvPr id="7" name="Rounded Rectangle 6"/>
          <p:cNvSpPr/>
          <p:nvPr/>
        </p:nvSpPr>
        <p:spPr>
          <a:xfrm>
            <a:off x="731520"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Algorithm 2: Ranking Mathematics</a:t>
            </a:r>
          </a:p>
          <a:p>
            <a:pPr>
              <a:spcBef>
                <a:spcPts val="200"/>
              </a:spcBef>
            </a:pPr>
            <a:r>
              <a:rPr sz="950">
                <a:solidFill>
                  <a:srgbClr val="64748B"/>
                </a:solidFill>
                <a:latin typeface="Arial"/>
              </a:rPr>
              <a:t>Database Function get_leaderboard</a:t>
            </a:r>
          </a:p>
        </p:txBody>
      </p:sp>
      <p:sp>
        <p:nvSpPr>
          <p:cNvPr id="9" name="TextBox 8"/>
          <p:cNvSpPr txBox="1"/>
          <p:nvPr/>
        </p:nvSpPr>
        <p:spPr>
          <a:xfrm>
            <a:off x="868680" y="1965960"/>
            <a:ext cx="4983480"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Mathematical Formula: </a:t>
            </a:r>
            <a:r>
              <a:rPr sz="1050">
                <a:solidFill>
                  <a:srgbClr val="1E293B"/>
                </a:solidFill>
                <a:latin typeface="Arial"/>
              </a:rPr>
              <a:t>Score(d) = 100 × C(d) + 20 × Σ Rating(r), where C(d) is verified completed projects and Rating(r) is client stars (1–5).</a:t>
            </a:r>
          </a:p>
          <a:p>
            <a:pPr>
              <a:spcBef>
                <a:spcPts val="350"/>
              </a:spcBef>
              <a:spcAft>
                <a:spcPts val="200"/>
              </a:spcAft>
            </a:pPr>
            <a:r>
              <a:rPr b="1" sz="1050">
                <a:solidFill>
                  <a:srgbClr val="0D9488"/>
                </a:solidFill>
                <a:latin typeface="Arial"/>
              </a:rPr>
              <a:t>▸ </a:t>
            </a:r>
            <a:r>
              <a:rPr b="1" sz="1050">
                <a:solidFill>
                  <a:srgbClr val="0D9488"/>
                </a:solidFill>
                <a:latin typeface="Arial"/>
              </a:rPr>
              <a:t>Completed 5-Star Value: </a:t>
            </a:r>
            <a:r>
              <a:rPr sz="1050">
                <a:solidFill>
                  <a:srgbClr val="1E293B"/>
                </a:solidFill>
                <a:latin typeface="Arial"/>
              </a:rPr>
              <a:t>A single 5-star completed project yields: 100 + (20 × 5) = 200 Points.</a:t>
            </a:r>
          </a:p>
          <a:p>
            <a:pPr>
              <a:spcBef>
                <a:spcPts val="350"/>
              </a:spcBef>
              <a:spcAft>
                <a:spcPts val="200"/>
              </a:spcAft>
            </a:pPr>
            <a:r>
              <a:rPr b="1" sz="1050">
                <a:solidFill>
                  <a:srgbClr val="0D9488"/>
                </a:solidFill>
                <a:latin typeface="Arial"/>
              </a:rPr>
              <a:t>▸ </a:t>
            </a:r>
            <a:r>
              <a:rPr b="1" sz="1050">
                <a:solidFill>
                  <a:srgbClr val="0D9488"/>
                </a:solidFill>
                <a:latin typeface="Arial"/>
              </a:rPr>
              <a:t>Zero-Baseline Principle: </a:t>
            </a:r>
            <a:r>
              <a:rPr sz="1050">
                <a:solidFill>
                  <a:srgbClr val="1E293B"/>
                </a:solidFill>
                <a:latin typeface="Arial"/>
              </a:rPr>
              <a:t>No synthetic 4.5 baseline ratings. Developers with zero completed projects remain unranked (Score = 0) until real work is delivered.</a:t>
            </a:r>
          </a:p>
          <a:p>
            <a:pPr>
              <a:spcBef>
                <a:spcPts val="350"/>
              </a:spcBef>
              <a:spcAft>
                <a:spcPts val="200"/>
              </a:spcAft>
            </a:pPr>
            <a:r>
              <a:rPr b="1" sz="1050">
                <a:solidFill>
                  <a:srgbClr val="0D9488"/>
                </a:solidFill>
                <a:latin typeface="Arial"/>
              </a:rPr>
              <a:t>▸ </a:t>
            </a:r>
            <a:r>
              <a:rPr b="1" sz="1050">
                <a:solidFill>
                  <a:srgbClr val="0D9488"/>
                </a:solidFill>
                <a:latin typeface="Arial"/>
              </a:rPr>
              <a:t>Deterministic Tie-Breaking: </a:t>
            </a:r>
            <a:r>
              <a:rPr sz="1050">
                <a:solidFill>
                  <a:srgbClr val="1E293B"/>
                </a:solidFill>
                <a:latin typeface="Arial"/>
              </a:rPr>
              <a:t>When scores tie, rank resolves sequentially by: Score ↓, Average Rating ↓, Review Count n ↓, Full Name ↑, User UUID ↑.</a:t>
            </a:r>
          </a:p>
          <a:p>
            <a:pPr>
              <a:spcBef>
                <a:spcPts val="350"/>
              </a:spcBef>
              <a:spcAft>
                <a:spcPts val="200"/>
              </a:spcAft>
            </a:pPr>
            <a:r>
              <a:rPr b="1" sz="1050">
                <a:solidFill>
                  <a:srgbClr val="0D9488"/>
                </a:solidFill>
                <a:latin typeface="Arial"/>
              </a:rPr>
              <a:t>▸ </a:t>
            </a:r>
            <a:r>
              <a:rPr b="1" sz="1050">
                <a:solidFill>
                  <a:srgbClr val="0D9488"/>
                </a:solidFill>
                <a:latin typeface="Arial"/>
              </a:rPr>
              <a:t>Dynamic Time Filtering: </a:t>
            </a:r>
            <a:r>
              <a:rPr sz="1050">
                <a:solidFill>
                  <a:srgbClr val="1E293B"/>
                </a:solidFill>
                <a:latin typeface="Arial"/>
              </a:rPr>
              <a:t>get_leaderboard(period_start) dynamically recalculates All-Time, Monthly, and Weekly rankings without stale cache anomalies.</a:t>
            </a:r>
          </a:p>
          <a:p>
            <a:pPr>
              <a:spcBef>
                <a:spcPts val="350"/>
              </a:spcBef>
              <a:spcAft>
                <a:spcPts val="200"/>
              </a:spcAft>
            </a:pPr>
            <a:r>
              <a:rPr b="1" sz="1050">
                <a:solidFill>
                  <a:srgbClr val="0D9488"/>
                </a:solidFill>
                <a:latin typeface="Arial"/>
              </a:rPr>
              <a:t>▸ </a:t>
            </a:r>
            <a:r>
              <a:rPr b="1" sz="1050">
                <a:solidFill>
                  <a:srgbClr val="0D9488"/>
                </a:solidFill>
                <a:latin typeface="Arial"/>
              </a:rPr>
              <a:t>Privacy Sovereignty: </a:t>
            </a:r>
            <a:r>
              <a:rPr sz="1050">
                <a:solidFill>
                  <a:srgbClr val="1E293B"/>
                </a:solidFill>
                <a:latin typeface="Arial"/>
              </a:rPr>
              <a:t>Developers can toggle show_on_leaderboard in user_settings, instantly excluding themselves from public competitive rankings.</a:t>
            </a:r>
          </a:p>
        </p:txBody>
      </p:sp>
      <p:sp>
        <p:nvSpPr>
          <p:cNvPr id="10" name="Rounded Rectangle 9"/>
          <p:cNvSpPr/>
          <p:nvPr/>
        </p:nvSpPr>
        <p:spPr>
          <a:xfrm>
            <a:off x="6199632"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463040"/>
            <a:ext cx="498348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Algorithm 2 Step-by-Step Logic</a:t>
            </a:r>
          </a:p>
          <a:p>
            <a:pPr>
              <a:spcBef>
                <a:spcPts val="200"/>
              </a:spcBef>
            </a:pPr>
            <a:r>
              <a:rPr sz="950">
                <a:solidFill>
                  <a:srgbClr val="64748B"/>
                </a:solidFill>
                <a:latin typeface="Arial"/>
              </a:rPr>
              <a:t>PostgreSQL Stored Procedure Execution</a:t>
            </a:r>
          </a:p>
        </p:txBody>
      </p:sp>
      <p:sp>
        <p:nvSpPr>
          <p:cNvPr id="12" name="TextBox 11"/>
          <p:cNvSpPr txBox="1"/>
          <p:nvPr/>
        </p:nvSpPr>
        <p:spPr>
          <a:xfrm>
            <a:off x="6336792" y="1965960"/>
            <a:ext cx="4983480"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Step 1: Input Parameters: </a:t>
            </a:r>
            <a:r>
              <a:rPr sz="1050">
                <a:solidFill>
                  <a:srgbClr val="1E293B"/>
                </a:solidFill>
                <a:latin typeface="Arial"/>
              </a:rPr>
              <a:t>Accepts optional timestamp t₀ for period filtering (NULL denotes all-time career scores).</a:t>
            </a:r>
          </a:p>
          <a:p>
            <a:pPr>
              <a:spcBef>
                <a:spcPts val="350"/>
              </a:spcBef>
              <a:spcAft>
                <a:spcPts val="200"/>
              </a:spcAft>
            </a:pPr>
            <a:r>
              <a:rPr b="1" sz="1050">
                <a:solidFill>
                  <a:srgbClr val="0D9488"/>
                </a:solidFill>
                <a:latin typeface="Arial"/>
              </a:rPr>
              <a:t>▸ </a:t>
            </a:r>
            <a:r>
              <a:rPr b="1" sz="1050">
                <a:solidFill>
                  <a:srgbClr val="0D9488"/>
                </a:solidFill>
                <a:latin typeface="Arial"/>
              </a:rPr>
              <a:t>Step 2: Candidate Selection: </a:t>
            </a:r>
            <a:r>
              <a:rPr sz="1050">
                <a:solidFill>
                  <a:srgbClr val="1E293B"/>
                </a:solidFill>
                <a:latin typeface="Arial"/>
              </a:rPr>
              <a:t>Selects all profiles where role = 'developer' and user_settings.show_on_leaderboard = true.</a:t>
            </a:r>
          </a:p>
          <a:p>
            <a:pPr>
              <a:spcBef>
                <a:spcPts val="350"/>
              </a:spcBef>
              <a:spcAft>
                <a:spcPts val="200"/>
              </a:spcAft>
            </a:pPr>
            <a:r>
              <a:rPr b="1" sz="1050">
                <a:solidFill>
                  <a:srgbClr val="0D9488"/>
                </a:solidFill>
                <a:latin typeface="Arial"/>
              </a:rPr>
              <a:t>▸ </a:t>
            </a:r>
            <a:r>
              <a:rPr b="1" sz="1050">
                <a:solidFill>
                  <a:srgbClr val="0D9488"/>
                </a:solidFill>
                <a:latin typeface="Arial"/>
              </a:rPr>
              <a:t>Step 3: Relational Aggregation: </a:t>
            </a:r>
            <a:r>
              <a:rPr sz="1050">
                <a:solidFill>
                  <a:srgbClr val="1E293B"/>
                </a:solidFill>
                <a:latin typeface="Arial"/>
              </a:rPr>
              <a:t>Counts completed projects (C) and sums client star ratings (R) completed after t₀.</a:t>
            </a:r>
          </a:p>
          <a:p>
            <a:pPr>
              <a:spcBef>
                <a:spcPts val="350"/>
              </a:spcBef>
              <a:spcAft>
                <a:spcPts val="200"/>
              </a:spcAft>
            </a:pPr>
            <a:r>
              <a:rPr b="1" sz="1050">
                <a:solidFill>
                  <a:srgbClr val="0D9488"/>
                </a:solidFill>
                <a:latin typeface="Arial"/>
              </a:rPr>
              <a:t>▸ </a:t>
            </a:r>
            <a:r>
              <a:rPr b="1" sz="1050">
                <a:solidFill>
                  <a:srgbClr val="0D9488"/>
                </a:solidFill>
                <a:latin typeface="Arial"/>
              </a:rPr>
              <a:t>Step 4: Score Calculation: </a:t>
            </a:r>
            <a:r>
              <a:rPr sz="1050">
                <a:solidFill>
                  <a:srgbClr val="1E293B"/>
                </a:solidFill>
                <a:latin typeface="Arial"/>
              </a:rPr>
              <a:t>Executes score = 100 × C + 20 × Σ(R) and computes exact arithmetic mean rating.</a:t>
            </a:r>
          </a:p>
          <a:p>
            <a:pPr>
              <a:spcBef>
                <a:spcPts val="350"/>
              </a:spcBef>
              <a:spcAft>
                <a:spcPts val="200"/>
              </a:spcAft>
            </a:pPr>
            <a:r>
              <a:rPr b="1" sz="1050">
                <a:solidFill>
                  <a:srgbClr val="0D9488"/>
                </a:solidFill>
                <a:latin typeface="Arial"/>
              </a:rPr>
              <a:t>▸ </a:t>
            </a:r>
            <a:r>
              <a:rPr b="1" sz="1050">
                <a:solidFill>
                  <a:srgbClr val="0D9488"/>
                </a:solidFill>
                <a:latin typeface="Arial"/>
              </a:rPr>
              <a:t>Step 5: Eligibility Filter: </a:t>
            </a:r>
            <a:r>
              <a:rPr sz="1050">
                <a:solidFill>
                  <a:srgbClr val="1E293B"/>
                </a:solidFill>
                <a:latin typeface="Arial"/>
              </a:rPr>
              <a:t>Filters candidates: candidate must have C &gt; 0 or |R| &gt; 0 to enter the leaderboard array.</a:t>
            </a:r>
          </a:p>
          <a:p>
            <a:pPr>
              <a:spcBef>
                <a:spcPts val="350"/>
              </a:spcBef>
              <a:spcAft>
                <a:spcPts val="200"/>
              </a:spcAft>
            </a:pPr>
            <a:r>
              <a:rPr b="1" sz="1050">
                <a:solidFill>
                  <a:srgbClr val="0D9488"/>
                </a:solidFill>
                <a:latin typeface="Arial"/>
              </a:rPr>
              <a:t>▸ </a:t>
            </a:r>
            <a:r>
              <a:rPr b="1" sz="1050">
                <a:solidFill>
                  <a:srgbClr val="0D9488"/>
                </a:solidFill>
                <a:latin typeface="Arial"/>
              </a:rPr>
              <a:t>Step 6: Deterministic Sort &amp; Rank: </a:t>
            </a:r>
            <a:r>
              <a:rPr sz="1050">
                <a:solidFill>
                  <a:srgbClr val="1E293B"/>
                </a:solidFill>
                <a:latin typeface="Arial"/>
              </a:rPr>
              <a:t>Sorts array by Score DESC, Avg DESC, Count DESC, Name ASC, and assigns sequential ranks 1...N.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EMPIRICAL DEMONSTRATION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Leaderboard in Action: Worked Example &amp; Tiers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19 / 25</a:t>
            </a:r>
          </a:p>
        </p:txBody>
      </p:sp>
      <p:graphicFrame>
        <p:nvGraphicFramePr>
          <p:cNvPr id="7" name="Table 6"/>
          <p:cNvGraphicFramePr>
            <a:graphicFrameLocks noGrp="1"/>
          </p:cNvGraphicFramePr>
          <p:nvPr/>
        </p:nvGraphicFramePr>
        <p:xfrm>
          <a:off x="731520" y="1325880"/>
          <a:ext cx="6858000" cy="3291840"/>
        </p:xfrm>
        <a:graphic>
          <a:graphicData uri="http://schemas.openxmlformats.org/drawingml/2006/table">
            <a:tbl>
              <a:tblPr firstRow="1" bandRow="1">
                <a:tableStyleId>{5C22544A-7EE6-4342-B048-85BDC9FD1C3A}</a:tableStyleId>
              </a:tblPr>
              <a:tblGrid>
                <a:gridCol w="1097280"/>
                <a:gridCol w="914400"/>
                <a:gridCol w="1188720"/>
                <a:gridCol w="1645920"/>
                <a:gridCol w="822960"/>
                <a:gridCol w="1188720"/>
              </a:tblGrid>
              <a:tr h="470262">
                <a:tc>
                  <a:txBody>
                    <a:bodyPr/>
                    <a:lstStyle/>
                    <a:p>
                      <a:pPr algn="l"/>
                      <a:r>
                        <a:rPr b="1" sz="1050">
                          <a:solidFill>
                            <a:srgbClr val="FFFFFF"/>
                          </a:solidFill>
                          <a:latin typeface="Arial"/>
                        </a:rPr>
                        <a:t>Developer</a:t>
                      </a:r>
                    </a:p>
                  </a:txBody>
                  <a:tcPr>
                    <a:solidFill>
                      <a:srgbClr val="0B2528"/>
                    </a:solidFill>
                  </a:tcPr>
                </a:tc>
                <a:tc>
                  <a:txBody>
                    <a:bodyPr/>
                    <a:lstStyle/>
                    <a:p>
                      <a:pPr algn="ctr"/>
                      <a:r>
                        <a:rPr b="1" sz="1050">
                          <a:solidFill>
                            <a:srgbClr val="FFFFFF"/>
                          </a:solidFill>
                          <a:latin typeface="Arial"/>
                        </a:rPr>
                        <a:t>Completed</a:t>
                      </a:r>
                    </a:p>
                  </a:txBody>
                  <a:tcPr>
                    <a:solidFill>
                      <a:srgbClr val="0B2528"/>
                    </a:solidFill>
                  </a:tcPr>
                </a:tc>
                <a:tc>
                  <a:txBody>
                    <a:bodyPr/>
                    <a:lstStyle/>
                    <a:p>
                      <a:pPr algn="ctr"/>
                      <a:r>
                        <a:rPr b="1" sz="1050">
                          <a:solidFill>
                            <a:srgbClr val="FFFFFF"/>
                          </a:solidFill>
                          <a:latin typeface="Arial"/>
                        </a:rPr>
                        <a:t>Client Ratings</a:t>
                      </a:r>
                    </a:p>
                  </a:txBody>
                  <a:tcPr>
                    <a:solidFill>
                      <a:srgbClr val="0B2528"/>
                    </a:solidFill>
                  </a:tcPr>
                </a:tc>
                <a:tc>
                  <a:txBody>
                    <a:bodyPr/>
                    <a:lstStyle/>
                    <a:p>
                      <a:pPr algn="ctr"/>
                      <a:r>
                        <a:rPr b="1" sz="1050">
                          <a:solidFill>
                            <a:srgbClr val="FFFFFF"/>
                          </a:solidFill>
                          <a:latin typeface="Arial"/>
                        </a:rPr>
                        <a:t>Score Formula</a:t>
                      </a:r>
                    </a:p>
                  </a:txBody>
                  <a:tcPr>
                    <a:solidFill>
                      <a:srgbClr val="0B2528"/>
                    </a:solidFill>
                  </a:tcPr>
                </a:tc>
                <a:tc>
                  <a:txBody>
                    <a:bodyPr/>
                    <a:lstStyle/>
                    <a:p>
                      <a:pPr algn="ctr"/>
                      <a:r>
                        <a:rPr b="1" sz="1050">
                          <a:solidFill>
                            <a:srgbClr val="FFFFFF"/>
                          </a:solidFill>
                          <a:latin typeface="Arial"/>
                        </a:rPr>
                        <a:t>Avg</a:t>
                      </a:r>
                    </a:p>
                  </a:txBody>
                  <a:tcPr>
                    <a:solidFill>
                      <a:srgbClr val="0B2528"/>
                    </a:solidFill>
                  </a:tcPr>
                </a:tc>
                <a:tc>
                  <a:txBody>
                    <a:bodyPr/>
                    <a:lstStyle/>
                    <a:p>
                      <a:pPr algn="ctr"/>
                      <a:r>
                        <a:rPr b="1" sz="1050">
                          <a:solidFill>
                            <a:srgbClr val="FFFFFF"/>
                          </a:solidFill>
                          <a:latin typeface="Arial"/>
                        </a:rPr>
                        <a:t>Rank</a:t>
                      </a:r>
                    </a:p>
                  </a:txBody>
                  <a:tcPr>
                    <a:solidFill>
                      <a:srgbClr val="0B2528"/>
                    </a:solidFill>
                  </a:tcPr>
                </a:tc>
              </a:tr>
              <a:tr h="470262">
                <a:tc>
                  <a:txBody>
                    <a:bodyPr/>
                    <a:lstStyle/>
                    <a:p>
                      <a:pPr algn="l"/>
                      <a:r>
                        <a:rPr sz="1000">
                          <a:solidFill>
                            <a:srgbClr val="1E293B"/>
                          </a:solidFill>
                          <a:latin typeface="Arial"/>
                        </a:rPr>
                        <a:t>Chen</a:t>
                      </a:r>
                    </a:p>
                  </a:txBody>
                  <a:tcPr>
                    <a:solidFill>
                      <a:srgbClr val="FFFFFF"/>
                    </a:solidFill>
                  </a:tcPr>
                </a:tc>
                <a:tc>
                  <a:txBody>
                    <a:bodyPr/>
                    <a:lstStyle/>
                    <a:p>
                      <a:pPr algn="ctr"/>
                      <a:r>
                        <a:rPr sz="1000">
                          <a:solidFill>
                            <a:srgbClr val="1E293B"/>
                          </a:solidFill>
                          <a:latin typeface="Arial"/>
                        </a:rPr>
                        <a:t>3</a:t>
                      </a:r>
                    </a:p>
                  </a:txBody>
                  <a:tcPr>
                    <a:solidFill>
                      <a:srgbClr val="FFFFFF"/>
                    </a:solidFill>
                  </a:tcPr>
                </a:tc>
                <a:tc>
                  <a:txBody>
                    <a:bodyPr/>
                    <a:lstStyle/>
                    <a:p>
                      <a:pPr algn="ctr"/>
                      <a:r>
                        <a:rPr sz="1000">
                          <a:solidFill>
                            <a:srgbClr val="1E293B"/>
                          </a:solidFill>
                          <a:latin typeface="Arial"/>
                        </a:rPr>
                        <a:t>2, 2, 2</a:t>
                      </a:r>
                    </a:p>
                  </a:txBody>
                  <a:tcPr>
                    <a:solidFill>
                      <a:srgbClr val="FFFFFF"/>
                    </a:solidFill>
                  </a:tcPr>
                </a:tc>
                <a:tc>
                  <a:txBody>
                    <a:bodyPr/>
                    <a:lstStyle/>
                    <a:p>
                      <a:pPr algn="ctr"/>
                      <a:r>
                        <a:rPr sz="1000">
                          <a:solidFill>
                            <a:srgbClr val="1E293B"/>
                          </a:solidFill>
                          <a:latin typeface="Arial"/>
                        </a:rPr>
                        <a:t>300 + 120 = 420</a:t>
                      </a:r>
                    </a:p>
                  </a:txBody>
                  <a:tcPr>
                    <a:solidFill>
                      <a:srgbClr val="FFFFFF"/>
                    </a:solidFill>
                  </a:tcPr>
                </a:tc>
                <a:tc>
                  <a:txBody>
                    <a:bodyPr/>
                    <a:lstStyle/>
                    <a:p>
                      <a:pPr algn="ctr"/>
                      <a:r>
                        <a:rPr sz="1000">
                          <a:solidFill>
                            <a:srgbClr val="1E293B"/>
                          </a:solidFill>
                          <a:latin typeface="Arial"/>
                        </a:rPr>
                        <a:t>2.0</a:t>
                      </a:r>
                    </a:p>
                  </a:txBody>
                  <a:tcPr>
                    <a:solidFill>
                      <a:srgbClr val="FFFFFF"/>
                    </a:solidFill>
                  </a:tcPr>
                </a:tc>
                <a:tc>
                  <a:txBody>
                    <a:bodyPr/>
                    <a:lstStyle/>
                    <a:p>
                      <a:pPr algn="ctr"/>
                      <a:r>
                        <a:rPr sz="1000" b="1">
                          <a:solidFill>
                            <a:srgbClr val="0D9488"/>
                          </a:solidFill>
                          <a:latin typeface="Arial"/>
                        </a:rPr>
                        <a:t>1</a:t>
                      </a:r>
                    </a:p>
                  </a:txBody>
                  <a:tcPr>
                    <a:solidFill>
                      <a:srgbClr val="FFFFFF"/>
                    </a:solidFill>
                  </a:tcPr>
                </a:tc>
              </a:tr>
              <a:tr h="470262">
                <a:tc>
                  <a:txBody>
                    <a:bodyPr/>
                    <a:lstStyle/>
                    <a:p>
                      <a:pPr algn="l"/>
                      <a:r>
                        <a:rPr sz="1000">
                          <a:solidFill>
                            <a:srgbClr val="1E293B"/>
                          </a:solidFill>
                          <a:latin typeface="Arial"/>
                        </a:rPr>
                        <a:t>Asha</a:t>
                      </a:r>
                    </a:p>
                  </a:txBody>
                  <a:tcPr>
                    <a:solidFill>
                      <a:srgbClr val="F8FAFC"/>
                    </a:solidFill>
                  </a:tcPr>
                </a:tc>
                <a:tc>
                  <a:txBody>
                    <a:bodyPr/>
                    <a:lstStyle/>
                    <a:p>
                      <a:pPr algn="ctr"/>
                      <a:r>
                        <a:rPr sz="1000">
                          <a:solidFill>
                            <a:srgbClr val="1E293B"/>
                          </a:solidFill>
                          <a:latin typeface="Arial"/>
                        </a:rPr>
                        <a:t>2</a:t>
                      </a:r>
                    </a:p>
                  </a:txBody>
                  <a:tcPr>
                    <a:solidFill>
                      <a:srgbClr val="F8FAFC"/>
                    </a:solidFill>
                  </a:tcPr>
                </a:tc>
                <a:tc>
                  <a:txBody>
                    <a:bodyPr/>
                    <a:lstStyle/>
                    <a:p>
                      <a:pPr algn="ctr"/>
                      <a:r>
                        <a:rPr sz="1000">
                          <a:solidFill>
                            <a:srgbClr val="1E293B"/>
                          </a:solidFill>
                          <a:latin typeface="Arial"/>
                        </a:rPr>
                        <a:t>5, 5</a:t>
                      </a:r>
                    </a:p>
                  </a:txBody>
                  <a:tcPr>
                    <a:solidFill>
                      <a:srgbClr val="F8FAFC"/>
                    </a:solidFill>
                  </a:tcPr>
                </a:tc>
                <a:tc>
                  <a:txBody>
                    <a:bodyPr/>
                    <a:lstStyle/>
                    <a:p>
                      <a:pPr algn="ctr"/>
                      <a:r>
                        <a:rPr sz="1000">
                          <a:solidFill>
                            <a:srgbClr val="1E293B"/>
                          </a:solidFill>
                          <a:latin typeface="Arial"/>
                        </a:rPr>
                        <a:t>200 + 200 = 400</a:t>
                      </a:r>
                    </a:p>
                  </a:txBody>
                  <a:tcPr>
                    <a:solidFill>
                      <a:srgbClr val="F8FAFC"/>
                    </a:solidFill>
                  </a:tcPr>
                </a:tc>
                <a:tc>
                  <a:txBody>
                    <a:bodyPr/>
                    <a:lstStyle/>
                    <a:p>
                      <a:pPr algn="ctr"/>
                      <a:r>
                        <a:rPr sz="1000">
                          <a:solidFill>
                            <a:srgbClr val="1E293B"/>
                          </a:solidFill>
                          <a:latin typeface="Arial"/>
                        </a:rPr>
                        <a:t>5.0</a:t>
                      </a:r>
                    </a:p>
                  </a:txBody>
                  <a:tcPr>
                    <a:solidFill>
                      <a:srgbClr val="F8FAFC"/>
                    </a:solidFill>
                  </a:tcPr>
                </a:tc>
                <a:tc>
                  <a:txBody>
                    <a:bodyPr/>
                    <a:lstStyle/>
                    <a:p>
                      <a:pPr algn="ctr"/>
                      <a:r>
                        <a:rPr sz="1000" b="1">
                          <a:solidFill>
                            <a:srgbClr val="0D9488"/>
                          </a:solidFill>
                          <a:latin typeface="Arial"/>
                        </a:rPr>
                        <a:t>2</a:t>
                      </a:r>
                    </a:p>
                  </a:txBody>
                  <a:tcPr>
                    <a:solidFill>
                      <a:srgbClr val="F8FAFC"/>
                    </a:solidFill>
                  </a:tcPr>
                </a:tc>
              </a:tr>
              <a:tr h="470262">
                <a:tc>
                  <a:txBody>
                    <a:bodyPr/>
                    <a:lstStyle/>
                    <a:p>
                      <a:pPr algn="l"/>
                      <a:r>
                        <a:rPr sz="1000">
                          <a:solidFill>
                            <a:srgbClr val="1E293B"/>
                          </a:solidFill>
                          <a:latin typeface="Arial"/>
                        </a:rPr>
                        <a:t>Ben</a:t>
                      </a:r>
                    </a:p>
                  </a:txBody>
                  <a:tcPr>
                    <a:solidFill>
                      <a:srgbClr val="FFFFFF"/>
                    </a:solidFill>
                  </a:tcPr>
                </a:tc>
                <a:tc>
                  <a:txBody>
                    <a:bodyPr/>
                    <a:lstStyle/>
                    <a:p>
                      <a:pPr algn="ctr"/>
                      <a:r>
                        <a:rPr sz="1000">
                          <a:solidFill>
                            <a:srgbClr val="1E293B"/>
                          </a:solidFill>
                          <a:latin typeface="Arial"/>
                        </a:rPr>
                        <a:t>2</a:t>
                      </a:r>
                    </a:p>
                  </a:txBody>
                  <a:tcPr>
                    <a:solidFill>
                      <a:srgbClr val="FFFFFF"/>
                    </a:solidFill>
                  </a:tcPr>
                </a:tc>
                <a:tc>
                  <a:txBody>
                    <a:bodyPr/>
                    <a:lstStyle/>
                    <a:p>
                      <a:pPr algn="ctr"/>
                      <a:r>
                        <a:rPr sz="1000">
                          <a:solidFill>
                            <a:srgbClr val="1E293B"/>
                          </a:solidFill>
                          <a:latin typeface="Arial"/>
                        </a:rPr>
                        <a:t>5, 3</a:t>
                      </a:r>
                    </a:p>
                  </a:txBody>
                  <a:tcPr>
                    <a:solidFill>
                      <a:srgbClr val="FFFFFF"/>
                    </a:solidFill>
                  </a:tcPr>
                </a:tc>
                <a:tc>
                  <a:txBody>
                    <a:bodyPr/>
                    <a:lstStyle/>
                    <a:p>
                      <a:pPr algn="ctr"/>
                      <a:r>
                        <a:rPr sz="1000">
                          <a:solidFill>
                            <a:srgbClr val="1E293B"/>
                          </a:solidFill>
                          <a:latin typeface="Arial"/>
                        </a:rPr>
                        <a:t>200 + 160 = 360</a:t>
                      </a:r>
                    </a:p>
                  </a:txBody>
                  <a:tcPr>
                    <a:solidFill>
                      <a:srgbClr val="FFFFFF"/>
                    </a:solidFill>
                  </a:tcPr>
                </a:tc>
                <a:tc>
                  <a:txBody>
                    <a:bodyPr/>
                    <a:lstStyle/>
                    <a:p>
                      <a:pPr algn="ctr"/>
                      <a:r>
                        <a:rPr sz="1000">
                          <a:solidFill>
                            <a:srgbClr val="1E293B"/>
                          </a:solidFill>
                          <a:latin typeface="Arial"/>
                        </a:rPr>
                        <a:t>4.0</a:t>
                      </a:r>
                    </a:p>
                  </a:txBody>
                  <a:tcPr>
                    <a:solidFill>
                      <a:srgbClr val="FFFFFF"/>
                    </a:solidFill>
                  </a:tcPr>
                </a:tc>
                <a:tc>
                  <a:txBody>
                    <a:bodyPr/>
                    <a:lstStyle/>
                    <a:p>
                      <a:pPr algn="ctr"/>
                      <a:r>
                        <a:rPr sz="1000" b="1">
                          <a:solidFill>
                            <a:srgbClr val="0D9488"/>
                          </a:solidFill>
                          <a:latin typeface="Arial"/>
                        </a:rPr>
                        <a:t>3</a:t>
                      </a:r>
                    </a:p>
                  </a:txBody>
                  <a:tcPr>
                    <a:solidFill>
                      <a:srgbClr val="FFFFFF"/>
                    </a:solidFill>
                  </a:tcPr>
                </a:tc>
              </a:tr>
              <a:tr h="470262">
                <a:tc>
                  <a:txBody>
                    <a:bodyPr/>
                    <a:lstStyle/>
                    <a:p>
                      <a:pPr algn="l"/>
                      <a:r>
                        <a:rPr sz="1000">
                          <a:solidFill>
                            <a:srgbClr val="1E293B"/>
                          </a:solidFill>
                          <a:latin typeface="Arial"/>
                        </a:rPr>
                        <a:t>Dina</a:t>
                      </a:r>
                    </a:p>
                  </a:txBody>
                  <a:tcPr>
                    <a:solidFill>
                      <a:srgbClr val="F8FAFC"/>
                    </a:solidFill>
                  </a:tcPr>
                </a:tc>
                <a:tc>
                  <a:txBody>
                    <a:bodyPr/>
                    <a:lstStyle/>
                    <a:p>
                      <a:pPr algn="ctr"/>
                      <a:r>
                        <a:rPr sz="1000">
                          <a:solidFill>
                            <a:srgbClr val="1E293B"/>
                          </a:solidFill>
                          <a:latin typeface="Arial"/>
                        </a:rPr>
                        <a:t>1</a:t>
                      </a:r>
                    </a:p>
                  </a:txBody>
                  <a:tcPr>
                    <a:solidFill>
                      <a:srgbClr val="F8FAFC"/>
                    </a:solidFill>
                  </a:tcPr>
                </a:tc>
                <a:tc>
                  <a:txBody>
                    <a:bodyPr/>
                    <a:lstStyle/>
                    <a:p>
                      <a:pPr algn="ctr"/>
                      <a:r>
                        <a:rPr sz="1000">
                          <a:solidFill>
                            <a:srgbClr val="1E293B"/>
                          </a:solidFill>
                          <a:latin typeface="Arial"/>
                        </a:rPr>
                        <a:t>4</a:t>
                      </a:r>
                    </a:p>
                  </a:txBody>
                  <a:tcPr>
                    <a:solidFill>
                      <a:srgbClr val="F8FAFC"/>
                    </a:solidFill>
                  </a:tcPr>
                </a:tc>
                <a:tc>
                  <a:txBody>
                    <a:bodyPr/>
                    <a:lstStyle/>
                    <a:p>
                      <a:pPr algn="ctr"/>
                      <a:r>
                        <a:rPr sz="1000">
                          <a:solidFill>
                            <a:srgbClr val="1E293B"/>
                          </a:solidFill>
                          <a:latin typeface="Arial"/>
                        </a:rPr>
                        <a:t>100 + 80 = 180</a:t>
                      </a:r>
                    </a:p>
                  </a:txBody>
                  <a:tcPr>
                    <a:solidFill>
                      <a:srgbClr val="F8FAFC"/>
                    </a:solidFill>
                  </a:tcPr>
                </a:tc>
                <a:tc>
                  <a:txBody>
                    <a:bodyPr/>
                    <a:lstStyle/>
                    <a:p>
                      <a:pPr algn="ctr"/>
                      <a:r>
                        <a:rPr sz="1000">
                          <a:solidFill>
                            <a:srgbClr val="1E293B"/>
                          </a:solidFill>
                          <a:latin typeface="Arial"/>
                        </a:rPr>
                        <a:t>4.0</a:t>
                      </a:r>
                    </a:p>
                  </a:txBody>
                  <a:tcPr>
                    <a:solidFill>
                      <a:srgbClr val="F8FAFC"/>
                    </a:solidFill>
                  </a:tcPr>
                </a:tc>
                <a:tc>
                  <a:txBody>
                    <a:bodyPr/>
                    <a:lstStyle/>
                    <a:p>
                      <a:pPr algn="ctr"/>
                      <a:r>
                        <a:rPr sz="1000" b="1">
                          <a:solidFill>
                            <a:srgbClr val="0D9488"/>
                          </a:solidFill>
                          <a:latin typeface="Arial"/>
                        </a:rPr>
                        <a:t>4 (tie)</a:t>
                      </a:r>
                    </a:p>
                  </a:txBody>
                  <a:tcPr>
                    <a:solidFill>
                      <a:srgbClr val="F8FAFC"/>
                    </a:solidFill>
                  </a:tcPr>
                </a:tc>
              </a:tr>
              <a:tr h="470262">
                <a:tc>
                  <a:txBody>
                    <a:bodyPr/>
                    <a:lstStyle/>
                    <a:p>
                      <a:pPr algn="l"/>
                      <a:r>
                        <a:rPr sz="1000">
                          <a:solidFill>
                            <a:srgbClr val="1E293B"/>
                          </a:solidFill>
                          <a:latin typeface="Arial"/>
                        </a:rPr>
                        <a:t>Eli</a:t>
                      </a:r>
                    </a:p>
                  </a:txBody>
                  <a:tcPr>
                    <a:solidFill>
                      <a:srgbClr val="FFFFFF"/>
                    </a:solidFill>
                  </a:tcPr>
                </a:tc>
                <a:tc>
                  <a:txBody>
                    <a:bodyPr/>
                    <a:lstStyle/>
                    <a:p>
                      <a:pPr algn="ctr"/>
                      <a:r>
                        <a:rPr sz="1000">
                          <a:solidFill>
                            <a:srgbClr val="1E293B"/>
                          </a:solidFill>
                          <a:latin typeface="Arial"/>
                        </a:rPr>
                        <a:t>1</a:t>
                      </a:r>
                    </a:p>
                  </a:txBody>
                  <a:tcPr>
                    <a:solidFill>
                      <a:srgbClr val="FFFFFF"/>
                    </a:solidFill>
                  </a:tcPr>
                </a:tc>
                <a:tc>
                  <a:txBody>
                    <a:bodyPr/>
                    <a:lstStyle/>
                    <a:p>
                      <a:pPr algn="ctr"/>
                      <a:r>
                        <a:rPr sz="1000">
                          <a:solidFill>
                            <a:srgbClr val="1E293B"/>
                          </a:solidFill>
                          <a:latin typeface="Arial"/>
                        </a:rPr>
                        <a:t>4</a:t>
                      </a:r>
                    </a:p>
                  </a:txBody>
                  <a:tcPr>
                    <a:solidFill>
                      <a:srgbClr val="FFFFFF"/>
                    </a:solidFill>
                  </a:tcPr>
                </a:tc>
                <a:tc>
                  <a:txBody>
                    <a:bodyPr/>
                    <a:lstStyle/>
                    <a:p>
                      <a:pPr algn="ctr"/>
                      <a:r>
                        <a:rPr sz="1000">
                          <a:solidFill>
                            <a:srgbClr val="1E293B"/>
                          </a:solidFill>
                          <a:latin typeface="Arial"/>
                        </a:rPr>
                        <a:t>100 + 80 = 180</a:t>
                      </a:r>
                    </a:p>
                  </a:txBody>
                  <a:tcPr>
                    <a:solidFill>
                      <a:srgbClr val="FFFFFF"/>
                    </a:solidFill>
                  </a:tcPr>
                </a:tc>
                <a:tc>
                  <a:txBody>
                    <a:bodyPr/>
                    <a:lstStyle/>
                    <a:p>
                      <a:pPr algn="ctr"/>
                      <a:r>
                        <a:rPr sz="1000">
                          <a:solidFill>
                            <a:srgbClr val="1E293B"/>
                          </a:solidFill>
                          <a:latin typeface="Arial"/>
                        </a:rPr>
                        <a:t>4.0</a:t>
                      </a:r>
                    </a:p>
                  </a:txBody>
                  <a:tcPr>
                    <a:solidFill>
                      <a:srgbClr val="FFFFFF"/>
                    </a:solidFill>
                  </a:tcPr>
                </a:tc>
                <a:tc>
                  <a:txBody>
                    <a:bodyPr/>
                    <a:lstStyle/>
                    <a:p>
                      <a:pPr algn="ctr"/>
                      <a:r>
                        <a:rPr sz="1000" b="1">
                          <a:solidFill>
                            <a:srgbClr val="0D9488"/>
                          </a:solidFill>
                          <a:latin typeface="Arial"/>
                        </a:rPr>
                        <a:t>5 (tie)</a:t>
                      </a:r>
                    </a:p>
                  </a:txBody>
                  <a:tcPr>
                    <a:solidFill>
                      <a:srgbClr val="FFFFFF"/>
                    </a:solidFill>
                  </a:tcPr>
                </a:tc>
              </a:tr>
              <a:tr h="470268">
                <a:tc>
                  <a:txBody>
                    <a:bodyPr/>
                    <a:lstStyle/>
                    <a:p>
                      <a:pPr algn="l"/>
                      <a:r>
                        <a:rPr sz="1000">
                          <a:solidFill>
                            <a:srgbClr val="1E293B"/>
                          </a:solidFill>
                          <a:latin typeface="Arial"/>
                        </a:rPr>
                        <a:t>Farah</a:t>
                      </a:r>
                    </a:p>
                  </a:txBody>
                  <a:tcPr>
                    <a:solidFill>
                      <a:srgbClr val="F8FAFC"/>
                    </a:solidFill>
                  </a:tcPr>
                </a:tc>
                <a:tc>
                  <a:txBody>
                    <a:bodyPr/>
                    <a:lstStyle/>
                    <a:p>
                      <a:pPr algn="ctr"/>
                      <a:r>
                        <a:rPr sz="1000">
                          <a:solidFill>
                            <a:srgbClr val="1E293B"/>
                          </a:solidFill>
                          <a:latin typeface="Arial"/>
                        </a:rPr>
                        <a:t>0</a:t>
                      </a:r>
                    </a:p>
                  </a:txBody>
                  <a:tcPr>
                    <a:solidFill>
                      <a:srgbClr val="F8FAFC"/>
                    </a:solidFill>
                  </a:tcPr>
                </a:tc>
                <a:tc>
                  <a:txBody>
                    <a:bodyPr/>
                    <a:lstStyle/>
                    <a:p>
                      <a:pPr algn="ctr"/>
                      <a:r>
                        <a:rPr sz="1000">
                          <a:solidFill>
                            <a:srgbClr val="1E293B"/>
                          </a:solidFill>
                          <a:latin typeface="Arial"/>
                        </a:rPr>
                        <a:t>None</a:t>
                      </a:r>
                    </a:p>
                  </a:txBody>
                  <a:tcPr>
                    <a:solidFill>
                      <a:srgbClr val="F8FAFC"/>
                    </a:solidFill>
                  </a:tcPr>
                </a:tc>
                <a:tc>
                  <a:txBody>
                    <a:bodyPr/>
                    <a:lstStyle/>
                    <a:p>
                      <a:pPr algn="ctr"/>
                      <a:r>
                        <a:rPr sz="1000">
                          <a:solidFill>
                            <a:srgbClr val="1E293B"/>
                          </a:solidFill>
                          <a:latin typeface="Arial"/>
                        </a:rPr>
                        <a:t>0 + 0 = 0</a:t>
                      </a:r>
                    </a:p>
                  </a:txBody>
                  <a:tcPr>
                    <a:solidFill>
                      <a:srgbClr val="F8FAFC"/>
                    </a:solidFill>
                  </a:tcPr>
                </a:tc>
                <a:tc>
                  <a:txBody>
                    <a:bodyPr/>
                    <a:lstStyle/>
                    <a:p>
                      <a:pPr algn="ctr"/>
                      <a:r>
                        <a:rPr sz="1000">
                          <a:solidFill>
                            <a:srgbClr val="1E293B"/>
                          </a:solidFill>
                          <a:latin typeface="Arial"/>
                        </a:rPr>
                        <a:t>N/A</a:t>
                      </a:r>
                    </a:p>
                  </a:txBody>
                  <a:tcPr>
                    <a:solidFill>
                      <a:srgbClr val="F8FAFC"/>
                    </a:solidFill>
                  </a:tcPr>
                </a:tc>
                <a:tc>
                  <a:txBody>
                    <a:bodyPr/>
                    <a:lstStyle/>
                    <a:p>
                      <a:pPr algn="ctr"/>
                      <a:r>
                        <a:rPr sz="1000" b="1">
                          <a:solidFill>
                            <a:srgbClr val="0D9488"/>
                          </a:solidFill>
                          <a:latin typeface="Arial"/>
                        </a:rPr>
                        <a:t>Unranked</a:t>
                      </a:r>
                    </a:p>
                  </a:txBody>
                  <a:tcPr>
                    <a:solidFill>
                      <a:srgbClr val="F8FAFC"/>
                    </a:solidFill>
                  </a:tcPr>
                </a:tc>
              </a:tr>
            </a:tbl>
          </a:graphicData>
        </a:graphic>
      </p:graphicFrame>
      <p:sp>
        <p:nvSpPr>
          <p:cNvPr id="8" name="Rounded Rectangle 7"/>
          <p:cNvSpPr/>
          <p:nvPr/>
        </p:nvSpPr>
        <p:spPr>
          <a:xfrm>
            <a:off x="731520" y="4800600"/>
            <a:ext cx="6858000" cy="164592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892040"/>
            <a:ext cx="6583680" cy="1417320"/>
          </a:xfrm>
          <a:prstGeom prst="rect">
            <a:avLst/>
          </a:prstGeom>
          <a:noFill/>
        </p:spPr>
        <p:txBody>
          <a:bodyPr wrap="square">
            <a:spAutoFit/>
          </a:bodyPr>
          <a:lstStyle/>
          <a:p>
            <a:r>
              <a:rPr b="1" sz="1050">
                <a:solidFill>
                  <a:srgbClr val="0D9488"/>
                </a:solidFill>
              </a:rPr>
              <a:t>DESIGN TRADE-OFF DEMONSTRATED: </a:t>
            </a:r>
            <a:r>
              <a:rPr sz="1000">
                <a:solidFill>
                  <a:srgbClr val="1E293B"/>
                </a:solidFill>
              </a:rPr>
              <a:t>
• Work Volume Rewarded: Chen delivered 3 projects with modest ratings (420 pts), ranking above Asha (400 pts) who completed 2 flawless projects. Real delivered work outweighs small samples.</a:t>
            </a:r>
          </a:p>
          <a:p>
            <a:pPr>
              <a:spcBef>
                <a:spcPts val="300"/>
              </a:spcBef>
            </a:pPr>
            <a:r>
              <a:rPr sz="1000">
                <a:solidFill>
                  <a:srgbClr val="1E293B"/>
                </a:solidFill>
              </a:rPr>
              <a:t>• Deterministic Tie-Break: Dina &amp; Eli match on score and ratings; Dina ranks first alphabetically.</a:t>
            </a:r>
          </a:p>
        </p:txBody>
      </p:sp>
      <p:sp>
        <p:nvSpPr>
          <p:cNvPr id="10" name="Rounded Rectangle 9"/>
          <p:cNvSpPr/>
          <p:nvPr/>
        </p:nvSpPr>
        <p:spPr>
          <a:xfrm>
            <a:off x="7818120" y="1325880"/>
            <a:ext cx="3639312" cy="51206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1463040"/>
            <a:ext cx="336499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Tier Levels &amp; Badges</a:t>
            </a:r>
          </a:p>
          <a:p>
            <a:pPr>
              <a:spcBef>
                <a:spcPts val="200"/>
              </a:spcBef>
            </a:pPr>
            <a:r>
              <a:rPr sz="950">
                <a:solidFill>
                  <a:srgbClr val="64748B"/>
                </a:solidFill>
                <a:latin typeface="Arial"/>
              </a:rPr>
              <a:t>Gamification &amp; Recognition</a:t>
            </a:r>
          </a:p>
        </p:txBody>
      </p:sp>
      <p:sp>
        <p:nvSpPr>
          <p:cNvPr id="12" name="TextBox 11"/>
          <p:cNvSpPr txBox="1"/>
          <p:nvPr/>
        </p:nvSpPr>
        <p:spPr>
          <a:xfrm>
            <a:off x="7955279" y="1965960"/>
            <a:ext cx="3364992" cy="4297680"/>
          </a:xfrm>
          <a:prstGeom prst="rect">
            <a:avLst/>
          </a:prstGeom>
          <a:noFill/>
        </p:spPr>
        <p:txBody>
          <a:bodyPr wrap="square" lIns="0" tIns="0" rIns="0" bIns="0">
            <a:spAutoFit/>
          </a:bodyPr>
          <a:lstStyle/>
          <a:p/>
          <a:p>
            <a:pPr>
              <a:spcBef>
                <a:spcPts val="350"/>
              </a:spcBef>
              <a:spcAft>
                <a:spcPts val="200"/>
              </a:spcAft>
            </a:pPr>
            <a:r>
              <a:rPr b="1" sz="950">
                <a:solidFill>
                  <a:srgbClr val="0D9488"/>
                </a:solidFill>
                <a:latin typeface="Arial"/>
              </a:rPr>
              <a:t>▸ </a:t>
            </a:r>
            <a:r>
              <a:rPr b="1" sz="950">
                <a:solidFill>
                  <a:srgbClr val="0D9488"/>
                </a:solidFill>
                <a:latin typeface="Arial"/>
              </a:rPr>
              <a:t>Diamond Tier: </a:t>
            </a:r>
            <a:r>
              <a:rPr sz="950">
                <a:solidFill>
                  <a:srgbClr val="1E293B"/>
                </a:solidFill>
                <a:latin typeface="Arial"/>
              </a:rPr>
              <a:t>1000+ Points · Veteran elite contractors</a:t>
            </a:r>
          </a:p>
          <a:p>
            <a:pPr>
              <a:spcBef>
                <a:spcPts val="350"/>
              </a:spcBef>
              <a:spcAft>
                <a:spcPts val="200"/>
              </a:spcAft>
            </a:pPr>
            <a:r>
              <a:rPr b="1" sz="950">
                <a:solidFill>
                  <a:srgbClr val="0D9488"/>
                </a:solidFill>
                <a:latin typeface="Arial"/>
              </a:rPr>
              <a:t>▸ </a:t>
            </a:r>
            <a:r>
              <a:rPr b="1" sz="950">
                <a:solidFill>
                  <a:srgbClr val="0D9488"/>
                </a:solidFill>
                <a:latin typeface="Arial"/>
              </a:rPr>
              <a:t>Gold Tier: </a:t>
            </a:r>
            <a:r>
              <a:rPr sz="950">
                <a:solidFill>
                  <a:srgbClr val="1E293B"/>
                </a:solidFill>
                <a:latin typeface="Arial"/>
              </a:rPr>
              <a:t>501–1000 Points · Proven collaborative leads</a:t>
            </a:r>
          </a:p>
          <a:p>
            <a:pPr>
              <a:spcBef>
                <a:spcPts val="350"/>
              </a:spcBef>
              <a:spcAft>
                <a:spcPts val="200"/>
              </a:spcAft>
            </a:pPr>
            <a:r>
              <a:rPr b="1" sz="950">
                <a:solidFill>
                  <a:srgbClr val="0D9488"/>
                </a:solidFill>
                <a:latin typeface="Arial"/>
              </a:rPr>
              <a:t>▸ </a:t>
            </a:r>
            <a:r>
              <a:rPr b="1" sz="950">
                <a:solidFill>
                  <a:srgbClr val="0D9488"/>
                </a:solidFill>
                <a:latin typeface="Arial"/>
              </a:rPr>
              <a:t>Silver Tier: </a:t>
            </a:r>
            <a:r>
              <a:rPr sz="950">
                <a:solidFill>
                  <a:srgbClr val="1E293B"/>
                </a:solidFill>
                <a:latin typeface="Arial"/>
              </a:rPr>
              <a:t>201–500 Points · Consistent verified delivery</a:t>
            </a:r>
          </a:p>
          <a:p>
            <a:pPr>
              <a:spcBef>
                <a:spcPts val="350"/>
              </a:spcBef>
              <a:spcAft>
                <a:spcPts val="200"/>
              </a:spcAft>
            </a:pPr>
            <a:r>
              <a:rPr b="1" sz="950">
                <a:solidFill>
                  <a:srgbClr val="0D9488"/>
                </a:solidFill>
                <a:latin typeface="Arial"/>
              </a:rPr>
              <a:t>▸ </a:t>
            </a:r>
            <a:r>
              <a:rPr b="1" sz="950">
                <a:solidFill>
                  <a:srgbClr val="0D9488"/>
                </a:solidFill>
                <a:latin typeface="Arial"/>
              </a:rPr>
              <a:t>Bronze Tier: </a:t>
            </a:r>
            <a:r>
              <a:rPr sz="950">
                <a:solidFill>
                  <a:srgbClr val="1E293B"/>
                </a:solidFill>
                <a:latin typeface="Arial"/>
              </a:rPr>
              <a:t>1–200 Points · First successful project delivered</a:t>
            </a:r>
          </a:p>
          <a:p>
            <a:pPr>
              <a:spcBef>
                <a:spcPts val="350"/>
              </a:spcBef>
              <a:spcAft>
                <a:spcPts val="200"/>
              </a:spcAft>
            </a:pPr>
            <a:r>
              <a:rPr b="1" sz="950">
                <a:solidFill>
                  <a:srgbClr val="0D9488"/>
                </a:solidFill>
                <a:latin typeface="Arial"/>
              </a:rPr>
              <a:t>▸ </a:t>
            </a:r>
            <a:r>
              <a:rPr b="1" sz="950">
                <a:solidFill>
                  <a:srgbClr val="0D9488"/>
                </a:solidFill>
                <a:latin typeface="Arial"/>
              </a:rPr>
              <a:t>🎖️ Project Veteran: </a:t>
            </a:r>
            <a:r>
              <a:rPr sz="950">
                <a:solidFill>
                  <a:srgbClr val="1E293B"/>
                </a:solidFill>
                <a:latin typeface="Arial"/>
              </a:rPr>
              <a:t>Awarded upon completing 5+ verified projects</a:t>
            </a:r>
          </a:p>
          <a:p>
            <a:pPr>
              <a:spcBef>
                <a:spcPts val="350"/>
              </a:spcBef>
              <a:spcAft>
                <a:spcPts val="200"/>
              </a:spcAft>
            </a:pPr>
            <a:r>
              <a:rPr b="1" sz="950">
                <a:solidFill>
                  <a:srgbClr val="0D9488"/>
                </a:solidFill>
                <a:latin typeface="Arial"/>
              </a:rPr>
              <a:t>▸ </a:t>
            </a:r>
            <a:r>
              <a:rPr b="1" sz="950">
                <a:solidFill>
                  <a:srgbClr val="0D9488"/>
                </a:solidFill>
                <a:latin typeface="Arial"/>
              </a:rPr>
              <a:t>⭐ 5-Star Performer: </a:t>
            </a:r>
            <a:r>
              <a:rPr sz="950">
                <a:solidFill>
                  <a:srgbClr val="1E293B"/>
                </a:solidFill>
                <a:latin typeface="Arial"/>
              </a:rPr>
              <a:t>Awarded for maintaining 4.8+ client average</a:t>
            </a:r>
          </a:p>
          <a:p>
            <a:pPr>
              <a:spcBef>
                <a:spcPts val="350"/>
              </a:spcBef>
              <a:spcAft>
                <a:spcPts val="200"/>
              </a:spcAft>
            </a:pPr>
            <a:r>
              <a:rPr b="1" sz="950">
                <a:solidFill>
                  <a:srgbClr val="0D9488"/>
                </a:solidFill>
                <a:latin typeface="Arial"/>
              </a:rPr>
              <a:t>▸ </a:t>
            </a:r>
            <a:r>
              <a:rPr b="1" sz="950">
                <a:solidFill>
                  <a:srgbClr val="0D9488"/>
                </a:solidFill>
                <a:latin typeface="Arial"/>
              </a:rPr>
              <a:t>👥 Team Pioneer: </a:t>
            </a:r>
            <a:r>
              <a:rPr sz="950">
                <a:solidFill>
                  <a:srgbClr val="1E293B"/>
                </a:solidFill>
                <a:latin typeface="Arial"/>
              </a:rPr>
              <a:t>Awarded for forming 3+ multi-member batches</a:t>
            </a:r>
          </a:p>
          <a:p>
            <a:pPr>
              <a:spcBef>
                <a:spcPts val="350"/>
              </a:spcBef>
              <a:spcAft>
                <a:spcPts val="200"/>
              </a:spcAft>
            </a:pPr>
            <a:r>
              <a:rPr b="1" sz="950">
                <a:solidFill>
                  <a:srgbClr val="0D9488"/>
                </a:solidFill>
                <a:latin typeface="Arial"/>
              </a:rPr>
              <a:t>▸ </a:t>
            </a:r>
            <a:r>
              <a:rPr b="1" sz="950">
                <a:solidFill>
                  <a:srgbClr val="0D9488"/>
                </a:solidFill>
                <a:latin typeface="Arial"/>
              </a:rPr>
              <a:t>⚡ Quick Responder: </a:t>
            </a:r>
            <a:r>
              <a:rPr sz="950">
                <a:solidFill>
                  <a:srgbClr val="1E293B"/>
                </a:solidFill>
                <a:latin typeface="Arial"/>
              </a:rPr>
              <a:t>Awarded for rapid response to invitations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APPLICATION DEMONSTRATION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Developer Workspace &amp; Realtime Messaging</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20 / 25</a:t>
            </a:r>
          </a:p>
        </p:txBody>
      </p:sp>
      <p:sp>
        <p:nvSpPr>
          <p:cNvPr id="7" name="Rounded Rectangle 6"/>
          <p:cNvSpPr/>
          <p:nvPr/>
        </p:nvSpPr>
        <p:spPr>
          <a:xfrm>
            <a:off x="731520" y="1325880"/>
            <a:ext cx="5669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539496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Developer Interface &amp; Realtime Chat</a:t>
            </a:r>
          </a:p>
          <a:p>
            <a:pPr>
              <a:spcBef>
                <a:spcPts val="200"/>
              </a:spcBef>
            </a:pPr>
            <a:r>
              <a:rPr sz="950">
                <a:solidFill>
                  <a:srgbClr val="64748B"/>
                </a:solidFill>
                <a:latin typeface="Arial"/>
              </a:rPr>
              <a:t>Figure 4.4 from Project Report</a:t>
            </a:r>
          </a:p>
        </p:txBody>
      </p:sp>
      <p:pic>
        <p:nvPicPr>
          <p:cNvPr id="9" name="Picture 8" descr="image8.png"/>
          <p:cNvPicPr>
            <a:picLocks noChangeAspect="1"/>
          </p:cNvPicPr>
          <p:nvPr/>
        </p:nvPicPr>
        <p:blipFill>
          <a:blip r:embed="rId2"/>
          <a:stretch>
            <a:fillRect/>
          </a:stretch>
        </p:blipFill>
        <p:spPr>
          <a:xfrm>
            <a:off x="868680" y="1965960"/>
            <a:ext cx="5394960" cy="4023360"/>
          </a:xfrm>
          <a:prstGeom prst="rect">
            <a:avLst/>
          </a:prstGeom>
        </p:spPr>
      </p:pic>
      <p:sp>
        <p:nvSpPr>
          <p:cNvPr id="10" name="Rounded Rectangle 9"/>
          <p:cNvSpPr/>
          <p:nvPr/>
        </p:nvSpPr>
        <p:spPr>
          <a:xfrm>
            <a:off x="6629400" y="1325880"/>
            <a:ext cx="482803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63040"/>
            <a:ext cx="455371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Interface Features &amp; Highlights</a:t>
            </a:r>
          </a:p>
          <a:p>
            <a:pPr>
              <a:spcBef>
                <a:spcPts val="200"/>
              </a:spcBef>
            </a:pPr>
            <a:r>
              <a:rPr sz="950">
                <a:solidFill>
                  <a:srgbClr val="64748B"/>
                </a:solidFill>
                <a:latin typeface="Arial"/>
              </a:rPr>
              <a:t>Live Production Build Validation</a:t>
            </a:r>
          </a:p>
        </p:txBody>
      </p:sp>
      <p:sp>
        <p:nvSpPr>
          <p:cNvPr id="12" name="TextBox 11"/>
          <p:cNvSpPr txBox="1"/>
          <p:nvPr/>
        </p:nvSpPr>
        <p:spPr>
          <a:xfrm>
            <a:off x="6766560" y="1965960"/>
            <a:ext cx="4553712"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Screen (a): Developer Profile: </a:t>
            </a:r>
            <a:r>
              <a:rPr sz="1050">
                <a:solidFill>
                  <a:srgbClr val="1E293B"/>
                </a:solidFill>
                <a:latin typeface="Arial"/>
              </a:rPr>
              <a:t>Displays verified technical skills, tier ranking badges, completed project counters, and authentic client rating stars derived directly from SQL joins.</a:t>
            </a:r>
          </a:p>
          <a:p>
            <a:pPr>
              <a:spcBef>
                <a:spcPts val="350"/>
              </a:spcBef>
              <a:spcAft>
                <a:spcPts val="200"/>
              </a:spcAft>
            </a:pPr>
            <a:r>
              <a:rPr b="1" sz="1050">
                <a:solidFill>
                  <a:srgbClr val="0D9488"/>
                </a:solidFill>
                <a:latin typeface="Arial"/>
              </a:rPr>
              <a:t>▸ </a:t>
            </a:r>
            <a:r>
              <a:rPr b="1" sz="1050">
                <a:solidFill>
                  <a:srgbClr val="0D9488"/>
                </a:solidFill>
                <a:latin typeface="Arial"/>
              </a:rPr>
              <a:t>Interactive Skill Tags: </a:t>
            </a:r>
            <a:r>
              <a:rPr sz="1050">
                <a:solidFill>
                  <a:srgbClr val="1E293B"/>
                </a:solidFill>
                <a:latin typeface="Arial"/>
              </a:rPr>
              <a:t>Skills are stored as JSONB arrays, enabling instant filtering and matching across project discovery feeds.</a:t>
            </a:r>
          </a:p>
          <a:p>
            <a:pPr>
              <a:spcBef>
                <a:spcPts val="350"/>
              </a:spcBef>
              <a:spcAft>
                <a:spcPts val="200"/>
              </a:spcAft>
            </a:pPr>
            <a:r>
              <a:rPr b="1" sz="1050">
                <a:solidFill>
                  <a:srgbClr val="0D9488"/>
                </a:solidFill>
                <a:latin typeface="Arial"/>
              </a:rPr>
              <a:t>▸ </a:t>
            </a:r>
            <a:r>
              <a:rPr b="1" sz="1050">
                <a:solidFill>
                  <a:srgbClr val="0D9488"/>
                </a:solidFill>
                <a:latin typeface="Arial"/>
              </a:rPr>
              <a:t>Screen (b): Real-Time Chat: </a:t>
            </a:r>
            <a:r>
              <a:rPr sz="1050">
                <a:solidFill>
                  <a:srgbClr val="1E293B"/>
                </a:solidFill>
                <a:latin typeface="Arial"/>
              </a:rPr>
              <a:t>One-on-one WebSocket messaging thread between accepted connections, powered by Supabase Realtime channel postgres_changes.</a:t>
            </a:r>
          </a:p>
          <a:p>
            <a:pPr>
              <a:spcBef>
                <a:spcPts val="350"/>
              </a:spcBef>
              <a:spcAft>
                <a:spcPts val="200"/>
              </a:spcAft>
            </a:pPr>
            <a:r>
              <a:rPr b="1" sz="1050">
                <a:solidFill>
                  <a:srgbClr val="0D9488"/>
                </a:solidFill>
                <a:latin typeface="Arial"/>
              </a:rPr>
              <a:t>▸ </a:t>
            </a:r>
            <a:r>
              <a:rPr b="1" sz="1050">
                <a:solidFill>
                  <a:srgbClr val="0D9488"/>
                </a:solidFill>
                <a:latin typeface="Arial"/>
              </a:rPr>
              <a:t>Sub-Second Message Sync: </a:t>
            </a:r>
            <a:r>
              <a:rPr sz="1050">
                <a:solidFill>
                  <a:srgbClr val="1E293B"/>
                </a:solidFill>
                <a:latin typeface="Arial"/>
              </a:rPr>
              <a:t>Messages render with zero polling; instant read receipts update when recipient opens the thread.</a:t>
            </a:r>
          </a:p>
          <a:p>
            <a:pPr>
              <a:spcBef>
                <a:spcPts val="350"/>
              </a:spcBef>
              <a:spcAft>
                <a:spcPts val="200"/>
              </a:spcAft>
            </a:pPr>
            <a:r>
              <a:rPr b="1" sz="1050">
                <a:solidFill>
                  <a:srgbClr val="0D9488"/>
                </a:solidFill>
                <a:latin typeface="Arial"/>
              </a:rPr>
              <a:t>▸ </a:t>
            </a:r>
            <a:r>
              <a:rPr b="1" sz="1050">
                <a:solidFill>
                  <a:srgbClr val="0D9488"/>
                </a:solidFill>
                <a:latin typeface="Arial"/>
              </a:rPr>
              <a:t>Dynamic Read Badging: </a:t>
            </a:r>
            <a:r>
              <a:rPr sz="1050">
                <a:solidFill>
                  <a:srgbClr val="1E293B"/>
                </a:solidFill>
                <a:latin typeface="Arial"/>
              </a:rPr>
              <a:t>Invokes security-definer function mark_messages_read, dynamically clearing unread counter badges on the navigation bar.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APPLICATION DEMONSTRATION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Team Formation Engine &amp; Client Dashboard</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21 / 25</a:t>
            </a:r>
          </a:p>
        </p:txBody>
      </p:sp>
      <p:sp>
        <p:nvSpPr>
          <p:cNvPr id="7" name="Rounded Rectangle 6"/>
          <p:cNvSpPr/>
          <p:nvPr/>
        </p:nvSpPr>
        <p:spPr>
          <a:xfrm>
            <a:off x="731520" y="1325880"/>
            <a:ext cx="5669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539496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Team Engine &amp; Client Management</a:t>
            </a:r>
          </a:p>
          <a:p>
            <a:pPr>
              <a:spcBef>
                <a:spcPts val="200"/>
              </a:spcBef>
            </a:pPr>
            <a:r>
              <a:rPr sz="950">
                <a:solidFill>
                  <a:srgbClr val="64748B"/>
                </a:solidFill>
                <a:latin typeface="Arial"/>
              </a:rPr>
              <a:t>Figure 4.5 from Project Report</a:t>
            </a:r>
          </a:p>
        </p:txBody>
      </p:sp>
      <p:pic>
        <p:nvPicPr>
          <p:cNvPr id="9" name="Picture 8" descr="image9.png"/>
          <p:cNvPicPr>
            <a:picLocks noChangeAspect="1"/>
          </p:cNvPicPr>
          <p:nvPr/>
        </p:nvPicPr>
        <p:blipFill>
          <a:blip r:embed="rId2"/>
          <a:stretch>
            <a:fillRect/>
          </a:stretch>
        </p:blipFill>
        <p:spPr>
          <a:xfrm>
            <a:off x="868680" y="1965960"/>
            <a:ext cx="5394960" cy="4023360"/>
          </a:xfrm>
          <a:prstGeom prst="rect">
            <a:avLst/>
          </a:prstGeom>
        </p:spPr>
      </p:pic>
      <p:sp>
        <p:nvSpPr>
          <p:cNvPr id="10" name="Rounded Rectangle 9"/>
          <p:cNvSpPr/>
          <p:nvPr/>
        </p:nvSpPr>
        <p:spPr>
          <a:xfrm>
            <a:off x="6629400" y="1325880"/>
            <a:ext cx="482803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63040"/>
            <a:ext cx="455371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Interface Features &amp; Highlights</a:t>
            </a:r>
          </a:p>
          <a:p>
            <a:pPr>
              <a:spcBef>
                <a:spcPts val="200"/>
              </a:spcBef>
            </a:pPr>
            <a:r>
              <a:rPr sz="950">
                <a:solidFill>
                  <a:srgbClr val="64748B"/>
                </a:solidFill>
                <a:latin typeface="Arial"/>
              </a:rPr>
              <a:t>Live Production Build Validation</a:t>
            </a:r>
          </a:p>
        </p:txBody>
      </p:sp>
      <p:sp>
        <p:nvSpPr>
          <p:cNvPr id="12" name="TextBox 11"/>
          <p:cNvSpPr txBox="1"/>
          <p:nvPr/>
        </p:nvSpPr>
        <p:spPr>
          <a:xfrm>
            <a:off x="6766560" y="1965960"/>
            <a:ext cx="4553712"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Screen (a): Team Engine: </a:t>
            </a:r>
            <a:r>
              <a:rPr sz="1050">
                <a:solidFill>
                  <a:srgbClr val="1E293B"/>
                </a:solidFill>
                <a:latin typeface="Arial"/>
              </a:rPr>
              <a:t>Interactive squad creator showing selected members, domain selector, live 67% synergy score badge, and missing technology alerts.</a:t>
            </a:r>
          </a:p>
          <a:p>
            <a:pPr>
              <a:spcBef>
                <a:spcPts val="350"/>
              </a:spcBef>
              <a:spcAft>
                <a:spcPts val="200"/>
              </a:spcAft>
            </a:pPr>
            <a:r>
              <a:rPr b="1" sz="1050">
                <a:solidFill>
                  <a:srgbClr val="0D9488"/>
                </a:solidFill>
                <a:latin typeface="Arial"/>
              </a:rPr>
              <a:t>▸ </a:t>
            </a:r>
            <a:r>
              <a:rPr b="1" sz="1050">
                <a:solidFill>
                  <a:srgbClr val="0D9488"/>
                </a:solidFill>
                <a:latin typeface="Arial"/>
              </a:rPr>
              <a:t>Reactive Skill Gap Detection: </a:t>
            </a:r>
            <a:r>
              <a:rPr sz="1050">
                <a:solidFill>
                  <a:srgbClr val="1E293B"/>
                </a:solidFill>
                <a:latin typeface="Arial"/>
              </a:rPr>
              <a:t>When members are added, the UI instantly highlights missing skills (e.g. AWS, UI/UX), guiding the developer to recruit complementary peers.</a:t>
            </a:r>
          </a:p>
          <a:p>
            <a:pPr>
              <a:spcBef>
                <a:spcPts val="350"/>
              </a:spcBef>
              <a:spcAft>
                <a:spcPts val="200"/>
              </a:spcAft>
            </a:pPr>
            <a:r>
              <a:rPr b="1" sz="1050">
                <a:solidFill>
                  <a:srgbClr val="0D9488"/>
                </a:solidFill>
                <a:latin typeface="Arial"/>
              </a:rPr>
              <a:t>▸ </a:t>
            </a:r>
            <a:r>
              <a:rPr b="1" sz="1050">
                <a:solidFill>
                  <a:srgbClr val="0D9488"/>
                </a:solidFill>
                <a:latin typeface="Arial"/>
              </a:rPr>
              <a:t>Connection-Gated Squads: </a:t>
            </a:r>
            <a:r>
              <a:rPr sz="1050">
                <a:solidFill>
                  <a:srgbClr val="1E293B"/>
                </a:solidFill>
                <a:latin typeface="Arial"/>
              </a:rPr>
              <a:t>Members can only be selected from accepted connections; BEFORE triggers reject unauthorized additions.</a:t>
            </a:r>
          </a:p>
          <a:p>
            <a:pPr>
              <a:spcBef>
                <a:spcPts val="350"/>
              </a:spcBef>
              <a:spcAft>
                <a:spcPts val="200"/>
              </a:spcAft>
            </a:pPr>
            <a:r>
              <a:rPr b="1" sz="1050">
                <a:solidFill>
                  <a:srgbClr val="0D9488"/>
                </a:solidFill>
                <a:latin typeface="Arial"/>
              </a:rPr>
              <a:t>▸ </a:t>
            </a:r>
            <a:r>
              <a:rPr b="1" sz="1050">
                <a:solidFill>
                  <a:srgbClr val="0D9488"/>
                </a:solidFill>
                <a:latin typeface="Arial"/>
              </a:rPr>
              <a:t>Screen (b): Client Dashboard: </a:t>
            </a:r>
            <a:r>
              <a:rPr sz="1050">
                <a:solidFill>
                  <a:srgbClr val="1E293B"/>
                </a:solidFill>
                <a:latin typeface="Arial"/>
              </a:rPr>
              <a:t>Dedicated workspace for clients to post new projects, review applicants, and monitor active deliverables.</a:t>
            </a:r>
          </a:p>
          <a:p>
            <a:pPr>
              <a:spcBef>
                <a:spcPts val="350"/>
              </a:spcBef>
              <a:spcAft>
                <a:spcPts val="200"/>
              </a:spcAft>
            </a:pPr>
            <a:r>
              <a:rPr b="1" sz="1050">
                <a:solidFill>
                  <a:srgbClr val="0D9488"/>
                </a:solidFill>
                <a:latin typeface="Arial"/>
              </a:rPr>
              <a:t>▸ </a:t>
            </a:r>
            <a:r>
              <a:rPr b="1" sz="1050">
                <a:solidFill>
                  <a:srgbClr val="0D9488"/>
                </a:solidFill>
                <a:latin typeface="Arial"/>
              </a:rPr>
              <a:t>Project Budget &amp; Complexity: </a:t>
            </a:r>
            <a:r>
              <a:rPr sz="1050">
                <a:solidFill>
                  <a:srgbClr val="1E293B"/>
                </a:solidFill>
                <a:latin typeface="Arial"/>
              </a:rPr>
              <a:t>Form validated with Zod schemas enforcing valid budget numbers and standardized complexity tiers (Easy, Medium, Hard).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APPLICATION DEMONSTRATION</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Notifications &amp; Project Tracking Interface</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22 / 25</a:t>
            </a:r>
          </a:p>
        </p:txBody>
      </p:sp>
      <p:sp>
        <p:nvSpPr>
          <p:cNvPr id="7" name="Rounded Rectangle 6"/>
          <p:cNvSpPr/>
          <p:nvPr/>
        </p:nvSpPr>
        <p:spPr>
          <a:xfrm>
            <a:off x="731520" y="1325880"/>
            <a:ext cx="56692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5394960"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Notifications &amp; Project Assignment</a:t>
            </a:r>
          </a:p>
          <a:p>
            <a:pPr>
              <a:spcBef>
                <a:spcPts val="200"/>
              </a:spcBef>
            </a:pPr>
            <a:r>
              <a:rPr sz="950">
                <a:solidFill>
                  <a:srgbClr val="64748B"/>
                </a:solidFill>
                <a:latin typeface="Arial"/>
              </a:rPr>
              <a:t>Figure 4.6 from Project Report</a:t>
            </a:r>
          </a:p>
        </p:txBody>
      </p:sp>
      <p:pic>
        <p:nvPicPr>
          <p:cNvPr id="9" name="Picture 8" descr="image10.png"/>
          <p:cNvPicPr>
            <a:picLocks noChangeAspect="1"/>
          </p:cNvPicPr>
          <p:nvPr/>
        </p:nvPicPr>
        <p:blipFill>
          <a:blip r:embed="rId2"/>
          <a:stretch>
            <a:fillRect/>
          </a:stretch>
        </p:blipFill>
        <p:spPr>
          <a:xfrm>
            <a:off x="868680" y="1965960"/>
            <a:ext cx="5394960" cy="4023360"/>
          </a:xfrm>
          <a:prstGeom prst="rect">
            <a:avLst/>
          </a:prstGeom>
        </p:spPr>
      </p:pic>
      <p:sp>
        <p:nvSpPr>
          <p:cNvPr id="10" name="Rounded Rectangle 9"/>
          <p:cNvSpPr/>
          <p:nvPr/>
        </p:nvSpPr>
        <p:spPr>
          <a:xfrm>
            <a:off x="6629400" y="1325880"/>
            <a:ext cx="4828032"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1463040"/>
            <a:ext cx="4553712" cy="45720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Interface Features &amp; Highlights</a:t>
            </a:r>
          </a:p>
          <a:p>
            <a:pPr>
              <a:spcBef>
                <a:spcPts val="200"/>
              </a:spcBef>
            </a:pPr>
            <a:r>
              <a:rPr sz="950">
                <a:solidFill>
                  <a:srgbClr val="64748B"/>
                </a:solidFill>
                <a:latin typeface="Arial"/>
              </a:rPr>
              <a:t>Live Production Build Validation</a:t>
            </a:r>
          </a:p>
        </p:txBody>
      </p:sp>
      <p:sp>
        <p:nvSpPr>
          <p:cNvPr id="12" name="TextBox 11"/>
          <p:cNvSpPr txBox="1"/>
          <p:nvPr/>
        </p:nvSpPr>
        <p:spPr>
          <a:xfrm>
            <a:off x="6766560" y="1965960"/>
            <a:ext cx="4553712" cy="402336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Screen (a): Notification Feed: </a:t>
            </a:r>
            <a:r>
              <a:rPr sz="1050">
                <a:solidFill>
                  <a:srgbClr val="1E293B"/>
                </a:solidFill>
                <a:latin typeface="Arial"/>
              </a:rPr>
              <a:t>Unified chronological stream of trigger-generated alerts featuring actor avatars, time-ago stamps, and unread highlight dots.</a:t>
            </a:r>
          </a:p>
          <a:p>
            <a:pPr>
              <a:spcBef>
                <a:spcPts val="350"/>
              </a:spcBef>
              <a:spcAft>
                <a:spcPts val="200"/>
              </a:spcAft>
            </a:pPr>
            <a:r>
              <a:rPr b="1" sz="1050">
                <a:solidFill>
                  <a:srgbClr val="0D9488"/>
                </a:solidFill>
                <a:latin typeface="Arial"/>
              </a:rPr>
              <a:t>▸ </a:t>
            </a:r>
            <a:r>
              <a:rPr b="1" sz="1050">
                <a:solidFill>
                  <a:srgbClr val="0D9488"/>
                </a:solidFill>
                <a:latin typeface="Arial"/>
              </a:rPr>
              <a:t>One-Click Mark All Read: </a:t>
            </a:r>
            <a:r>
              <a:rPr sz="1050">
                <a:solidFill>
                  <a:srgbClr val="1E293B"/>
                </a:solidFill>
                <a:latin typeface="Arial"/>
              </a:rPr>
              <a:t>Invokes optimistic mutation via TanStack Query, immediately clearing unread state in UI while dispatching database updates.</a:t>
            </a:r>
          </a:p>
          <a:p>
            <a:pPr>
              <a:spcBef>
                <a:spcPts val="350"/>
              </a:spcBef>
              <a:spcAft>
                <a:spcPts val="200"/>
              </a:spcAft>
            </a:pPr>
            <a:r>
              <a:rPr b="1" sz="1050">
                <a:solidFill>
                  <a:srgbClr val="0D9488"/>
                </a:solidFill>
                <a:latin typeface="Arial"/>
              </a:rPr>
              <a:t>▸ </a:t>
            </a:r>
            <a:r>
              <a:rPr b="1" sz="1050">
                <a:solidFill>
                  <a:srgbClr val="0D9488"/>
                </a:solidFill>
                <a:latin typeface="Arial"/>
              </a:rPr>
              <a:t>Screen (b): Project Details: </a:t>
            </a:r>
            <a:r>
              <a:rPr sz="1050">
                <a:solidFill>
                  <a:srgbClr val="1E293B"/>
                </a:solidFill>
                <a:latin typeface="Arial"/>
              </a:rPr>
              <a:t>Client view of project scope, budget ($1,200), timeline, and candidate invitation tracking table.</a:t>
            </a:r>
          </a:p>
          <a:p>
            <a:pPr>
              <a:spcBef>
                <a:spcPts val="350"/>
              </a:spcBef>
              <a:spcAft>
                <a:spcPts val="200"/>
              </a:spcAft>
            </a:pPr>
            <a:r>
              <a:rPr b="1" sz="1050">
                <a:solidFill>
                  <a:srgbClr val="0D9488"/>
                </a:solidFill>
                <a:latin typeface="Arial"/>
              </a:rPr>
              <a:t>▸ </a:t>
            </a:r>
            <a:r>
              <a:rPr b="1" sz="1050">
                <a:solidFill>
                  <a:srgbClr val="0D9488"/>
                </a:solidFill>
                <a:latin typeface="Arial"/>
              </a:rPr>
              <a:t>Gated Assign Button: </a:t>
            </a:r>
            <a:r>
              <a:rPr sz="1050">
                <a:solidFill>
                  <a:srgbClr val="1E293B"/>
                </a:solidFill>
                <a:latin typeface="Arial"/>
              </a:rPr>
              <a:t>Enforces Algorithm 3: the 'Assign' button remains disabled until the invited developer accepts the invitation in their own dashboard.</a:t>
            </a:r>
          </a:p>
          <a:p>
            <a:pPr>
              <a:spcBef>
                <a:spcPts val="350"/>
              </a:spcBef>
              <a:spcAft>
                <a:spcPts val="200"/>
              </a:spcAft>
            </a:pPr>
            <a:r>
              <a:rPr b="1" sz="1050">
                <a:solidFill>
                  <a:srgbClr val="0D9488"/>
                </a:solidFill>
                <a:latin typeface="Arial"/>
              </a:rPr>
              <a:t>▸ </a:t>
            </a:r>
            <a:r>
              <a:rPr b="1" sz="1050">
                <a:solidFill>
                  <a:srgbClr val="0D9488"/>
                </a:solidFill>
                <a:latin typeface="Arial"/>
              </a:rPr>
              <a:t>Role Authorization Isolation: </a:t>
            </a:r>
            <a:r>
              <a:rPr sz="1050">
                <a:solidFill>
                  <a:srgbClr val="1E293B"/>
                </a:solidFill>
                <a:latin typeface="Arial"/>
              </a:rPr>
              <a:t>Developers viewing this page see a sanitized proposal view, while project owners see management controls.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VERIFICATION &amp; BENCHMARKS</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Test Results: 104 DB Checks &amp; Quality Metrics</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23 / 25</a:t>
            </a:r>
          </a:p>
        </p:txBody>
      </p:sp>
      <p:sp>
        <p:nvSpPr>
          <p:cNvPr id="7" name="Rounded Rectangle 6"/>
          <p:cNvSpPr/>
          <p:nvPr/>
        </p:nvSpPr>
        <p:spPr>
          <a:xfrm>
            <a:off x="731520" y="1325880"/>
            <a:ext cx="2514600" cy="114300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2331720" cy="1051560"/>
          </a:xfrm>
          <a:prstGeom prst="rect">
            <a:avLst/>
          </a:prstGeom>
          <a:noFill/>
        </p:spPr>
        <p:txBody>
          <a:bodyPr wrap="square">
            <a:spAutoFit/>
          </a:bodyPr>
          <a:lstStyle/>
          <a:p>
            <a:pPr algn="ctr"/>
            <a:r>
              <a:rPr b="1" sz="2000">
                <a:solidFill>
                  <a:srgbClr val="0D9488"/>
                </a:solidFill>
                <a:latin typeface="Arial"/>
              </a:rPr>
              <a:t>104 / 104</a:t>
            </a:r>
          </a:p>
          <a:p>
            <a:pPr algn="ctr">
              <a:spcBef>
                <a:spcPts val="200"/>
              </a:spcBef>
            </a:pPr>
            <a:r>
              <a:rPr b="1" sz="1050">
                <a:solidFill>
                  <a:srgbClr val="0F3A40"/>
                </a:solidFill>
              </a:rPr>
              <a:t>Database Checks Passed</a:t>
            </a:r>
          </a:p>
          <a:p>
            <a:pPr algn="ctr"/>
            <a:r>
              <a:rPr sz="850">
                <a:solidFill>
                  <a:srgbClr val="64748B"/>
                </a:solidFill>
              </a:rPr>
              <a:t>100% Pass Rate across all 11 SQL migrations</a:t>
            </a:r>
          </a:p>
        </p:txBody>
      </p:sp>
      <p:sp>
        <p:nvSpPr>
          <p:cNvPr id="9" name="Rounded Rectangle 8"/>
          <p:cNvSpPr/>
          <p:nvPr/>
        </p:nvSpPr>
        <p:spPr>
          <a:xfrm>
            <a:off x="3465576" y="1325880"/>
            <a:ext cx="2514600" cy="114300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7016" y="1371600"/>
            <a:ext cx="2331720" cy="1051560"/>
          </a:xfrm>
          <a:prstGeom prst="rect">
            <a:avLst/>
          </a:prstGeom>
          <a:noFill/>
        </p:spPr>
        <p:txBody>
          <a:bodyPr wrap="square">
            <a:spAutoFit/>
          </a:bodyPr>
          <a:lstStyle/>
          <a:p>
            <a:pPr algn="ctr"/>
            <a:r>
              <a:rPr b="1" sz="2000">
                <a:solidFill>
                  <a:srgbClr val="0D9488"/>
                </a:solidFill>
                <a:latin typeface="Arial"/>
              </a:rPr>
              <a:t>18 / 18</a:t>
            </a:r>
          </a:p>
          <a:p>
            <a:pPr algn="ctr">
              <a:spcBef>
                <a:spcPts val="200"/>
              </a:spcBef>
            </a:pPr>
            <a:r>
              <a:rPr b="1" sz="1050">
                <a:solidFill>
                  <a:srgbClr val="0F3A40"/>
                </a:solidFill>
              </a:rPr>
              <a:t>UI Browser Tests Passed</a:t>
            </a:r>
          </a:p>
          <a:p>
            <a:pPr algn="ctr"/>
            <a:r>
              <a:rPr sz="850">
                <a:solidFill>
                  <a:srgbClr val="64748B"/>
                </a:solidFill>
              </a:rPr>
              <a:t>Automated Puppeteer headless Chrome test suite</a:t>
            </a:r>
          </a:p>
        </p:txBody>
      </p:sp>
      <p:sp>
        <p:nvSpPr>
          <p:cNvPr id="11" name="Rounded Rectangle 10"/>
          <p:cNvSpPr/>
          <p:nvPr/>
        </p:nvSpPr>
        <p:spPr>
          <a:xfrm>
            <a:off x="6199632" y="1325880"/>
            <a:ext cx="2514600" cy="114300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1371600"/>
            <a:ext cx="2331720" cy="1051560"/>
          </a:xfrm>
          <a:prstGeom prst="rect">
            <a:avLst/>
          </a:prstGeom>
          <a:noFill/>
        </p:spPr>
        <p:txBody>
          <a:bodyPr wrap="square">
            <a:spAutoFit/>
          </a:bodyPr>
          <a:lstStyle/>
          <a:p>
            <a:pPr algn="ctr"/>
            <a:r>
              <a:rPr b="1" sz="2000">
                <a:solidFill>
                  <a:srgbClr val="0D9488"/>
                </a:solidFill>
                <a:latin typeface="Arial"/>
              </a:rPr>
              <a:t>0 Errors</a:t>
            </a:r>
          </a:p>
          <a:p>
            <a:pPr algn="ctr">
              <a:spcBef>
                <a:spcPts val="200"/>
              </a:spcBef>
            </a:pPr>
            <a:r>
              <a:rPr b="1" sz="1050">
                <a:solidFill>
                  <a:srgbClr val="0F3A40"/>
                </a:solidFill>
              </a:rPr>
              <a:t>TypeScript Compilation</a:t>
            </a:r>
          </a:p>
          <a:p>
            <a:pPr algn="ctr"/>
            <a:r>
              <a:rPr sz="850">
                <a:solidFill>
                  <a:srgbClr val="64748B"/>
                </a:solidFill>
              </a:rPr>
              <a:t>Strict npx tsc --noEmit against database types</a:t>
            </a:r>
          </a:p>
        </p:txBody>
      </p:sp>
      <p:sp>
        <p:nvSpPr>
          <p:cNvPr id="13" name="Rounded Rectangle 12"/>
          <p:cNvSpPr/>
          <p:nvPr/>
        </p:nvSpPr>
        <p:spPr>
          <a:xfrm>
            <a:off x="8933688" y="1325880"/>
            <a:ext cx="2514600" cy="1143000"/>
          </a:xfrm>
          <a:prstGeom prst="roundRect">
            <a:avLst/>
          </a:prstGeom>
          <a:solidFill>
            <a:srgbClr val="F0FDFA"/>
          </a:solidFill>
          <a:ln w="12700">
            <a:solidFill>
              <a:srgbClr val="5EEA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25128" y="1371600"/>
            <a:ext cx="2331720" cy="1051560"/>
          </a:xfrm>
          <a:prstGeom prst="rect">
            <a:avLst/>
          </a:prstGeom>
          <a:noFill/>
        </p:spPr>
        <p:txBody>
          <a:bodyPr wrap="square">
            <a:spAutoFit/>
          </a:bodyPr>
          <a:lstStyle/>
          <a:p>
            <a:pPr algn="ctr"/>
            <a:r>
              <a:rPr b="1" sz="2000">
                <a:solidFill>
                  <a:srgbClr val="0D9488"/>
                </a:solidFill>
                <a:latin typeface="Arial"/>
              </a:rPr>
              <a:t>49 → 2</a:t>
            </a:r>
          </a:p>
          <a:p>
            <a:pPr algn="ctr">
              <a:spcBef>
                <a:spcPts val="200"/>
              </a:spcBef>
            </a:pPr>
            <a:r>
              <a:rPr b="1" sz="1050">
                <a:solidFill>
                  <a:srgbClr val="0F3A40"/>
                </a:solidFill>
              </a:rPr>
              <a:t>ESLint Findings Reduced</a:t>
            </a:r>
          </a:p>
          <a:p>
            <a:pPr algn="ctr"/>
            <a:r>
              <a:rPr sz="850">
                <a:solidFill>
                  <a:srgbClr val="64748B"/>
                </a:solidFill>
              </a:rPr>
              <a:t>14 errors &amp; 35 warnings resolved to 2 dev items</a:t>
            </a:r>
          </a:p>
        </p:txBody>
      </p:sp>
      <p:sp>
        <p:nvSpPr>
          <p:cNvPr id="15" name="Rounded Rectangle 14"/>
          <p:cNvSpPr/>
          <p:nvPr/>
        </p:nvSpPr>
        <p:spPr>
          <a:xfrm>
            <a:off x="731520" y="2606040"/>
            <a:ext cx="525780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724912"/>
            <a:ext cx="4983480" cy="41148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Database Test Suite Results (104 Checks)</a:t>
            </a:r>
          </a:p>
          <a:p>
            <a:pPr>
              <a:spcBef>
                <a:spcPts val="200"/>
              </a:spcBef>
            </a:pPr>
            <a:r>
              <a:rPr sz="950">
                <a:solidFill>
                  <a:srgbClr val="64748B"/>
                </a:solidFill>
                <a:latin typeface="Arial"/>
              </a:rPr>
              <a:t>Figure 4.10 from Project Report</a:t>
            </a:r>
          </a:p>
        </p:txBody>
      </p:sp>
      <p:pic>
        <p:nvPicPr>
          <p:cNvPr id="17" name="Picture 16" descr="image13.png"/>
          <p:cNvPicPr>
            <a:picLocks noChangeAspect="1"/>
          </p:cNvPicPr>
          <p:nvPr/>
        </p:nvPicPr>
        <p:blipFill>
          <a:blip r:embed="rId2"/>
          <a:stretch>
            <a:fillRect/>
          </a:stretch>
        </p:blipFill>
        <p:spPr>
          <a:xfrm>
            <a:off x="868680" y="3182112"/>
            <a:ext cx="4983480" cy="2103120"/>
          </a:xfrm>
          <a:prstGeom prst="rect">
            <a:avLst/>
          </a:prstGeom>
        </p:spPr>
      </p:pic>
      <p:sp>
        <p:nvSpPr>
          <p:cNvPr id="18" name="TextBox 17"/>
          <p:cNvSpPr txBox="1"/>
          <p:nvPr/>
        </p:nvSpPr>
        <p:spPr>
          <a:xfrm>
            <a:off x="868680" y="5349240"/>
            <a:ext cx="4983480" cy="1143000"/>
          </a:xfrm>
          <a:prstGeom prst="rect">
            <a:avLst/>
          </a:prstGeom>
          <a:noFill/>
        </p:spPr>
        <p:txBody>
          <a:bodyPr wrap="square">
            <a:spAutoFit/>
          </a:bodyPr>
          <a:lstStyle/>
          <a:p/>
          <a:p>
            <a:pPr>
              <a:spcBef>
                <a:spcPts val="350"/>
              </a:spcBef>
              <a:spcAft>
                <a:spcPts val="200"/>
              </a:spcAft>
            </a:pPr>
            <a:r>
              <a:rPr b="1" sz="850">
                <a:solidFill>
                  <a:srgbClr val="0D9488"/>
                </a:solidFill>
                <a:latin typeface="Arial"/>
              </a:rPr>
              <a:t>▸ </a:t>
            </a:r>
            <a:r>
              <a:rPr b="1" sz="850">
                <a:solidFill>
                  <a:srgbClr val="0D9488"/>
                </a:solidFill>
                <a:latin typeface="Arial"/>
              </a:rPr>
              <a:t>Coverage Areas: </a:t>
            </a:r>
            <a:r>
              <a:rPr sz="850">
                <a:solidFill>
                  <a:srgbClr val="1E293B"/>
                </a:solidFill>
                <a:latin typeface="Arial"/>
              </a:rPr>
              <a:t>Connections (21/21), Team Batches (10/10), Projects (7/7), Invitations (19/19), Ratings (19/19), Notifications (9/9), Settings (4/4), Support (6/6), Leaderboard (4/4), Anonymous (4/4), Sign-up (1/1).</a:t>
            </a:r>
          </a:p>
        </p:txBody>
      </p:sp>
      <p:sp>
        <p:nvSpPr>
          <p:cNvPr id="19" name="Rounded Rectangle 18"/>
          <p:cNvSpPr/>
          <p:nvPr/>
        </p:nvSpPr>
        <p:spPr>
          <a:xfrm>
            <a:off x="6199632" y="2606040"/>
            <a:ext cx="5257800" cy="39776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2724912"/>
            <a:ext cx="4983480" cy="41148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Google Lighthouse Mobile Audit Scores</a:t>
            </a:r>
          </a:p>
          <a:p>
            <a:pPr>
              <a:spcBef>
                <a:spcPts val="200"/>
              </a:spcBef>
            </a:pPr>
            <a:r>
              <a:rPr sz="950">
                <a:solidFill>
                  <a:srgbClr val="64748B"/>
                </a:solidFill>
                <a:latin typeface="Arial"/>
              </a:rPr>
              <a:t>Figure 4.9 from Project Report</a:t>
            </a:r>
          </a:p>
        </p:txBody>
      </p:sp>
      <p:pic>
        <p:nvPicPr>
          <p:cNvPr id="21" name="Picture 20" descr="image12.png"/>
          <p:cNvPicPr>
            <a:picLocks noChangeAspect="1"/>
          </p:cNvPicPr>
          <p:nvPr/>
        </p:nvPicPr>
        <p:blipFill>
          <a:blip r:embed="rId3"/>
          <a:stretch>
            <a:fillRect/>
          </a:stretch>
        </p:blipFill>
        <p:spPr>
          <a:xfrm>
            <a:off x="6336792" y="3182112"/>
            <a:ext cx="4983480" cy="2103120"/>
          </a:xfrm>
          <a:prstGeom prst="rect">
            <a:avLst/>
          </a:prstGeom>
        </p:spPr>
      </p:pic>
      <p:sp>
        <p:nvSpPr>
          <p:cNvPr id="22" name="TextBox 21"/>
          <p:cNvSpPr txBox="1"/>
          <p:nvPr/>
        </p:nvSpPr>
        <p:spPr>
          <a:xfrm>
            <a:off x="6336792" y="5349240"/>
            <a:ext cx="4983480" cy="1143000"/>
          </a:xfrm>
          <a:prstGeom prst="rect">
            <a:avLst/>
          </a:prstGeom>
          <a:noFill/>
        </p:spPr>
        <p:txBody>
          <a:bodyPr wrap="square">
            <a:spAutoFit/>
          </a:bodyPr>
          <a:lstStyle/>
          <a:p/>
          <a:p>
            <a:pPr>
              <a:spcBef>
                <a:spcPts val="350"/>
              </a:spcBef>
              <a:spcAft>
                <a:spcPts val="200"/>
              </a:spcAft>
            </a:pPr>
            <a:r>
              <a:rPr b="1" sz="850">
                <a:solidFill>
                  <a:srgbClr val="0D9488"/>
                </a:solidFill>
                <a:latin typeface="Arial"/>
              </a:rPr>
              <a:t>▸ </a:t>
            </a:r>
            <a:r>
              <a:rPr b="1" sz="850">
                <a:solidFill>
                  <a:srgbClr val="0D9488"/>
                </a:solidFill>
                <a:latin typeface="Arial"/>
              </a:rPr>
              <a:t>Lighthouse Scores: </a:t>
            </a:r>
            <a:r>
              <a:rPr sz="850">
                <a:solidFill>
                  <a:srgbClr val="1E293B"/>
                </a:solidFill>
                <a:latin typeface="Arial"/>
              </a:rPr>
              <a:t>Performance: 76 · Accessibility: 84 · Best Practices: 100 · SEO: 100. Audited with Lighthouse 12 on mobile emulation (simulated slow 4G, CPU throttling). Compressed bundle: 411 KB.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92608"/>
            <a:ext cx="3108960" cy="292608"/>
          </a:xfrm>
          <a:prstGeom prst="roundRect">
            <a:avLst/>
          </a:prstGeom>
          <a:solidFill>
            <a:srgbClr val="E6FF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0D9488"/>
                </a:solidFill>
                <a:latin typeface="Arial"/>
              </a:rPr>
              <a:t>ROADMAP &amp; EXTENSIBILITY</a:t>
            </a:r>
          </a:p>
        </p:txBody>
      </p:sp>
      <p:sp>
        <p:nvSpPr>
          <p:cNvPr id="5" name="TextBox 4"/>
          <p:cNvSpPr txBox="1"/>
          <p:nvPr/>
        </p:nvSpPr>
        <p:spPr>
          <a:xfrm>
            <a:off x="731520" y="621792"/>
            <a:ext cx="9601200" cy="594360"/>
          </a:xfrm>
          <a:prstGeom prst="rect">
            <a:avLst/>
          </a:prstGeom>
          <a:noFill/>
        </p:spPr>
        <p:txBody>
          <a:bodyPr wrap="square" lIns="0" tIns="0" rIns="0" bIns="0">
            <a:spAutoFit/>
          </a:bodyPr>
          <a:lstStyle/>
          <a:p>
            <a:r>
              <a:rPr b="1" sz="2100">
                <a:solidFill>
                  <a:srgbClr val="0F3A40"/>
                </a:solidFill>
                <a:latin typeface="Arial"/>
              </a:rPr>
              <a:t>Limitations &amp; Future Work</a:t>
            </a:r>
          </a:p>
        </p:txBody>
      </p:sp>
      <p:sp>
        <p:nvSpPr>
          <p:cNvPr id="6" name="TextBox 5"/>
          <p:cNvSpPr txBox="1"/>
          <p:nvPr/>
        </p:nvSpPr>
        <p:spPr>
          <a:xfrm>
            <a:off x="10241280" y="320040"/>
            <a:ext cx="1188720" cy="365760"/>
          </a:xfrm>
          <a:prstGeom prst="rect">
            <a:avLst/>
          </a:prstGeom>
          <a:noFill/>
        </p:spPr>
        <p:txBody>
          <a:bodyPr wrap="none" lIns="0" tIns="0" rIns="0" bIns="0">
            <a:spAutoFit/>
          </a:bodyPr>
          <a:lstStyle/>
          <a:p>
            <a:pPr algn="r"/>
            <a:r>
              <a:rPr sz="1100" b="1">
                <a:solidFill>
                  <a:srgbClr val="64748B"/>
                </a:solidFill>
                <a:latin typeface="Arial"/>
              </a:rPr>
              <a:t>Slide 24 / 25</a:t>
            </a:r>
          </a:p>
        </p:txBody>
      </p:sp>
      <p:sp>
        <p:nvSpPr>
          <p:cNvPr id="7" name="Rounded Rectangle 6"/>
          <p:cNvSpPr/>
          <p:nvPr/>
        </p:nvSpPr>
        <p:spPr>
          <a:xfrm>
            <a:off x="731520"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498348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Current Prototype Boundaries</a:t>
            </a:r>
          </a:p>
          <a:p>
            <a:pPr>
              <a:spcBef>
                <a:spcPts val="200"/>
              </a:spcBef>
            </a:pPr>
            <a:r>
              <a:rPr sz="950">
                <a:solidFill>
                  <a:srgbClr val="64748B"/>
                </a:solidFill>
                <a:latin typeface="Arial"/>
              </a:rPr>
              <a:t>Table 5.2 from Project Report</a:t>
            </a:r>
          </a:p>
        </p:txBody>
      </p:sp>
      <p:sp>
        <p:nvSpPr>
          <p:cNvPr id="9" name="TextBox 8"/>
          <p:cNvSpPr txBox="1"/>
          <p:nvPr/>
        </p:nvSpPr>
        <p:spPr>
          <a:xfrm>
            <a:off x="868680" y="2011680"/>
            <a:ext cx="4983480" cy="393192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Curated Job Listings: </a:t>
            </a:r>
            <a:r>
              <a:rPr sz="1050">
                <a:solidFill>
                  <a:srgbClr val="1E293B"/>
                </a:solidFill>
                <a:latin typeface="Arial"/>
              </a:rPr>
              <a:t>Projects currently originate from verified on-platform postings rather than automated external job scraping APIs.</a:t>
            </a:r>
          </a:p>
          <a:p>
            <a:pPr>
              <a:spcBef>
                <a:spcPts val="350"/>
              </a:spcBef>
              <a:spcAft>
                <a:spcPts val="200"/>
              </a:spcAft>
            </a:pPr>
            <a:r>
              <a:rPr b="1" sz="1050">
                <a:solidFill>
                  <a:srgbClr val="0D9488"/>
                </a:solidFill>
                <a:latin typeface="Arial"/>
              </a:rPr>
              <a:t>▸ </a:t>
            </a:r>
            <a:r>
              <a:rPr b="1" sz="1050">
                <a:solidFill>
                  <a:srgbClr val="0D9488"/>
                </a:solidFill>
                <a:latin typeface="Arial"/>
              </a:rPr>
              <a:t>Relational Filter Matching: </a:t>
            </a:r>
            <a:r>
              <a:rPr sz="1050">
                <a:solidFill>
                  <a:srgbClr val="1E293B"/>
                </a:solidFill>
                <a:latin typeface="Arial"/>
              </a:rPr>
              <a:t>Developer and project search uses SQL .ilike() and .contains() filters rather than semantic AI vector embeddings.</a:t>
            </a:r>
          </a:p>
          <a:p>
            <a:pPr>
              <a:spcBef>
                <a:spcPts val="350"/>
              </a:spcBef>
              <a:spcAft>
                <a:spcPts val="200"/>
              </a:spcAft>
            </a:pPr>
            <a:r>
              <a:rPr b="1" sz="1050">
                <a:solidFill>
                  <a:srgbClr val="0D9488"/>
                </a:solidFill>
                <a:latin typeface="Arial"/>
              </a:rPr>
              <a:t>▸ </a:t>
            </a:r>
            <a:r>
              <a:rPr b="1" sz="1050">
                <a:solidFill>
                  <a:srgbClr val="0D9488"/>
                </a:solidFill>
                <a:latin typeface="Arial"/>
              </a:rPr>
              <a:t>Text-Only Messaging: </a:t>
            </a:r>
            <a:r>
              <a:rPr sz="1050">
                <a:solidFill>
                  <a:srgbClr val="1E293B"/>
                </a:solidFill>
                <a:latin typeface="Arial"/>
              </a:rPr>
              <a:t>Real-time chat supports text communication; multimedia attachments, voice notes, and video calling are not yet integrated.</a:t>
            </a:r>
          </a:p>
          <a:p>
            <a:pPr>
              <a:spcBef>
                <a:spcPts val="350"/>
              </a:spcBef>
              <a:spcAft>
                <a:spcPts val="200"/>
              </a:spcAft>
            </a:pPr>
            <a:r>
              <a:rPr b="1" sz="1050">
                <a:solidFill>
                  <a:srgbClr val="0D9488"/>
                </a:solidFill>
                <a:latin typeface="Arial"/>
              </a:rPr>
              <a:t>▸ </a:t>
            </a:r>
            <a:r>
              <a:rPr b="1" sz="1050">
                <a:solidFill>
                  <a:srgbClr val="0D9488"/>
                </a:solidFill>
                <a:latin typeface="Arial"/>
              </a:rPr>
              <a:t>Simulated Financial Escrow: </a:t>
            </a:r>
            <a:r>
              <a:rPr sz="1050">
                <a:solidFill>
                  <a:srgbClr val="1E293B"/>
                </a:solidFill>
                <a:latin typeface="Arial"/>
              </a:rPr>
              <a:t>Payments are simulated through contract states without live Stripe escrow milestone disbursements in this academic phase.</a:t>
            </a:r>
          </a:p>
          <a:p>
            <a:pPr>
              <a:spcBef>
                <a:spcPts val="350"/>
              </a:spcBef>
              <a:spcAft>
                <a:spcPts val="200"/>
              </a:spcAft>
            </a:pPr>
            <a:r>
              <a:rPr b="1" sz="1050">
                <a:solidFill>
                  <a:srgbClr val="0D9488"/>
                </a:solidFill>
                <a:latin typeface="Arial"/>
              </a:rPr>
              <a:t>▸ </a:t>
            </a:r>
            <a:r>
              <a:rPr b="1" sz="1050">
                <a:solidFill>
                  <a:srgbClr val="0D9488"/>
                </a:solidFill>
                <a:latin typeface="Arial"/>
              </a:rPr>
              <a:t>In-App Notifications Only: </a:t>
            </a:r>
            <a:r>
              <a:rPr sz="1050">
                <a:solidFill>
                  <a:srgbClr val="1E293B"/>
                </a:solidFill>
                <a:latin typeface="Arial"/>
              </a:rPr>
              <a:t>Notifications are currently displayed in-app; external transactional email and SMS dispatchers remain unconfigured.</a:t>
            </a:r>
          </a:p>
        </p:txBody>
      </p:sp>
      <p:sp>
        <p:nvSpPr>
          <p:cNvPr id="10" name="Rounded Rectangle 9"/>
          <p:cNvSpPr/>
          <p:nvPr/>
        </p:nvSpPr>
        <p:spPr>
          <a:xfrm>
            <a:off x="6199632" y="1325880"/>
            <a:ext cx="52578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463040"/>
            <a:ext cx="4983480" cy="502920"/>
          </a:xfrm>
          <a:prstGeom prst="rect">
            <a:avLst/>
          </a:prstGeom>
          <a:noFill/>
        </p:spPr>
        <p:txBody>
          <a:bodyPr wrap="square" lIns="0" tIns="0" rIns="0" bIns="0">
            <a:spAutoFit/>
          </a:bodyPr>
          <a:lstStyle/>
          <a:p>
            <a:r>
              <a:rPr b="1" sz="1300">
                <a:solidFill>
                  <a:srgbClr val="0D9488"/>
                </a:solidFill>
                <a:latin typeface="Arial"/>
              </a:rPr>
              <a:t>🔮  </a:t>
            </a:r>
            <a:r>
              <a:rPr b="1" sz="1300">
                <a:solidFill>
                  <a:srgbClr val="0F3A40"/>
                </a:solidFill>
                <a:latin typeface="Arial"/>
              </a:rPr>
              <a:t>Planned Future Enhancements</a:t>
            </a:r>
          </a:p>
          <a:p>
            <a:pPr>
              <a:spcBef>
                <a:spcPts val="200"/>
              </a:spcBef>
            </a:pPr>
            <a:r>
              <a:rPr sz="950">
                <a:solidFill>
                  <a:srgbClr val="64748B"/>
                </a:solidFill>
                <a:latin typeface="Arial"/>
              </a:rPr>
              <a:t>Strategic Evolution Roadmap</a:t>
            </a:r>
          </a:p>
        </p:txBody>
      </p:sp>
      <p:sp>
        <p:nvSpPr>
          <p:cNvPr id="12" name="TextBox 11"/>
          <p:cNvSpPr txBox="1"/>
          <p:nvPr/>
        </p:nvSpPr>
        <p:spPr>
          <a:xfrm>
            <a:off x="6336792" y="2011680"/>
            <a:ext cx="4983480" cy="3931920"/>
          </a:xfrm>
          <a:prstGeom prst="rect">
            <a:avLst/>
          </a:prstGeom>
          <a:noFill/>
        </p:spPr>
        <p:txBody>
          <a:bodyPr wrap="square" lIns="0" tIns="0" rIns="0" bIns="0">
            <a:spAutoFit/>
          </a:bodyPr>
          <a:lstStyle/>
          <a:p/>
          <a:p>
            <a:pPr>
              <a:spcBef>
                <a:spcPts val="350"/>
              </a:spcBef>
              <a:spcAft>
                <a:spcPts val="200"/>
              </a:spcAft>
            </a:pPr>
            <a:r>
              <a:rPr b="1" sz="1050">
                <a:solidFill>
                  <a:srgbClr val="0D9488"/>
                </a:solidFill>
                <a:latin typeface="Arial"/>
              </a:rPr>
              <a:t>▸ </a:t>
            </a:r>
            <a:r>
              <a:rPr b="1" sz="1050">
                <a:solidFill>
                  <a:srgbClr val="0D9488"/>
                </a:solidFill>
                <a:latin typeface="Arial"/>
              </a:rPr>
              <a:t>AI-Powered Team Matching: </a:t>
            </a:r>
            <a:r>
              <a:rPr sz="1050">
                <a:solidFill>
                  <a:srgbClr val="1E293B"/>
                </a:solidFill>
                <a:latin typeface="Arial"/>
              </a:rPr>
              <a:t>Deploy embedding models to recommend complementary teammates based on GitHub commit histories and project domains.</a:t>
            </a:r>
          </a:p>
          <a:p>
            <a:pPr>
              <a:spcBef>
                <a:spcPts val="350"/>
              </a:spcBef>
              <a:spcAft>
                <a:spcPts val="200"/>
              </a:spcAft>
            </a:pPr>
            <a:r>
              <a:rPr b="1" sz="1050">
                <a:solidFill>
                  <a:srgbClr val="0D9488"/>
                </a:solidFill>
                <a:latin typeface="Arial"/>
              </a:rPr>
              <a:t>▸ </a:t>
            </a:r>
            <a:r>
              <a:rPr b="1" sz="1050">
                <a:solidFill>
                  <a:srgbClr val="0D9488"/>
                </a:solidFill>
                <a:latin typeface="Arial"/>
              </a:rPr>
              <a:t>Automated GitHub Verification: </a:t>
            </a:r>
            <a:r>
              <a:rPr sz="1050">
                <a:solidFill>
                  <a:srgbClr val="1E293B"/>
                </a:solidFill>
                <a:latin typeface="Arial"/>
              </a:rPr>
              <a:t>OAuth integration with GitHub API to verify developer repositories, languages, and technical pull requests automatically.</a:t>
            </a:r>
          </a:p>
          <a:p>
            <a:pPr>
              <a:spcBef>
                <a:spcPts val="350"/>
              </a:spcBef>
              <a:spcAft>
                <a:spcPts val="200"/>
              </a:spcAft>
            </a:pPr>
            <a:r>
              <a:rPr b="1" sz="1050">
                <a:solidFill>
                  <a:srgbClr val="0D9488"/>
                </a:solidFill>
                <a:latin typeface="Arial"/>
              </a:rPr>
              <a:t>▸ </a:t>
            </a:r>
            <a:r>
              <a:rPr b="1" sz="1050">
                <a:solidFill>
                  <a:srgbClr val="0D9488"/>
                </a:solidFill>
                <a:latin typeface="Arial"/>
              </a:rPr>
              <a:t>WebRTC Audio &amp; Video Conferencing: </a:t>
            </a:r>
            <a:r>
              <a:rPr sz="1050">
                <a:solidFill>
                  <a:srgbClr val="1E293B"/>
                </a:solidFill>
                <a:latin typeface="Arial"/>
              </a:rPr>
              <a:t>Native peer-to-peer video calling for sprint standups, project kickoff meetings, and client interviews.</a:t>
            </a:r>
          </a:p>
          <a:p>
            <a:pPr>
              <a:spcBef>
                <a:spcPts val="350"/>
              </a:spcBef>
              <a:spcAft>
                <a:spcPts val="200"/>
              </a:spcAft>
            </a:pPr>
            <a:r>
              <a:rPr b="1" sz="1050">
                <a:solidFill>
                  <a:srgbClr val="0D9488"/>
                </a:solidFill>
                <a:latin typeface="Arial"/>
              </a:rPr>
              <a:t>▸ </a:t>
            </a:r>
            <a:r>
              <a:rPr b="1" sz="1050">
                <a:solidFill>
                  <a:srgbClr val="0D9488"/>
                </a:solidFill>
                <a:latin typeface="Arial"/>
              </a:rPr>
              <a:t>Stripe Milestone Escrow: </a:t>
            </a:r>
            <a:r>
              <a:rPr sz="1050">
                <a:solidFill>
                  <a:srgbClr val="1E293B"/>
                </a:solidFill>
                <a:latin typeface="Arial"/>
              </a:rPr>
              <a:t>Smart financial escrow contracts releasing payments automatically upon client milestone sign-off.</a:t>
            </a:r>
          </a:p>
          <a:p>
            <a:pPr>
              <a:spcBef>
                <a:spcPts val="350"/>
              </a:spcBef>
              <a:spcAft>
                <a:spcPts val="200"/>
              </a:spcAft>
            </a:pPr>
            <a:r>
              <a:rPr b="1" sz="1050">
                <a:solidFill>
                  <a:srgbClr val="0D9488"/>
                </a:solidFill>
                <a:latin typeface="Arial"/>
              </a:rPr>
              <a:t>▸ </a:t>
            </a:r>
            <a:r>
              <a:rPr b="1" sz="1050">
                <a:solidFill>
                  <a:srgbClr val="0D9488"/>
                </a:solidFill>
                <a:latin typeface="Arial"/>
              </a:rPr>
              <a:t>React Native Mobile App: </a:t>
            </a:r>
            <a:r>
              <a:rPr sz="1050">
                <a:solidFill>
                  <a:srgbClr val="1E293B"/>
                </a:solidFill>
                <a:latin typeface="Arial"/>
              </a:rPr>
              <a:t>Cross-platform mobile application compiled for iOS and Android with background push notifications.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28"/>
          </a:solidFill>
          <a:ln>
            <a:solidFill>
              <a:srgbClr val="0B2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31520"/>
            <a:ext cx="4114800" cy="320040"/>
          </a:xfrm>
          <a:prstGeom prst="roundRect">
            <a:avLst/>
          </a:prstGeom>
          <a:solidFill>
            <a:srgbClr val="134E4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b="1" sz="1000">
                <a:solidFill>
                  <a:srgbClr val="2DD4BF"/>
                </a:solidFill>
              </a:rPr>
              <a:t>PROJECT SUMMARY &amp; OPEN FLOOR</a:t>
            </a:r>
          </a:p>
        </p:txBody>
      </p:sp>
      <p:sp>
        <p:nvSpPr>
          <p:cNvPr id="5" name="TextBox 4"/>
          <p:cNvSpPr txBox="1"/>
          <p:nvPr/>
        </p:nvSpPr>
        <p:spPr>
          <a:xfrm>
            <a:off x="731520" y="1143000"/>
            <a:ext cx="10698480" cy="1005840"/>
          </a:xfrm>
          <a:prstGeom prst="rect">
            <a:avLst/>
          </a:prstGeom>
          <a:noFill/>
        </p:spPr>
        <p:txBody>
          <a:bodyPr wrap="square" lIns="0" tIns="0" rIns="0" bIns="0">
            <a:spAutoFit/>
          </a:bodyPr>
          <a:lstStyle/>
          <a:p>
            <a:r>
              <a:rPr b="1" sz="3600">
                <a:solidFill>
                  <a:srgbClr val="FFFFFF"/>
                </a:solidFill>
                <a:latin typeface="Arial"/>
              </a:rPr>
              <a:t>Conclusion &amp; Discussion</a:t>
            </a:r>
          </a:p>
          <a:p>
            <a:pPr>
              <a:spcBef>
                <a:spcPts val="300"/>
              </a:spcBef>
            </a:pPr>
            <a:r>
              <a:rPr b="1" sz="1600">
                <a:solidFill>
                  <a:srgbClr val="CCFBF1"/>
                </a:solidFill>
              </a:rPr>
              <a:t>CollabriX: Proving the Power of Team-First Freelance Collaboration</a:t>
            </a:r>
          </a:p>
        </p:txBody>
      </p:sp>
      <p:sp>
        <p:nvSpPr>
          <p:cNvPr id="6" name="Rounded Rectangle 5"/>
          <p:cNvSpPr/>
          <p:nvPr/>
        </p:nvSpPr>
        <p:spPr>
          <a:xfrm>
            <a:off x="731520" y="2240280"/>
            <a:ext cx="5257800" cy="3200400"/>
          </a:xfrm>
          <a:prstGeom prst="roundRect">
            <a:avLst/>
          </a:prstGeom>
          <a:solidFill>
            <a:srgbClr val="1034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77440"/>
            <a:ext cx="4983480" cy="2926080"/>
          </a:xfrm>
          <a:prstGeom prst="rect">
            <a:avLst/>
          </a:prstGeom>
          <a:noFill/>
        </p:spPr>
        <p:txBody>
          <a:bodyPr wrap="square" lIns="0" tIns="0" rIns="0" bIns="0">
            <a:spAutoFit/>
          </a:bodyPr>
          <a:lstStyle/>
          <a:p>
            <a:r>
              <a:rPr b="1" sz="1100">
                <a:solidFill>
                  <a:srgbClr val="2DD4BF"/>
                </a:solidFill>
              </a:rPr>
              <a:t>KEY RESEARCH &amp; ENGINEERING ACCOMPLISHMENTS</a:t>
            </a:r>
          </a:p>
          <a:p>
            <a:pPr>
              <a:spcBef>
                <a:spcPts val="350"/>
              </a:spcBef>
              <a:spcAft>
                <a:spcPts val="200"/>
              </a:spcAft>
            </a:pPr>
            <a:r>
              <a:rPr b="1" sz="1000">
                <a:solidFill>
                  <a:srgbClr val="99F6E4"/>
                </a:solidFill>
                <a:latin typeface="Arial"/>
              </a:rPr>
              <a:t>▸ </a:t>
            </a:r>
            <a:r>
              <a:rPr b="1" sz="1000">
                <a:solidFill>
                  <a:srgbClr val="99F6E4"/>
                </a:solidFill>
                <a:latin typeface="Arial"/>
              </a:rPr>
              <a:t>Team-First Shift: </a:t>
            </a:r>
            <a:r>
              <a:rPr sz="1000">
                <a:solidFill>
                  <a:srgbClr val="FFFFFF"/>
                </a:solidFill>
                <a:latin typeface="Arial"/>
              </a:rPr>
              <a:t>Transformed freelance software delivery from isolated solo bidding to collaborative squad teaming.</a:t>
            </a:r>
          </a:p>
          <a:p>
            <a:pPr>
              <a:spcBef>
                <a:spcPts val="350"/>
              </a:spcBef>
              <a:spcAft>
                <a:spcPts val="200"/>
              </a:spcAft>
            </a:pPr>
            <a:r>
              <a:rPr b="1" sz="1000">
                <a:solidFill>
                  <a:srgbClr val="99F6E4"/>
                </a:solidFill>
                <a:latin typeface="Arial"/>
              </a:rPr>
              <a:t>▸ </a:t>
            </a:r>
            <a:r>
              <a:rPr b="1" sz="1000">
                <a:solidFill>
                  <a:srgbClr val="99F6E4"/>
                </a:solidFill>
                <a:latin typeface="Arial"/>
              </a:rPr>
              <a:t>Relational Integrity: </a:t>
            </a:r>
            <a:r>
              <a:rPr sz="1000">
                <a:solidFill>
                  <a:srgbClr val="FFFFFF"/>
                </a:solidFill>
                <a:latin typeface="Arial"/>
              </a:rPr>
              <a:t>PostgreSQL Row-Level Security on all 12 tables prevents review fraud, state forgery, and unauthorized writes.</a:t>
            </a:r>
          </a:p>
          <a:p>
            <a:pPr>
              <a:spcBef>
                <a:spcPts val="350"/>
              </a:spcBef>
              <a:spcAft>
                <a:spcPts val="200"/>
              </a:spcAft>
            </a:pPr>
            <a:r>
              <a:rPr b="1" sz="1000">
                <a:solidFill>
                  <a:srgbClr val="99F6E4"/>
                </a:solidFill>
                <a:latin typeface="Arial"/>
              </a:rPr>
              <a:t>▸ </a:t>
            </a:r>
            <a:r>
              <a:rPr b="1" sz="1000">
                <a:solidFill>
                  <a:srgbClr val="99F6E4"/>
                </a:solidFill>
                <a:latin typeface="Arial"/>
              </a:rPr>
              <a:t>Algorithmic Synergy: </a:t>
            </a:r>
            <a:r>
              <a:rPr sz="1000">
                <a:solidFill>
                  <a:srgbClr val="FFFFFF"/>
                </a:solidFill>
                <a:latin typeface="Arial"/>
              </a:rPr>
              <a:t>Algorithm 1 matches team capacity against domain standards, proactively alerting squads to skill gaps.</a:t>
            </a:r>
          </a:p>
          <a:p>
            <a:pPr>
              <a:spcBef>
                <a:spcPts val="350"/>
              </a:spcBef>
              <a:spcAft>
                <a:spcPts val="200"/>
              </a:spcAft>
            </a:pPr>
            <a:r>
              <a:rPr b="1" sz="1000">
                <a:solidFill>
                  <a:srgbClr val="99F6E4"/>
                </a:solidFill>
                <a:latin typeface="Arial"/>
              </a:rPr>
              <a:t>▸ </a:t>
            </a:r>
            <a:r>
              <a:rPr b="1" sz="1000">
                <a:solidFill>
                  <a:srgbClr val="99F6E4"/>
                </a:solidFill>
                <a:latin typeface="Arial"/>
              </a:rPr>
              <a:t>Verified Reputation: </a:t>
            </a:r>
            <a:r>
              <a:rPr sz="1000">
                <a:solidFill>
                  <a:srgbClr val="FFFFFF"/>
                </a:solidFill>
                <a:latin typeface="Arial"/>
              </a:rPr>
              <a:t>Algorithm 2 computes open meritocratic leaderboard rankings exclusively from completed client deliveries.</a:t>
            </a:r>
          </a:p>
        </p:txBody>
      </p:sp>
      <p:sp>
        <p:nvSpPr>
          <p:cNvPr id="8" name="Rounded Rectangle 7"/>
          <p:cNvSpPr/>
          <p:nvPr/>
        </p:nvSpPr>
        <p:spPr>
          <a:xfrm>
            <a:off x="6199632" y="2240280"/>
            <a:ext cx="5257800" cy="3200400"/>
          </a:xfrm>
          <a:prstGeom prst="roundRect">
            <a:avLst/>
          </a:prstGeom>
          <a:solidFill>
            <a:srgbClr val="1034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2377440"/>
            <a:ext cx="4983480" cy="2926080"/>
          </a:xfrm>
          <a:prstGeom prst="rect">
            <a:avLst/>
          </a:prstGeom>
          <a:noFill/>
        </p:spPr>
        <p:txBody>
          <a:bodyPr wrap="square" lIns="0" tIns="0" rIns="0" bIns="0">
            <a:spAutoFit/>
          </a:bodyPr>
          <a:lstStyle/>
          <a:p>
            <a:r>
              <a:rPr b="1" sz="1100">
                <a:solidFill>
                  <a:srgbClr val="2DD4BF"/>
                </a:solidFill>
              </a:rPr>
              <a:t>SPECIAL ACKNOWLEDGEMENTS</a:t>
            </a:r>
          </a:p>
          <a:p>
            <a:pPr>
              <a:spcBef>
                <a:spcPts val="350"/>
              </a:spcBef>
              <a:spcAft>
                <a:spcPts val="200"/>
              </a:spcAft>
            </a:pPr>
            <a:r>
              <a:rPr b="1" sz="1000">
                <a:solidFill>
                  <a:srgbClr val="99F6E4"/>
                </a:solidFill>
                <a:latin typeface="Arial"/>
              </a:rPr>
              <a:t>▸ </a:t>
            </a:r>
            <a:r>
              <a:rPr b="1" sz="1000">
                <a:solidFill>
                  <a:srgbClr val="99F6E4"/>
                </a:solidFill>
                <a:latin typeface="Arial"/>
              </a:rPr>
              <a:t>Project Guide: </a:t>
            </a:r>
            <a:r>
              <a:rPr sz="1000">
                <a:solidFill>
                  <a:srgbClr val="FFFFFF"/>
                </a:solidFill>
                <a:latin typeface="Arial"/>
              </a:rPr>
              <a:t>Assistant Prof. Barkha Makwana for invaluable mentorship, architectural feedback, and rigorous evaluation.</a:t>
            </a:r>
          </a:p>
          <a:p>
            <a:pPr>
              <a:spcBef>
                <a:spcPts val="350"/>
              </a:spcBef>
              <a:spcAft>
                <a:spcPts val="200"/>
              </a:spcAft>
            </a:pPr>
            <a:r>
              <a:rPr b="1" sz="1000">
                <a:solidFill>
                  <a:srgbClr val="99F6E4"/>
                </a:solidFill>
                <a:latin typeface="Arial"/>
              </a:rPr>
              <a:t>▸ </a:t>
            </a:r>
            <a:r>
              <a:rPr b="1" sz="1000">
                <a:solidFill>
                  <a:srgbClr val="99F6E4"/>
                </a:solidFill>
                <a:latin typeface="Arial"/>
              </a:rPr>
              <a:t>Academic Institution: </a:t>
            </a:r>
            <a:r>
              <a:rPr sz="1000">
                <a:solidFill>
                  <a:srgbClr val="FFFFFF"/>
                </a:solidFill>
                <a:latin typeface="Arial"/>
              </a:rPr>
              <a:t>Department of Computer Science &amp; Engineering, Parul Institute of Engineering &amp; Technology, Parul University.</a:t>
            </a:r>
          </a:p>
          <a:p>
            <a:pPr>
              <a:spcBef>
                <a:spcPts val="350"/>
              </a:spcBef>
              <a:spcAft>
                <a:spcPts val="200"/>
              </a:spcAft>
            </a:pPr>
            <a:r>
              <a:rPr b="1" sz="1000">
                <a:solidFill>
                  <a:srgbClr val="99F6E4"/>
                </a:solidFill>
                <a:latin typeface="Arial"/>
              </a:rPr>
              <a:t>▸ </a:t>
            </a:r>
            <a:r>
              <a:rPr b="1" sz="1000">
                <a:solidFill>
                  <a:srgbClr val="99F6E4"/>
                </a:solidFill>
                <a:latin typeface="Arial"/>
              </a:rPr>
              <a:t>Peer Community: </a:t>
            </a:r>
            <a:r>
              <a:rPr sz="1000">
                <a:solidFill>
                  <a:srgbClr val="FFFFFF"/>
                </a:solidFill>
                <a:latin typeface="Arial"/>
              </a:rPr>
              <a:t>Fellow student developers whose collaboration workflows shaped our user personas and requirements.</a:t>
            </a:r>
          </a:p>
        </p:txBody>
      </p:sp>
      <p:sp>
        <p:nvSpPr>
          <p:cNvPr id="10" name="Rounded Rectangle 9"/>
          <p:cNvSpPr/>
          <p:nvPr/>
        </p:nvSpPr>
        <p:spPr>
          <a:xfrm>
            <a:off x="731520" y="5623560"/>
            <a:ext cx="10728655" cy="868680"/>
          </a:xfrm>
          <a:prstGeom prst="roundRect">
            <a:avLst/>
          </a:prstGeom>
          <a:solidFill>
            <a:srgbClr val="10343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715000"/>
            <a:ext cx="10332720" cy="685800"/>
          </a:xfrm>
          <a:prstGeom prst="rect">
            <a:avLst/>
          </a:prstGeom>
          <a:noFill/>
        </p:spPr>
        <p:txBody>
          <a:bodyPr wrap="square">
            <a:spAutoFit/>
          </a:bodyPr>
          <a:lstStyle/>
          <a:p>
            <a:pPr algn="ctr"/>
            <a:r>
              <a:rPr b="1" sz="1800">
                <a:solidFill>
                  <a:srgbClr val="CCFBF1"/>
                </a:solidFill>
                <a:latin typeface="Arial"/>
              </a:rP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